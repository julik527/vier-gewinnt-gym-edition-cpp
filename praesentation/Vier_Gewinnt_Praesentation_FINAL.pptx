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2bfeb56d2f44af" /><Relationship Type="http://schemas.openxmlformats.org/officeDocument/2006/relationships/extended-properties" Target="/docProps/app.xml" Id="Rd9ac0974ab3e4cb3" /><Relationship Type="http://schemas.openxmlformats.org/officeDocument/2006/relationships/officeDocument" Target="/ppt/presentation.xml" Id="Ra109819ba3c248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0bc3899d354427c"/>
  </p:sldMasterIdLst>
  <p:notesMasterIdLst>
    <p:notesMasterId xmlns:r="http://schemas.openxmlformats.org/officeDocument/2006/relationships" r:id="Ra2d57d5d4b34418b"/>
  </p:notesMasterIdLst>
  <p:sldIdLst>
    <p:sldId xmlns:r="http://schemas.openxmlformats.org/officeDocument/2006/relationships" id="256" r:id="R3d71218d343b424a"/>
    <p:sldId xmlns:r="http://schemas.openxmlformats.org/officeDocument/2006/relationships" id="257" r:id="Rcf3921e818294c3d"/>
    <p:sldId xmlns:r="http://schemas.openxmlformats.org/officeDocument/2006/relationships" id="258" r:id="Ra19edeb0c263445b"/>
    <p:sldId xmlns:r="http://schemas.openxmlformats.org/officeDocument/2006/relationships" id="259" r:id="Rb2be75e0027c4a9b"/>
    <p:sldId xmlns:r="http://schemas.openxmlformats.org/officeDocument/2006/relationships" id="260" r:id="R3e18101a17c440f2"/>
    <p:sldId xmlns:r="http://schemas.openxmlformats.org/officeDocument/2006/relationships" id="261" r:id="Rc327c3c815544b3d"/>
    <p:sldId xmlns:r="http://schemas.openxmlformats.org/officeDocument/2006/relationships" id="262" r:id="Rad3384ad0ac04e3d"/>
    <p:sldId xmlns:r="http://schemas.openxmlformats.org/officeDocument/2006/relationships" id="263" r:id="Rf8be1564e1784a09"/>
    <p:sldId xmlns:r="http://schemas.openxmlformats.org/officeDocument/2006/relationships" id="264" r:id="R8d3b1db50bc8424d"/>
    <p:sldId xmlns:r="http://schemas.openxmlformats.org/officeDocument/2006/relationships" id="265" r:id="R35eb7b1fcf1d41fc"/>
    <p:sldId xmlns:r="http://schemas.openxmlformats.org/officeDocument/2006/relationships" id="266" r:id="Ra982ed9ceeb3414f"/>
    <p:sldId xmlns:r="http://schemas.openxmlformats.org/officeDocument/2006/relationships" id="267" r:id="R702df6d1af524a6c"/>
    <p:sldId xmlns:r="http://schemas.openxmlformats.org/officeDocument/2006/relationships" id="268" r:id="Rfcdbbc715d0c4cae"/>
    <p:sldId xmlns:r="http://schemas.openxmlformats.org/officeDocument/2006/relationships" id="269" r:id="R008d6c9f40434d3e"/>
    <p:sldId xmlns:r="http://schemas.openxmlformats.org/officeDocument/2006/relationships" id="270" r:id="R95492e289d46446a"/>
    <p:sldId xmlns:r="http://schemas.openxmlformats.org/officeDocument/2006/relationships" id="271" r:id="Rb34c5d958e714072"/>
    <p:sldId xmlns:r="http://schemas.openxmlformats.org/officeDocument/2006/relationships" id="272" r:id="Re9baf915310742ca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8d4dd01062406a" /><Relationship Type="http://schemas.openxmlformats.org/officeDocument/2006/relationships/slideMaster" Target="/ppt/slideMasters/slideMaster1.xml" Id="Re0bc3899d354427c" /><Relationship Type="http://schemas.openxmlformats.org/officeDocument/2006/relationships/notesMaster" Target="/ppt/notesMasters/notesMaster1.xml" Id="Ra2d57d5d4b34418b" /><Relationship Type="http://schemas.openxmlformats.org/officeDocument/2006/relationships/presProps" Target="/ppt/presProps.xml" Id="R4ac8c3d5faf84d3c" /><Relationship Type="http://schemas.openxmlformats.org/officeDocument/2006/relationships/viewProps" Target="/ppt/viewProps.xml" Id="Rb67e6830cc4247ce" /><Relationship Type="http://schemas.openxmlformats.org/officeDocument/2006/relationships/tableStyles" Target="/ppt/tableStyles.xml" Id="Rfc548c47c93f4b9d" /><Relationship Type="http://schemas.openxmlformats.org/officeDocument/2006/relationships/slide" Target="/ppt/slides/slide1.xml" Id="R3d71218d343b424a" /><Relationship Type="http://schemas.openxmlformats.org/officeDocument/2006/relationships/slide" Target="/ppt/slides/slide2.xml" Id="Rcf3921e818294c3d" /><Relationship Type="http://schemas.openxmlformats.org/officeDocument/2006/relationships/slide" Target="/ppt/slides/slide3.xml" Id="Ra19edeb0c263445b" /><Relationship Type="http://schemas.openxmlformats.org/officeDocument/2006/relationships/slide" Target="/ppt/slides/slide4.xml" Id="Rb2be75e0027c4a9b" /><Relationship Type="http://schemas.openxmlformats.org/officeDocument/2006/relationships/slide" Target="/ppt/slides/slide5.xml" Id="R3e18101a17c440f2" /><Relationship Type="http://schemas.openxmlformats.org/officeDocument/2006/relationships/slide" Target="/ppt/slides/slide6.xml" Id="Rc327c3c815544b3d" /><Relationship Type="http://schemas.openxmlformats.org/officeDocument/2006/relationships/slide" Target="/ppt/slides/slide7.xml" Id="Rad3384ad0ac04e3d" /><Relationship Type="http://schemas.openxmlformats.org/officeDocument/2006/relationships/slide" Target="/ppt/slides/slide8.xml" Id="Rf8be1564e1784a09" /><Relationship Type="http://schemas.openxmlformats.org/officeDocument/2006/relationships/slide" Target="/ppt/slides/slide9.xml" Id="R8d3b1db50bc8424d" /><Relationship Type="http://schemas.openxmlformats.org/officeDocument/2006/relationships/slide" Target="/ppt/slides/slide10.xml" Id="R35eb7b1fcf1d41fc" /><Relationship Type="http://schemas.openxmlformats.org/officeDocument/2006/relationships/slide" Target="/ppt/slides/slide11.xml" Id="Ra982ed9ceeb3414f" /><Relationship Type="http://schemas.openxmlformats.org/officeDocument/2006/relationships/slide" Target="/ppt/slides/slide12.xml" Id="R702df6d1af524a6c" /><Relationship Type="http://schemas.openxmlformats.org/officeDocument/2006/relationships/slide" Target="/ppt/slides/slide13.xml" Id="Rfcdbbc715d0c4cae" /><Relationship Type="http://schemas.openxmlformats.org/officeDocument/2006/relationships/slide" Target="/ppt/slides/slide14.xml" Id="R008d6c9f40434d3e" /><Relationship Type="http://schemas.openxmlformats.org/officeDocument/2006/relationships/slide" Target="/ppt/slides/slide15.xml" Id="R95492e289d46446a" /><Relationship Type="http://schemas.openxmlformats.org/officeDocument/2006/relationships/slide" Target="/ppt/slides/slide16.xml" Id="Rb34c5d958e714072" /><Relationship Type="http://schemas.openxmlformats.org/officeDocument/2006/relationships/slide" Target="/ppt/slides/slide17.xml" Id="Re9baf915310742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73e3fb241ca4c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38b9d44e4e4d58" /><Relationship Type="http://schemas.openxmlformats.org/officeDocument/2006/relationships/notesMaster" Target="/ppt/notesMasters/notesMaster1.xml" Id="R7c677e09f2784a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f00a10818794ab1" /><Relationship Type="http://schemas.openxmlformats.org/officeDocument/2006/relationships/notesMaster" Target="/ppt/notesMasters/notesMaster1.xml" Id="Re25d5923482441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e35827e5b84397" /><Relationship Type="http://schemas.openxmlformats.org/officeDocument/2006/relationships/notesMaster" Target="/ppt/notesMasters/notesMaster1.xml" Id="Rc9441ad042144b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7d0f4c8ce924a00" /><Relationship Type="http://schemas.openxmlformats.org/officeDocument/2006/relationships/notesMaster" Target="/ppt/notesMasters/notesMaster1.xml" Id="R2b7dd1a0de1043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eb3c29bd8e43d3" /><Relationship Type="http://schemas.openxmlformats.org/officeDocument/2006/relationships/notesMaster" Target="/ppt/notesMasters/notesMaster1.xml" Id="R32834824a41041a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eeae5e4d97f4f45" /><Relationship Type="http://schemas.openxmlformats.org/officeDocument/2006/relationships/notesMaster" Target="/ppt/notesMasters/notesMaster1.xml" Id="R4496b66d1e2f44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465e1394e64946" /><Relationship Type="http://schemas.openxmlformats.org/officeDocument/2006/relationships/notesMaster" Target="/ppt/notesMasters/notesMaster1.xml" Id="R5bec13a42a6244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3961b103484d48" /><Relationship Type="http://schemas.openxmlformats.org/officeDocument/2006/relationships/notesMaster" Target="/ppt/notesMasters/notesMaster1.xml" Id="R76be2b7817364a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c8fb4823244624" /><Relationship Type="http://schemas.openxmlformats.org/officeDocument/2006/relationships/notesMaster" Target="/ppt/notesMasters/notesMaster1.xml" Id="Rac440ab62be7451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191c6942c764f78" /><Relationship Type="http://schemas.openxmlformats.org/officeDocument/2006/relationships/notesMaster" Target="/ppt/notesMasters/notesMaster1.xml" Id="R45b2ea5b92fb4a8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156757b0bd34d89" /><Relationship Type="http://schemas.openxmlformats.org/officeDocument/2006/relationships/notesMaster" Target="/ppt/notesMasters/notesMaster1.xml" Id="R813613daa4b6451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2abea62fdae468d" /><Relationship Type="http://schemas.openxmlformats.org/officeDocument/2006/relationships/notesMaster" Target="/ppt/notesMasters/notesMaster1.xml" Id="R1ee6329fd5ba41c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1fe475f94044fbd" /><Relationship Type="http://schemas.openxmlformats.org/officeDocument/2006/relationships/notesMaster" Target="/ppt/notesMasters/notesMaster1.xml" Id="Rc877683d8a39415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2085c05831a4259" /><Relationship Type="http://schemas.openxmlformats.org/officeDocument/2006/relationships/notesMaster" Target="/ppt/notesMasters/notesMaster1.xml" Id="R853b94292461492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dbbb76352d4a22" /><Relationship Type="http://schemas.openxmlformats.org/officeDocument/2006/relationships/notesMaster" Target="/ppt/notesMasters/notesMaster1.xml" Id="R2880465619694ef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4ba4f2684644aff" /><Relationship Type="http://schemas.openxmlformats.org/officeDocument/2006/relationships/notesMaster" Target="/ppt/notesMasters/notesMaster1.xml" Id="Rd6e69aecd99b454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3c516037c434b12" /><Relationship Type="http://schemas.openxmlformats.org/officeDocument/2006/relationships/notesMaster" Target="/ppt/notesMasters/notesMaster1.xml" Id="Rbbf19911e87c44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Die Abbildung auf der Titelfolie ist eine historische 3D-Designstudie. Die tatsächlich implementierte zusätzliche Oberfläche ist zweidimensional. Beide Programme kurz vorstellen.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App in src/gui/Main.cpp verarbeitet SFML-Ereignisse und Darstellung. MatchSession kennt keinen SFML-Code. Game wurde nicht auf MatchSession umgestellt. Player enthält keinen Highscore. Move und GymMove sind getrennte Datenstrukturen.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GYM1 enthält Spieler, Zugfolge und Raster. Erst validieren, dann den aktiven Zustand ersetzen. writeSafely schützt den getesteten Altbestand bei Schreibfehlern. Die Funktion koordiniert keine zwei Spielprozesse.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F9 und Musik gelten für die GUI. V 4 und I sind Konsolenbefehle. A schaltet die Animation, die in der Konsole aus und in der GUI an startet. GymBeat erzeugt einen achtsekündigen Loop ohne fremde Aufnahme. Schullogo: Bernd Blindow Gruppe, Quelle https://commons.wikimedia.org/wiki/File:Logo_BBS_standard_quer.jpg, CC BY-SA 4.0. Die im Spiel verwendete Kopie ist skaliert. Quellen und Varianten siehe docs/SCHOOL_LOGO.md.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Verifizierte Nachweise: https://github.com/Julik527/vier-gewinnt-gym-edition-cpp/actions/runs/40779797878 und https://github.com/Julik527/vier-gewinnt-gym-edition-cpp/actions/runs/40779798112. Job-Snapshot unter docs/evidence/CI_SNAPSHOT_2026-10-28.json. Windows-CI nutzt MSVC. GUI-Release-Jobs sind keine eigene GUI-Debug-Matrix. Der Xvfb-Test öffnet nur kurz ein virtuelles Fenster und prüft keinen kompletten Ablauf.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Der zuletzt gemeldete lokale Fehler lautet: cmake wird nicht erkannt. Task-PATH wurde in ab83df11 korrigiert. Installation beziehungsweise lokaler Suchpfad und erfolgreicher Wiederholungsversuch sind noch zu bestätigen. Nicht als lokale erfolgreiche Abnahme ausgeben.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Vorführung: scripts/demo.ps1 -Mode Both. Das Skript startet GUI und Konsole nacheinander und verwendet build-gui-ucrt64. F5 verwendet build-gui. Vor dem Unterricht vollständig bauen. Mit -NoBuild nur vorhandene passende EXE-Dateien verwenden.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Passende Funktionen im Quellcode zeigen und mit eigenen Worten erklären. Weitere Einzelheiten stehen im Vortragsleitfaden.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Projektstand 28.10.2026, Ausgangscommit 02eb79f8. Konsole: Game und console_ui. GUI: App mit MatchSession. Gemeinsame Regeln: Board. Gemeinsamer Dateiersatz: AtomicFile.h. KI-Unterstützung ist im Promptregister dokumentiert. Lokaler UCRT64-F5-/Hörtest und Schulabnahme bleiben offen.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Primärquellen: tatsächlicher Repository-Code am Commit 02eb79f8, GitHub-Actions-Läufe 40779797878/40779798112, offizielles SFML-3.1.0-Handbuch https://www.sfml-dev.org/documentation/3.1.0/. Schullogo-Quelle und Lizenz siehe docs/SCHOOL_LOGO.md. Originalprompts stammen aus dem bereitgestellten Gesprächsauszug, Rekonstruktionen sind gekennzeichnet.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997594de6445f6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6e7f2a290b4500" /><Relationship Type="http://schemas.openxmlformats.org/officeDocument/2006/relationships/slideLayout" Target="/ppt/slideLayouts/slideLayout1.xml" Id="Rb2fc1ac833234044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fc1ac833234044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054c6515a14ea5" /><Relationship Type="http://schemas.openxmlformats.org/officeDocument/2006/relationships/image" Target="/ppt/media/image.png" Id="R84100ac1b6e94f4b" /><Relationship Type="http://schemas.openxmlformats.org/officeDocument/2006/relationships/image" Target="/ppt/media/image2.png" Id="Ra2e00c84df6747c7" /><Relationship Type="http://schemas.openxmlformats.org/officeDocument/2006/relationships/image" Target="/ppt/media/image3.png" Id="R4496a0be3c46448b" /><Relationship Type="http://schemas.openxmlformats.org/officeDocument/2006/relationships/notesSlide" Target="/ppt/notesSlides/notesSlide1.xml" Id="R35d382e813274c6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5415b85e34f25" /><Relationship Type="http://schemas.openxmlformats.org/officeDocument/2006/relationships/image" Target="/ppt/media/image4.png" Id="R40a0f568202a4b7a" /><Relationship Type="http://schemas.openxmlformats.org/officeDocument/2006/relationships/image" Target="/ppt/media/image5.png" Id="Rc960456fabfe4371" /><Relationship Type="http://schemas.openxmlformats.org/officeDocument/2006/relationships/hyperlink" Target="/ppt/slides/slide3.xml" Id="R6389b1eb612741c4" /><Relationship Type="http://schemas.openxmlformats.org/officeDocument/2006/relationships/hyperlink" Target="/ppt/slides/slide3.xml" Id="Rdef04e348f4741c6" /><Relationship Type="http://schemas.openxmlformats.org/officeDocument/2006/relationships/hyperlink" Target="/ppt/slides/slide5.xml" Id="R08c74ef37c4949c7" /><Relationship Type="http://schemas.openxmlformats.org/officeDocument/2006/relationships/hyperlink" Target="/ppt/slides/slide5.xml" Id="R09ab142e3c614e32" /><Relationship Type="http://schemas.openxmlformats.org/officeDocument/2006/relationships/hyperlink" Target="/ppt/slides/slide7.xml" Id="Rb19a4e8ef02c4c3f" /><Relationship Type="http://schemas.openxmlformats.org/officeDocument/2006/relationships/hyperlink" Target="/ppt/slides/slide7.xml" Id="Rbc4b6651c0284006" /><Relationship Type="http://schemas.openxmlformats.org/officeDocument/2006/relationships/hyperlink" Target="/ppt/slides/slide9.xml" Id="R87c03987b78e4379" /><Relationship Type="http://schemas.openxmlformats.org/officeDocument/2006/relationships/hyperlink" Target="/ppt/slides/slide9.xml" Id="Re37c82f3a4534262" /><Relationship Type="http://schemas.openxmlformats.org/officeDocument/2006/relationships/hyperlink" Target="/ppt/slides/slide11.xml" Id="R8f8779d47ec74508" /><Relationship Type="http://schemas.openxmlformats.org/officeDocument/2006/relationships/hyperlink" Target="/ppt/slides/slide11.xml" Id="R46976de5ec9d43d2" /><Relationship Type="http://schemas.openxmlformats.org/officeDocument/2006/relationships/hyperlink" Target="/ppt/slides/slide14.xml" Id="Rdf87f818fa7c4dba" /><Relationship Type="http://schemas.openxmlformats.org/officeDocument/2006/relationships/hyperlink" Target="/ppt/slides/slide14.xml" Id="Rfcba4565a62c4ce7" /><Relationship Type="http://schemas.openxmlformats.org/officeDocument/2006/relationships/notesSlide" Target="/ppt/notesSlides/notesSlide2.xml" Id="Rc6ba541fa8c94b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3b5dcd2fe45ad" /><Relationship Type="http://schemas.openxmlformats.org/officeDocument/2006/relationships/image" Target="/ppt/media/image6.png" Id="R58ed56535dd6431f" /><Relationship Type="http://schemas.openxmlformats.org/officeDocument/2006/relationships/image" Target="/ppt/media/image7.png" Id="R09d7e213a3894c56" /><Relationship Type="http://schemas.openxmlformats.org/officeDocument/2006/relationships/hyperlink" Target="/ppt/slides/slide2.xml" Id="Radcabc815351406f" /><Relationship Type="http://schemas.openxmlformats.org/officeDocument/2006/relationships/image" Target="/ppt/media/image8.png" Id="Rd879e32cf3d74a38" /><Relationship Type="http://schemas.openxmlformats.org/officeDocument/2006/relationships/notesSlide" Target="/ppt/notesSlides/notesSlide3.xml" Id="R8c9f86b144af4f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f0fb058bb43fd" /><Relationship Type="http://schemas.openxmlformats.org/officeDocument/2006/relationships/image" Target="/ppt/media/image9.png" Id="Rb1b1c37c3e5a44d4" /><Relationship Type="http://schemas.openxmlformats.org/officeDocument/2006/relationships/image" Target="/ppt/media/image10.png" Id="R0d8c0458cce944bf" /><Relationship Type="http://schemas.openxmlformats.org/officeDocument/2006/relationships/hyperlink" Target="/ppt/slides/slide2.xml" Id="Rf0285b3288504a19" /><Relationship Type="http://schemas.openxmlformats.org/officeDocument/2006/relationships/notesSlide" Target="/ppt/notesSlides/notesSlide4.xml" Id="Rf02b126b845a45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7a34a15c34da2" /><Relationship Type="http://schemas.openxmlformats.org/officeDocument/2006/relationships/image" Target="/ppt/media/image11.png" Id="R42e2d23a5bca4ece" /><Relationship Type="http://schemas.openxmlformats.org/officeDocument/2006/relationships/image" Target="/ppt/media/image12.png" Id="Rdb5a24f4b23c4612" /><Relationship Type="http://schemas.openxmlformats.org/officeDocument/2006/relationships/hyperlink" Target="/ppt/slides/slide2.xml" Id="Rff06f789aa96457b" /><Relationship Type="http://schemas.openxmlformats.org/officeDocument/2006/relationships/notesSlide" Target="/ppt/notesSlides/notesSlide5.xml" Id="Re5e6a36c316d46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fe95a77234abc" /><Relationship Type="http://schemas.openxmlformats.org/officeDocument/2006/relationships/image" Target="/ppt/media/image13.png" Id="R16342123fd2a4c2d" /><Relationship Type="http://schemas.openxmlformats.org/officeDocument/2006/relationships/image" Target="/ppt/media/image14.png" Id="Rdfc04a93ab904b2a" /><Relationship Type="http://schemas.openxmlformats.org/officeDocument/2006/relationships/hyperlink" Target="/ppt/slides/slide2.xml" Id="R711fc78b2a854d02" /><Relationship Type="http://schemas.openxmlformats.org/officeDocument/2006/relationships/notesSlide" Target="/ppt/notesSlides/notesSlide6.xml" Id="R584b36aebece4f6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4010f7de8a43e9" /><Relationship Type="http://schemas.openxmlformats.org/officeDocument/2006/relationships/image" Target="/ppt/media/image15.png" Id="R3e74b6df9bc74000" /><Relationship Type="http://schemas.openxmlformats.org/officeDocument/2006/relationships/image" Target="/ppt/media/image16.png" Id="R9b9f7933ff444a36" /><Relationship Type="http://schemas.openxmlformats.org/officeDocument/2006/relationships/hyperlink" Target="/ppt/slides/slide2.xml" Id="R9c94217c8be141fc" /><Relationship Type="http://schemas.openxmlformats.org/officeDocument/2006/relationships/notesSlide" Target="/ppt/notesSlides/notesSlide7.xml" Id="R83c0db58ce884d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bea0ffc014b28" /><Relationship Type="http://schemas.openxmlformats.org/officeDocument/2006/relationships/image" Target="/ppt/media/image17.png" Id="R88e0b5268b9c4226" /><Relationship Type="http://schemas.openxmlformats.org/officeDocument/2006/relationships/image" Target="/ppt/media/image18.png" Id="R1b2c2be9e30a4a0c" /><Relationship Type="http://schemas.openxmlformats.org/officeDocument/2006/relationships/hyperlink" Target="/ppt/slides/slide2.xml" Id="R0179b4f7f983401b" /><Relationship Type="http://schemas.openxmlformats.org/officeDocument/2006/relationships/notesSlide" Target="/ppt/notesSlides/notesSlide8.xml" Id="R8b371fb50c4a4a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e7b3f28d1f4fe4" /><Relationship Type="http://schemas.openxmlformats.org/officeDocument/2006/relationships/image" Target="/ppt/media/image19.png" Id="R37e36440e36b497e" /><Relationship Type="http://schemas.openxmlformats.org/officeDocument/2006/relationships/image" Target="/ppt/media/image20.png" Id="Rab5cd63cb96b4de4" /><Relationship Type="http://schemas.openxmlformats.org/officeDocument/2006/relationships/hyperlink" Target="/ppt/slides/slide2.xml" Id="R7b2f13c93a2c4c7a" /><Relationship Type="http://schemas.openxmlformats.org/officeDocument/2006/relationships/notesSlide" Target="/ppt/notesSlides/notesSlide9.xml" Id="R6b6519f7ba7746e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b244e1cfa4e67" /><Relationship Type="http://schemas.openxmlformats.org/officeDocument/2006/relationships/image" Target="/ppt/media/image21.png" Id="R1044f5052ed54add" /><Relationship Type="http://schemas.openxmlformats.org/officeDocument/2006/relationships/image" Target="/ppt/media/image22.png" Id="R287cd90ce3a741ee" /><Relationship Type="http://schemas.openxmlformats.org/officeDocument/2006/relationships/hyperlink" Target="/ppt/slides/slide2.xml" Id="R32f7d53ab3654c78" /><Relationship Type="http://schemas.openxmlformats.org/officeDocument/2006/relationships/notesSlide" Target="/ppt/notesSlides/notesSlide10.xml" Id="R46533754e27249d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cd5f76d4847c8" /><Relationship Type="http://schemas.openxmlformats.org/officeDocument/2006/relationships/image" Target="/ppt/media/image23.png" Id="Rf4200f96dd764caf" /><Relationship Type="http://schemas.openxmlformats.org/officeDocument/2006/relationships/image" Target="/ppt/media/image24.png" Id="Ra48fefaf4e6e4fc6" /><Relationship Type="http://schemas.openxmlformats.org/officeDocument/2006/relationships/hyperlink" Target="/ppt/slides/slide2.xml" Id="Rcdd0e97bca3c42a6" /><Relationship Type="http://schemas.openxmlformats.org/officeDocument/2006/relationships/notesSlide" Target="/ppt/notesSlides/notesSlide11.xml" Id="R7a9208cecd0b4f0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47b3d55da241b8" /><Relationship Type="http://schemas.openxmlformats.org/officeDocument/2006/relationships/image" Target="/ppt/media/image25.png" Id="R6f4a143e9caf4d61" /><Relationship Type="http://schemas.openxmlformats.org/officeDocument/2006/relationships/image" Target="/ppt/media/image26.png" Id="Re132a8e34a504014" /><Relationship Type="http://schemas.openxmlformats.org/officeDocument/2006/relationships/hyperlink" Target="/ppt/slides/slide2.xml" Id="Ra3e45bf9766b4a56" /><Relationship Type="http://schemas.openxmlformats.org/officeDocument/2006/relationships/notesSlide" Target="/ppt/notesSlides/notesSlide12.xml" Id="R79f57f2ecfe2490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f02836b1c478f" /><Relationship Type="http://schemas.openxmlformats.org/officeDocument/2006/relationships/image" Target="/ppt/media/image27.png" Id="R1647f9d1deee4f68" /><Relationship Type="http://schemas.openxmlformats.org/officeDocument/2006/relationships/image" Target="/ppt/media/image28.png" Id="R65dd47c2445a419e" /><Relationship Type="http://schemas.openxmlformats.org/officeDocument/2006/relationships/hyperlink" Target="/ppt/slides/slide2.xml" Id="R2fe0717edc8645f3" /><Relationship Type="http://schemas.openxmlformats.org/officeDocument/2006/relationships/notesSlide" Target="/ppt/notesSlides/notesSlide13.xml" Id="Rec1243c36bb24d6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f204c7881435a" /><Relationship Type="http://schemas.openxmlformats.org/officeDocument/2006/relationships/image" Target="/ppt/media/image29.png" Id="R4275ef64963a4b5c" /><Relationship Type="http://schemas.openxmlformats.org/officeDocument/2006/relationships/image" Target="/ppt/media/image30.png" Id="Rb6940748ba064f3e" /><Relationship Type="http://schemas.openxmlformats.org/officeDocument/2006/relationships/hyperlink" Target="/ppt/slides/slide2.xml" Id="R6070b4c3e62047f0" /><Relationship Type="http://schemas.openxmlformats.org/officeDocument/2006/relationships/notesSlide" Target="/ppt/notesSlides/notesSlide14.xml" Id="R7a5f6ab54f6b41d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566e531d1e4227" /><Relationship Type="http://schemas.openxmlformats.org/officeDocument/2006/relationships/image" Target="/ppt/media/image31.png" Id="R197227a65a1a412f" /><Relationship Type="http://schemas.openxmlformats.org/officeDocument/2006/relationships/image" Target="/ppt/media/image32.png" Id="Re3792a4c1de74e67" /><Relationship Type="http://schemas.openxmlformats.org/officeDocument/2006/relationships/hyperlink" Target="/ppt/slides/slide2.xml" Id="Rcb72e8cd670149d5" /><Relationship Type="http://schemas.openxmlformats.org/officeDocument/2006/relationships/notesSlide" Target="/ppt/notesSlides/notesSlide15.xml" Id="Rb3cb6b25810d44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f9782fc9c1498f" /><Relationship Type="http://schemas.openxmlformats.org/officeDocument/2006/relationships/image" Target="/ppt/media/image33.png" Id="R142b636ba98e4c32" /><Relationship Type="http://schemas.openxmlformats.org/officeDocument/2006/relationships/image" Target="/ppt/media/image34.png" Id="Ra10a02d55d7a42a0" /><Relationship Type="http://schemas.openxmlformats.org/officeDocument/2006/relationships/hyperlink" Target="/ppt/slides/slide2.xml" Id="R2b83fc89077a4144" /><Relationship Type="http://schemas.openxmlformats.org/officeDocument/2006/relationships/notesSlide" Target="/ppt/notesSlides/notesSlide16.xml" Id="R59c827f026024be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5a2a22eb44139" /><Relationship Type="http://schemas.openxmlformats.org/officeDocument/2006/relationships/image" Target="/ppt/media/image35.png" Id="R96920fef9e8942a6" /><Relationship Type="http://schemas.openxmlformats.org/officeDocument/2006/relationships/image" Target="/ppt/media/image36.png" Id="R6b5740afe6e546e2" /><Relationship Type="http://schemas.openxmlformats.org/officeDocument/2006/relationships/hyperlink" Target="/ppt/slides/slide2.xml" Id="R317d532060994345" /><Relationship Type="http://schemas.openxmlformats.org/officeDocument/2006/relationships/notesSlide" Target="/ppt/notesSlides/notesSlide17.xml" Id="R664f9c604fc7447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A69EBAB-F1F2-4226-8713-516F32C9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9B74627-9FBB-47C2-953E-CEC34680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Image 0">
            <a:extLst xmlns:a="http://schemas.openxmlformats.org/drawingml/2006/main">
              <a:ext uri="{FF2B5EF4-FFF2-40B4-BE49-F238E27FC236}">
                <a16:creationId xmlns:a16="http://schemas.microsoft.com/office/drawing/2014/main" id="{2E585587-171B-4A14-99CA-FB8270B48B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00ac1b6e94f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715000" y="0"/>
            <a:ext cx="6473952" cy="6858000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4EBA2B99-4EE6-49EA-AD98-92250001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0"/>
            <a:ext cx="18288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C4049413-72AA-4D8D-AFF4-131B23C7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6072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7" name="Image 1">
            <a:extLst xmlns:a="http://schemas.openxmlformats.org/drawingml/2006/main">
              <a:ext uri="{FF2B5EF4-FFF2-40B4-BE49-F238E27FC236}">
                <a16:creationId xmlns:a16="http://schemas.microsoft.com/office/drawing/2014/main" id="{B905280E-9FCC-4300-9D71-54F7FC62B6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e00c84df6747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3504" y="539496"/>
            <a:ext cx="612648" cy="612648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7B150B8-056B-40FD-8258-54FAEACE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640080"/>
            <a:ext cx="41148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50" b="1" spc="11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</a:t>
            </a:r>
            <a:endParaRPr sz="125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ABF05C2-3FBB-4E17-8A8A-E7A98AB7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932688"/>
            <a:ext cx="40233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3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ITA-09/25   ·   PROGRAMMIERTECHNIK</a:t>
            </a:r>
            <a:endParaRPr sz="93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3FD3E50D-09D9-492B-9583-72CA6F66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901952"/>
            <a:ext cx="512064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3500" b="1" spc="20">
                <a:solidFill>
                  <a:srgbClr val="FFFFFF"/>
                </a:solidFill>
                <a:latin typeface="Inter"/>
                <a:ea typeface="Inter"/>
                <a:cs typeface="Inter"/>
              </a:rPr>
              <a:t>VIER GEWINNT</a:t>
            </a:r>
            <a:endParaRPr sz="35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E07CAA0D-C97C-4D12-96EF-DBC6B69C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2660904"/>
            <a:ext cx="5029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600" b="1" spc="140">
                <a:solidFill>
                  <a:srgbClr val="35C8EF"/>
                </a:solidFill>
                <a:latin typeface="Inter"/>
                <a:ea typeface="Inter"/>
                <a:cs typeface="Inter"/>
              </a:rPr>
              <a:t>GYM EDITION</a:t>
            </a:r>
            <a:endParaRPr sz="26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63A5838-0ED3-438C-8942-A2E58BE3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10128"/>
            <a:ext cx="758952" cy="594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5ACEF493-EFCF-4E8E-8545-32C28C8D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593592"/>
            <a:ext cx="4846320" cy="3566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30">
                <a:solidFill>
                  <a:srgbClr val="FFFFFF"/>
                </a:solidFill>
                <a:latin typeface="Inter"/>
                <a:ea typeface="Inter"/>
                <a:cs typeface="Inter"/>
              </a:rPr>
              <a:t>C++17 mit Konsole und SFML-2D-Spiel</a:t>
            </a:r>
            <a:endParaRPr sz="163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9D80CFF-9D89-42B1-A513-18A39F49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032504"/>
            <a:ext cx="4663440" cy="7040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>
                <a:solidFill>
                  <a:srgbClr val="A7BDD0"/>
                </a:solidFill>
                <a:latin typeface="Inter"/>
                <a:ea typeface="Inter"/>
                <a:cs typeface="Inter"/>
              </a:rPr>
              <a:t>Projektvorstellung und Live-Code in Visual Studio Code</a:t>
            </a:r>
            <a:endParaRPr sz="130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D80D1E26-701F-488E-9504-1BA1D207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102352"/>
            <a:ext cx="4425696" cy="548640"/>
          </a:xfrm>
          <a:prstGeom xmlns:a="http://schemas.openxmlformats.org/drawingml/2006/main" prst="roundRect">
            <a:avLst>
              <a:gd name="adj" fmla="val 23333"/>
            </a:avLst>
          </a:prstGeom>
          <a:solidFill xmlns:a="http://schemas.openxmlformats.org/drawingml/2006/main">
            <a:srgbClr val="102D4A"/>
          </a:solidFill>
          <a:ln xmlns:a="http://schemas.openxmlformats.org/drawingml/2006/main" w="12700">
            <a:solidFill>
              <a:srgbClr val="102D4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53741AB6-5284-49B3-AF2C-FACA07357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257800"/>
            <a:ext cx="2011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4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15 MIN  PRÄSENTATION</a:t>
            </a:r>
            <a:endParaRPr sz="1040"/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4760F75-B57C-4409-8BEA-6A42F744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5248656"/>
            <a:ext cx="0" cy="2468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5708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4AB714D5-A774-4936-ACBA-CB8ECD40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9816" y="5257800"/>
            <a:ext cx="17830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4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15 MIN  CODE-DEMO</a:t>
            </a:r>
            <a:endParaRPr sz="104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0E9F2334-4CF0-4876-953C-A8D2F5B7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6519672"/>
            <a:ext cx="50292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20">
                <a:solidFill>
                  <a:srgbClr val="A7BDD0"/>
                </a:solidFill>
                <a:latin typeface="Inter"/>
                <a:ea typeface="Inter"/>
                <a:cs typeface="Inter"/>
              </a:rPr>
              <a:t>© 2026 Julian Krauß  ·  JK AXIS | GOLD MASTER</a:t>
            </a:r>
            <a:endParaRPr sz="820"/>
          </a:p>
        </p:txBody>
      </p:sp>
      <p:pic>
        <p:nvPicPr>
          <p:cNvPr id="20" name="Image 2">
            <a:extLst xmlns:a="http://schemas.openxmlformats.org/drawingml/2006/main">
              <a:ext uri="{FF2B5EF4-FFF2-40B4-BE49-F238E27FC236}">
                <a16:creationId xmlns:a16="http://schemas.microsoft.com/office/drawing/2014/main" id="{B72EC6E0-1531-4ED6-A447-70A04683F1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96a0be3c4644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01400" y="338328"/>
            <a:ext cx="578815" cy="12801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7081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9F1C73-852B-43B2-9638-49FA3702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A12BD30-8597-46C3-8E77-D89FD8A54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0B917CE-8DA0-4726-9295-4C32DC425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003479F1-4BC8-4648-8E88-BC1927AA38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a0f568202a4b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FE631BE-D645-48F1-94A5-1AF989D0C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4CFE3F-503C-43FD-A7A4-181F23BB1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DCF8D488-6D11-4859-B88E-138161D385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60456fabfe43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2E673FE1-7839-4DF3-890F-4A874F37B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02  /  AGENDA / INHALTSVERZEICHNIS</a:t>
            </a:r>
            <a:endParaRPr sz="10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563C3257-54DF-4B9C-89C6-0F41688F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Was Sie heute erwartet</a:t>
            </a:r>
            <a:endParaRPr sz="29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D136E85-448E-467C-807C-7E3612D9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Eine strukturierte Projektvorstellung und anschließend die Demonstration direkt im Quellcode.</a:t>
            </a:r>
            <a:endParaRPr sz="136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07EB9D07-53C8-44B7-B133-02A96D5F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DF4E5F3A-AF29-4FB2-9172-7ED47F8D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6C20574-32A0-4F0E-9075-46A33FE3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02 / 14</a:t>
            </a:r>
            <a:endParaRPr sz="810"/>
          </a:p>
        </p:txBody>
      </p:sp>
      <p:sp>
        <p:nvSpPr>
          <p:cNvPr id="15" name="Shape 11">
            <a:extLst xmlns:a="http://schemas.openxmlformats.org/drawingml/2006/main">
              <a:ext uri="{FF2B5EF4-FFF2-40B4-BE49-F238E27FC236}">
                <a16:creationId xmlns:a16="http://schemas.microsoft.com/office/drawing/2014/main" id="{271816AF-4616-456C-B82D-D4F83DCA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42032"/>
            <a:ext cx="5367528" cy="804672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211DB79F-2F9B-448F-9497-3B05FA13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88336"/>
            <a:ext cx="475488" cy="4846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C376E23-168C-4894-92D0-5D1653C2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2825496"/>
            <a:ext cx="4297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8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01</a:t>
            </a:r>
            <a:endParaRPr sz="1180"/>
          </a:p>
        </p:txBody>
      </p:sp>
      <p:sp>
        <p:nvSpPr>
          <p:cNvPr id="18" name="Text 14">
            <a:hlinkClick xmlns:r="http://schemas.openxmlformats.org/officeDocument/2006/relationships" xmlns:a="http://schemas.openxmlformats.org/drawingml/2006/main" r:id="R6389b1eb612741c4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5D286A6A-2AC2-4571-9C16-5DF74CAC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2660904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 u="sng">
                <a:solidFill>
                  <a:srgbClr val="10263D"/>
                </a:solidFill>
                <a:latin typeface="Inter"/>
                <a:ea typeface="Inter"/>
                <a:cs typeface="Inter"/>
              </a:rPr>
              <a:t>Projektidee &amp; Anforderungen</a:t>
            </a:r>
            <a:endParaRPr sz="140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3F6DE72-39C1-43CD-A033-3042E38D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2990088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90">
                <a:solidFill>
                  <a:srgbClr val="557087"/>
                </a:solidFill>
                <a:latin typeface="Inter"/>
                <a:ea typeface="Inter"/>
                <a:cs typeface="Inter"/>
              </a:rPr>
              <a:t>Ziel, Spielregeln, flexible Feldgrößen</a:t>
            </a:r>
            <a:endParaRPr sz="990"/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12B31715-93E7-4C72-863E-E37D2CE1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3182112"/>
            <a:ext cx="1060704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770">
                <a:solidFill>
                  <a:srgbClr val="2478F6"/>
                </a:solidFill>
                <a:latin typeface="Inter"/>
                <a:ea typeface="Inter"/>
                <a:cs typeface="Inter"/>
              </a:rPr>
              <a:t>Folien 03–04</a:t>
            </a:r>
            <a:endParaRPr sz="770"/>
          </a:p>
        </p:txBody>
      </p:sp>
      <p:sp>
        <p:nvSpPr>
          <p:cNvPr id="21" name="Shape 17">
            <a:hlinkClick xmlns:r="http://schemas.openxmlformats.org/officeDocument/2006/relationships" xmlns:a="http://schemas.openxmlformats.org/drawingml/2006/main" r:id="Rdef04e348f4741c6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FE8351C3-4BD2-4C57-839F-CF89DC66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542032"/>
            <a:ext cx="5367528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D4DD10E2-535B-42BB-9EC2-E45FEB6E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542032"/>
            <a:ext cx="5367528" cy="804672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19">
            <a:extLst xmlns:a="http://schemas.openxmlformats.org/drawingml/2006/main">
              <a:ext uri="{FF2B5EF4-FFF2-40B4-BE49-F238E27FC236}">
                <a16:creationId xmlns:a16="http://schemas.microsoft.com/office/drawing/2014/main" id="{53CA2DFA-F5EC-4C5D-B749-9EFBA083D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688336"/>
            <a:ext cx="475488" cy="4846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854164E7-AFFE-434E-9B25-11F71102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825496"/>
            <a:ext cx="4297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8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02</a:t>
            </a:r>
            <a:endParaRPr sz="1180"/>
          </a:p>
        </p:txBody>
      </p:sp>
      <p:sp>
        <p:nvSpPr>
          <p:cNvPr id="25" name="Text 21">
            <a:hlinkClick xmlns:r="http://schemas.openxmlformats.org/officeDocument/2006/relationships" xmlns:a="http://schemas.openxmlformats.org/drawingml/2006/main" r:id="R08c74ef37c4949c7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054DB051-7158-4A31-961F-E1E4887A7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2660904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 u="sng">
                <a:solidFill>
                  <a:srgbClr val="10263D"/>
                </a:solidFill>
                <a:latin typeface="Inter"/>
                <a:ea typeface="Inter"/>
                <a:cs typeface="Inter"/>
              </a:rPr>
              <a:t>Spielablauf &amp; Objektmodell</a:t>
            </a:r>
            <a:endParaRPr sz="1400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6D64EC4-DD6F-42BF-A7D8-C7EE378B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2990088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90">
                <a:solidFill>
                  <a:srgbClr val="557087"/>
                </a:solidFill>
                <a:latin typeface="Inter"/>
                <a:ea typeface="Inter"/>
                <a:cs typeface="Inter"/>
              </a:rPr>
              <a:t>Board, Game, MatchSession und GUI</a:t>
            </a:r>
            <a:endParaRPr sz="99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AB3FDD06-5982-4D3A-84BF-55884E142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3182112"/>
            <a:ext cx="1060704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770">
                <a:solidFill>
                  <a:srgbClr val="2478F6"/>
                </a:solidFill>
                <a:latin typeface="Inter"/>
                <a:ea typeface="Inter"/>
                <a:cs typeface="Inter"/>
              </a:rPr>
              <a:t>Folien 05–06</a:t>
            </a:r>
            <a:endParaRPr sz="770"/>
          </a:p>
        </p:txBody>
      </p:sp>
      <p:sp>
        <p:nvSpPr>
          <p:cNvPr id="28" name="Shape 24">
            <a:hlinkClick xmlns:r="http://schemas.openxmlformats.org/officeDocument/2006/relationships" xmlns:a="http://schemas.openxmlformats.org/drawingml/2006/main" r:id="R09ab142e3c614e32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358C2FED-5268-4164-887A-62FEC5E0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2542032"/>
            <a:ext cx="5367528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12697C0E-D0BC-4FC4-AD11-7D2DD7660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93008"/>
            <a:ext cx="5367528" cy="804672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39482C64-4BE4-42AB-B75C-59DA0D03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639312"/>
            <a:ext cx="475488" cy="4846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6D762AED-8F66-4A35-9F65-AD9348684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3776472"/>
            <a:ext cx="4297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8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03</a:t>
            </a:r>
            <a:endParaRPr sz="1180"/>
          </a:p>
        </p:txBody>
      </p:sp>
      <p:sp>
        <p:nvSpPr>
          <p:cNvPr id="32" name="Text 28">
            <a:hlinkClick xmlns:r="http://schemas.openxmlformats.org/officeDocument/2006/relationships" xmlns:a="http://schemas.openxmlformats.org/drawingml/2006/main" r:id="Rb19a4e8ef02c4c3f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FA96896F-6B4F-41E9-A769-56FCA6B66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3611880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 u="sng">
                <a:solidFill>
                  <a:srgbClr val="10263D"/>
                </a:solidFill>
                <a:latin typeface="Inter"/>
                <a:ea typeface="Inter"/>
                <a:cs typeface="Inter"/>
              </a:rPr>
              <a:t>Codeaufbau &amp; Sieglogik</a:t>
            </a:r>
            <a:endParaRPr sz="14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6FE2B966-CFD1-49C0-B3C6-2D201C204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3941064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90">
                <a:solidFill>
                  <a:srgbClr val="557087"/>
                </a:solidFill>
                <a:latin typeface="Inter"/>
                <a:ea typeface="Inter"/>
                <a:cs typeface="Inter"/>
              </a:rPr>
              <a:t>Header/CPP und vier Prüfungsachsen</a:t>
            </a:r>
            <a:endParaRPr sz="99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561131C2-D834-4FD5-8D3D-F3A460A0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133088"/>
            <a:ext cx="1060704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770">
                <a:solidFill>
                  <a:srgbClr val="2478F6"/>
                </a:solidFill>
                <a:latin typeface="Inter"/>
                <a:ea typeface="Inter"/>
                <a:cs typeface="Inter"/>
              </a:rPr>
              <a:t>Folien 07–08</a:t>
            </a:r>
            <a:endParaRPr sz="770"/>
          </a:p>
        </p:txBody>
      </p:sp>
      <p:sp>
        <p:nvSpPr>
          <p:cNvPr id="35" name="Shape 31">
            <a:hlinkClick xmlns:r="http://schemas.openxmlformats.org/officeDocument/2006/relationships" xmlns:a="http://schemas.openxmlformats.org/drawingml/2006/main" r:id="Rbc4b6651c0284006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759D3765-E39A-4917-B48F-C228CACE6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93008"/>
            <a:ext cx="5367528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8F721425-23EE-4CC0-9EFA-52913100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493008"/>
            <a:ext cx="5367528" cy="804672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446C2588-F5C8-4109-B604-C656EF77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639312"/>
            <a:ext cx="475488" cy="4846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40EA3CAF-941E-40E6-803D-B59CCA271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776472"/>
            <a:ext cx="4297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8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04</a:t>
            </a:r>
            <a:endParaRPr sz="1180"/>
          </a:p>
        </p:txBody>
      </p:sp>
      <p:sp>
        <p:nvSpPr>
          <p:cNvPr id="39" name="Text 35">
            <a:hlinkClick xmlns:r="http://schemas.openxmlformats.org/officeDocument/2006/relationships" xmlns:a="http://schemas.openxmlformats.org/drawingml/2006/main" r:id="R87c03987b78e4379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4DE72AC8-71AF-4D07-814B-A55B025C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3611880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 u="sng">
                <a:solidFill>
                  <a:srgbClr val="10263D"/>
                </a:solidFill>
                <a:latin typeface="Inter"/>
                <a:ea typeface="Inter"/>
                <a:cs typeface="Inter"/>
              </a:rPr>
              <a:t>Persistenz &amp; Komfortbefehle</a:t>
            </a:r>
            <a:endParaRPr sz="140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7C8F5982-2ED0-4D2C-A5F7-7ED83F900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3941064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90">
                <a:solidFill>
                  <a:srgbClr val="557087"/>
                </a:solidFill>
                <a:latin typeface="Inter"/>
                <a:ea typeface="Inter"/>
                <a:cs typeface="Inter"/>
              </a:rPr>
              <a:t>Speichern, Laden, Sonderbefehle</a:t>
            </a:r>
            <a:endParaRPr sz="99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BC389184-2647-47B6-BA0E-2A76DA34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4133088"/>
            <a:ext cx="1060704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770">
                <a:solidFill>
                  <a:srgbClr val="2478F6"/>
                </a:solidFill>
                <a:latin typeface="Inter"/>
                <a:ea typeface="Inter"/>
                <a:cs typeface="Inter"/>
              </a:rPr>
              <a:t>Folien 09–10</a:t>
            </a:r>
            <a:endParaRPr sz="770"/>
          </a:p>
        </p:txBody>
      </p:sp>
      <p:sp>
        <p:nvSpPr>
          <p:cNvPr id="42" name="Shape 38">
            <a:hlinkClick xmlns:r="http://schemas.openxmlformats.org/officeDocument/2006/relationships" xmlns:a="http://schemas.openxmlformats.org/drawingml/2006/main" r:id="Re37c82f3a4534262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383FC4EE-1CD9-4018-8689-5B36CDC5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493008"/>
            <a:ext cx="5367528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1C1FD183-0955-464A-9D2C-D35DA378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43984"/>
            <a:ext cx="5367528" cy="804672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F6C9B6E4-7918-49B3-A6AB-BAF3953E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4590288"/>
            <a:ext cx="475488" cy="4846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17E3746E-94DA-463B-BE6B-2790A900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" y="4727448"/>
            <a:ext cx="4297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8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05</a:t>
            </a:r>
            <a:endParaRPr sz="1180"/>
          </a:p>
        </p:txBody>
      </p:sp>
      <p:sp>
        <p:nvSpPr>
          <p:cNvPr id="46" name="Text 42">
            <a:hlinkClick xmlns:r="http://schemas.openxmlformats.org/officeDocument/2006/relationships" xmlns:a="http://schemas.openxmlformats.org/drawingml/2006/main" r:id="R8f8779d47ec74508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A3DDCFD3-0A40-4912-BF5C-90374857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4562856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 u="sng">
                <a:solidFill>
                  <a:srgbClr val="10263D"/>
                </a:solidFill>
                <a:latin typeface="Inter"/>
                <a:ea typeface="Inter"/>
                <a:cs typeface="Inter"/>
              </a:rPr>
              <a:t>Tests, Projektstand &amp; Fazit</a:t>
            </a:r>
            <a:endParaRPr sz="14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61F3A18A-B3F0-4C28-8064-99AEBE551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8176" y="4892040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90">
                <a:solidFill>
                  <a:srgbClr val="557087"/>
                </a:solidFill>
                <a:latin typeface="Inter"/>
                <a:ea typeface="Inter"/>
                <a:cs typeface="Inter"/>
              </a:rPr>
              <a:t>CI-Ergebnisse und offene Zielgeräteprüfung</a:t>
            </a:r>
            <a:endParaRPr sz="99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9E785C24-4C37-4937-B5F5-E5E85DC0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5084064"/>
            <a:ext cx="1060704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770">
                <a:solidFill>
                  <a:srgbClr val="2478F6"/>
                </a:solidFill>
                <a:latin typeface="Inter"/>
                <a:ea typeface="Inter"/>
                <a:cs typeface="Inter"/>
              </a:rPr>
              <a:t>Folien 11–13</a:t>
            </a:r>
            <a:endParaRPr sz="770"/>
          </a:p>
        </p:txBody>
      </p:sp>
      <p:sp>
        <p:nvSpPr>
          <p:cNvPr id="49" name="Shape 45">
            <a:hlinkClick xmlns:r="http://schemas.openxmlformats.org/officeDocument/2006/relationships" xmlns:a="http://schemas.openxmlformats.org/drawingml/2006/main" r:id="R46976de5ec9d43d2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070C847E-8B1B-4616-B41F-DE7AFF2E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43984"/>
            <a:ext cx="5367528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E9B4D2ED-A234-4D5E-826D-26319DCD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443984"/>
            <a:ext cx="5367528" cy="804672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393F686B-5E7B-4EA0-BA6E-75D1FD9E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4590288"/>
            <a:ext cx="475488" cy="484632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51414C19-BD15-4785-A15C-409CF546C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727448"/>
            <a:ext cx="429768" cy="192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8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06</a:t>
            </a:r>
            <a:endParaRPr sz="1180"/>
          </a:p>
        </p:txBody>
      </p:sp>
      <p:sp>
        <p:nvSpPr>
          <p:cNvPr id="53" name="Text 49">
            <a:hlinkClick xmlns:r="http://schemas.openxmlformats.org/officeDocument/2006/relationships" xmlns:a="http://schemas.openxmlformats.org/drawingml/2006/main" r:id="Rdf87f818fa7c4dba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90682C51-A2F0-455E-A3DD-C9F3198DA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4562856"/>
            <a:ext cx="4416552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 b="1" u="sng">
                <a:solidFill>
                  <a:srgbClr val="10263D"/>
                </a:solidFill>
                <a:latin typeface="Inter"/>
                <a:ea typeface="Inter"/>
                <a:cs typeface="Inter"/>
              </a:rPr>
              <a:t>Live-Code in Visual Studio Code</a:t>
            </a:r>
            <a:endParaRPr sz="14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DE73F5BC-C5B7-4D85-85BF-AD5B7B04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3448" y="4892040"/>
            <a:ext cx="4078224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90">
                <a:solidFill>
                  <a:srgbClr val="557087"/>
                </a:solidFill>
                <a:latin typeface="Inter"/>
                <a:ea typeface="Inter"/>
                <a:cs typeface="Inter"/>
              </a:rPr>
              <a:t>Anschließend 15 Minuten ausführbarer Code</a:t>
            </a:r>
            <a:endParaRPr sz="990"/>
          </a:p>
        </p:txBody>
      </p:sp>
      <p:sp>
        <p:nvSpPr>
          <p:cNvPr id="55" name="Text 51">
            <a:extLst xmlns:a="http://schemas.openxmlformats.org/drawingml/2006/main">
              <a:ext uri="{FF2B5EF4-FFF2-40B4-BE49-F238E27FC236}">
                <a16:creationId xmlns:a16="http://schemas.microsoft.com/office/drawing/2014/main" id="{A4C8FC1C-61A5-4755-A942-5C5F496A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0152" y="5084064"/>
            <a:ext cx="1060704" cy="1097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770">
                <a:solidFill>
                  <a:srgbClr val="2478F6"/>
                </a:solidFill>
                <a:latin typeface="Inter"/>
                <a:ea typeface="Inter"/>
                <a:cs typeface="Inter"/>
              </a:rPr>
              <a:t>Folie 14</a:t>
            </a:r>
            <a:endParaRPr sz="770"/>
          </a:p>
        </p:txBody>
      </p:sp>
      <p:sp>
        <p:nvSpPr>
          <p:cNvPr id="56" name="Shape 52">
            <a:hlinkClick xmlns:r="http://schemas.openxmlformats.org/officeDocument/2006/relationships" xmlns:a="http://schemas.openxmlformats.org/drawingml/2006/main" r:id="Rfcba4565a62c4ce7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897BDCDE-388D-4F54-9440-2A6D82FC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443984"/>
            <a:ext cx="5367528" cy="8046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Shape 53">
            <a:extLst xmlns:a="http://schemas.openxmlformats.org/drawingml/2006/main">
              <a:ext uri="{FF2B5EF4-FFF2-40B4-BE49-F238E27FC236}">
                <a16:creationId xmlns:a16="http://schemas.microsoft.com/office/drawing/2014/main" id="{091E9ABE-A78E-429D-82BD-8F8C6232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4416"/>
            <a:ext cx="10762488" cy="530352"/>
          </a:xfrm>
          <a:prstGeom xmlns:a="http://schemas.openxmlformats.org/drawingml/2006/main" prst="roundRect">
            <a:avLst>
              <a:gd name="adj" fmla="val 18966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Text 54">
            <a:extLst xmlns:a="http://schemas.openxmlformats.org/drawingml/2006/main">
              <a:ext uri="{FF2B5EF4-FFF2-40B4-BE49-F238E27FC236}">
                <a16:creationId xmlns:a16="http://schemas.microsoft.com/office/drawing/2014/main" id="{40EF117F-9A6B-475B-A669-F5A9516FD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5788152"/>
            <a:ext cx="491032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6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TEIL A  ·  15 MIN  PROJEKTPRÄSENTATION</a:t>
            </a:r>
            <a:endParaRPr sz="1060"/>
          </a:p>
        </p:txBody>
      </p:sp>
      <p:sp>
        <p:nvSpPr>
          <p:cNvPr id="59" name="Shape 55">
            <a:extLst xmlns:a="http://schemas.openxmlformats.org/drawingml/2006/main">
              <a:ext uri="{FF2B5EF4-FFF2-40B4-BE49-F238E27FC236}">
                <a16:creationId xmlns:a16="http://schemas.microsoft.com/office/drawing/2014/main" id="{11CFD1C6-C8A3-41C4-9AC7-79C77C44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5760720"/>
            <a:ext cx="0" cy="228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5480A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Text 56">
            <a:extLst xmlns:a="http://schemas.openxmlformats.org/drawingml/2006/main">
              <a:ext uri="{FF2B5EF4-FFF2-40B4-BE49-F238E27FC236}">
                <a16:creationId xmlns:a16="http://schemas.microsoft.com/office/drawing/2014/main" id="{FB2BD448-370C-42A7-8481-575AFD3E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5788152"/>
            <a:ext cx="480060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6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TEIL B  ·  15 MIN  CODE + DEMO</a:t>
            </a:r>
            <a:endParaRPr sz="1060"/>
          </a:p>
        </p:txBody>
      </p:sp>
    </p:spTree>
    <p:extLst>
      <p:ext uri="{BB962C8B-B14F-4D97-AF65-F5344CB8AC3E}">
        <p14:creationId xmlns:p14="http://schemas.microsoft.com/office/powerpoint/2010/main" val="10765325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C85C6C2-6249-4493-8F8E-AC2032E6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E23973A-187E-43CA-AD04-53F340FF4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852B101-F100-44AF-B238-90A0D0BE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8195424F-1C27-41A0-B938-2FB9724BF2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ed56535dd643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6DD5645-9EA3-4882-9E1A-4A1D4DD2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4959111-AB98-4837-8F0D-F7429D92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9A32B4C9-4BC9-4FA9-9813-DB0EB398513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d7e213a3894c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adcabc815351406f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6CDFD4D5-B577-42F5-9C77-9D0A453D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B8918CF-12E7-48F2-A953-CA2105A1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03  /  PROJEKTIDEE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096CA33-B2C9-4E1A-BE64-46FE2DDA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Klassisches Spiel. Technische Neuinterpretation.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CAC29C0-72C2-475D-9EA6-37127D4ED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Das bekannte Spielprinzip bleibt erhalten. Die Umsetzung setzt auf C++17 und objektorientierte Programmierung.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BF29F69-2821-4A2D-83CF-0EA988D6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B39C100-67D0-4DC9-90FD-3555F6FD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CB774A3-4B69-4361-8353-290B6316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03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8E48093F-7A2B-4AAD-BC6B-D28426FA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CFD5ADB9-D25B-4DD5-9244-F64DAC97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8A63A19-9C69-461F-8343-968892FA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993844C4-D13D-4D75-9463-BDA4E42C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341F2F4-6F46-4139-9D70-1FABB74B2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79647E5-7C6E-40EA-B1B7-D6E3032D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A58FA9F-049B-4AF3-A180-8A01DF4FC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B07110E-16FD-4524-97F2-2857DD2A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FF5953A1-A7A7-43B4-A756-CD3CCC48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BF93920C-D7F7-4A62-8CB5-0061B92C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726235E8-20FA-4ED4-B3DC-9B6C917E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" y="2679192"/>
            <a:ext cx="5257800" cy="1380744"/>
          </a:xfrm>
          <a:prstGeom xmlns:a="http://schemas.openxmlformats.org/drawingml/2006/main" prst="roundRect">
            <a:avLst>
              <a:gd name="adj" fmla="val 8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20881127-72FF-495A-9E70-DDC39C5E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07792"/>
            <a:ext cx="50292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D47271A8-C773-4207-A912-22BB05A2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0360"/>
            <a:ext cx="472744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Spielfunktion</a:t>
            </a:r>
            <a:endParaRPr sz="162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91760256-4BF8-4C21-AE3F-DB323E34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392424"/>
            <a:ext cx="4855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>
                <a:solidFill>
                  <a:srgbClr val="557087"/>
                </a:solidFill>
                <a:latin typeface="Inter"/>
                <a:ea typeface="Inter"/>
                <a:cs typeface="Inter"/>
              </a:rPr>
              <a:t>Zwei bis vier Personen spielen lokal in der Konsole oder im 2D-Fenster. Vier gleiche Symbole in Folge gewinnen.</a:t>
            </a:r>
            <a:endParaRPr sz="121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422F226A-FBE0-4753-82C5-21AB0426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" y="4279392"/>
            <a:ext cx="5257800" cy="1380744"/>
          </a:xfrm>
          <a:prstGeom xmlns:a="http://schemas.openxmlformats.org/drawingml/2006/main" prst="roundRect">
            <a:avLst>
              <a:gd name="adj" fmla="val 8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3973C9D3-BF00-4C60-9FD1-D6CB37333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07992"/>
            <a:ext cx="50292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5505C06A-C066-4360-A6EA-F2473C13E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80560"/>
            <a:ext cx="472744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Gym-Konzept</a:t>
            </a:r>
            <a:endParaRPr sz="162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2D3D432E-3375-45F1-AA28-5D576F8BF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992624"/>
            <a:ext cx="4855464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>
                <a:solidFill>
                  <a:srgbClr val="557087"/>
                </a:solidFill>
                <a:latin typeface="Inter"/>
                <a:ea typeface="Inter"/>
                <a:cs typeface="Inter"/>
              </a:rPr>
              <a:t>Hanteln erscheinen im Terminal als [R] und im 2D-Fenster als animierte Kurzhanteln.</a:t>
            </a:r>
            <a:endParaRPr sz="1210"/>
          </a:p>
        </p:txBody>
      </p:sp>
      <p:pic>
        <p:nvPicPr>
          <p:cNvPr id="34" name="Image 2">
            <a:extLst xmlns:a="http://schemas.openxmlformats.org/drawingml/2006/main">
              <a:ext uri="{FF2B5EF4-FFF2-40B4-BE49-F238E27FC236}">
                <a16:creationId xmlns:a16="http://schemas.microsoft.com/office/drawing/2014/main" id="{BD32B344-C68A-4E52-9EDF-EB59049638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79e32cf3d74a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72200" y="2633472"/>
            <a:ext cx="5321808" cy="3493008"/>
          </a:xfrm>
          <a:prstGeom xmlns:a="http://schemas.openxmlformats.org/drawingml/2006/main" prst="rect">
            <a:avLst/>
          </a:prstGeom>
        </p:spPr>
      </p:pic>
      <p:sp>
        <p:nvSpPr>
          <p:cNvPr id="35" name="Shape 30">
            <a:extLst xmlns:a="http://schemas.openxmlformats.org/drawingml/2006/main">
              <a:ext uri="{FF2B5EF4-FFF2-40B4-BE49-F238E27FC236}">
                <a16:creationId xmlns:a16="http://schemas.microsoft.com/office/drawing/2014/main" id="{A0D9952D-26D3-418E-9166-7CA9D16C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5660136"/>
            <a:ext cx="4654296" cy="338328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1">
            <a:extLst xmlns:a="http://schemas.openxmlformats.org/drawingml/2006/main">
              <a:ext uri="{FF2B5EF4-FFF2-40B4-BE49-F238E27FC236}">
                <a16:creationId xmlns:a16="http://schemas.microsoft.com/office/drawing/2014/main" id="{E38DC590-F753-4D32-9812-9492278C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5976" y="5742432"/>
            <a:ext cx="438912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88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3D-DESIGNSTUDIE  ·  DAS 2D-SPIEL LÄUFT SEPARAT</a:t>
            </a:r>
            <a:endParaRPr sz="880"/>
          </a:p>
        </p:txBody>
      </p:sp>
    </p:spTree>
    <p:extLst>
      <p:ext uri="{BB962C8B-B14F-4D97-AF65-F5344CB8AC3E}">
        <p14:creationId xmlns:p14="http://schemas.microsoft.com/office/powerpoint/2010/main" val="47206528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C142D95-955C-488C-AD59-18E7242E9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7B3FF56-ACDA-4BC9-BC35-3210FED9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5D655CE-BD66-4D19-AE73-AFE657C4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FFF95B6B-1B85-4C98-AA5F-0DC7C6C6EE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1c37c3e5a44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719EEF2-D4C9-4C0E-9C84-EFE37805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B968884-72FE-492A-A71E-1699297B6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E8BA168E-5BDA-4912-A88B-C4D062C1A4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8c0458cce944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f0285b3288504a19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CAC2ABBF-09C6-4F96-9116-D3024E22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06FD6FE6-091F-4B75-8622-7108113A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04  /  ANFORDERUNGEN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9A20078-4478-4476-BB0D-DD17A2D3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Ein Spielprinzip. Drei Spielfeldgrößen.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CEE4DA5-B290-44CB-B039-A0B6CC6EB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Je mehr Personen teilnehmen, desto größer ist das Spielfeld. Die Gewinnbedingung bleibt gleich.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5A40AEDB-A75A-4912-AE89-C719A601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2DAB76F0-CD52-476B-BE80-17D4CCEF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5692417-ADE7-4405-B0FC-BA426CE5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04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3A7305FC-DCB2-418F-8195-C2C9069B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A931D69B-4F5B-4FBF-8338-C878589F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B463C6AB-F99A-4336-AC87-FAAB1833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D42BDFDB-A911-49B6-8835-E98FAA1E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2E5E8A43-159C-4C74-A91F-091546A9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7DA06B3-F5DC-4956-8CF1-F044A71F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46AB522C-7CD5-4081-B367-4EA03B952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1C7A2FC7-1CA5-4613-B328-C10AB960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638DB1F-2F99-4A0C-90A0-6E510995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D863B11-EC90-4278-BBC4-C06E287F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F86B463-B034-4280-A59C-CCAB6E49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2642616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2 SPIELER</a:t>
            </a:r>
            <a:endParaRPr sz="1320"/>
          </a:p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5305496-5B68-46F9-B836-A3099F3F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006" y="3054096"/>
            <a:ext cx="2656332" cy="2313432"/>
          </a:xfrm>
          <a:prstGeom xmlns:a="http://schemas.openxmlformats.org/drawingml/2006/main" prst="roundRect">
            <a:avLst>
              <a:gd name="adj" fmla="val 5534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AD76AC9A-24E9-4015-B664-43A3268D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886" y="32369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7649B20C-76C1-4536-BF10-7157EA5B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86" y="32369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18477BCF-7CA2-48C0-A40D-ACAB9A39A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686" y="32369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87A478FD-375C-4A03-995D-63BD06006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86" y="32369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16A93689-1A1F-4C92-95FA-79C51323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86" y="32369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B0ED47C2-27D8-4E37-81E8-BB3C39D4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386" y="32369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AE0C9302-ACE0-482A-AB54-BE0465F7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286" y="32369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D9E93F09-8014-44F6-9C0F-E64A4F285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886" y="35798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088D54B3-54DC-4483-B566-E05F271A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86" y="35798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8A04B082-85E7-4688-95D2-22BBA1E2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686" y="35798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452FC5F4-DF77-40D8-ACF5-5331D1E97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86" y="35798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C8BE4E63-5F79-4055-BC81-A956DCC36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86" y="35798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081E0003-574E-44B9-BB4F-AACB89EA9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386" y="35798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88A47513-8CD0-4B4A-AE37-AA6138B6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286" y="35798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7C36E4FA-1BE7-4977-ABE4-45E9D006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886" y="39227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EA789904-913E-43FD-B5BA-7531D732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86" y="39227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AE53BE5F-2A3F-4EAD-8E84-4E875FE7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686" y="39227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78CA394F-AA5F-4D5C-9892-1053DCFA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86" y="39227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FA1D2378-9E5A-47E5-914C-87C85A5BD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86" y="39227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D19C4AC3-8FB0-4E0A-B6D1-AE98AB52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386" y="39227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9A5D970E-9167-4538-8B50-BB646A7D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286" y="39227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Shape 45">
            <a:extLst xmlns:a="http://schemas.openxmlformats.org/drawingml/2006/main">
              <a:ext uri="{FF2B5EF4-FFF2-40B4-BE49-F238E27FC236}">
                <a16:creationId xmlns:a16="http://schemas.microsoft.com/office/drawing/2014/main" id="{31720F77-9FB0-4226-A273-FF5B3371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886" y="42656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BA4B9959-68F9-4F5C-BA08-7BFEF04D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86" y="42656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CD631478-4EDB-428E-8D08-BDFBE4DA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686" y="42656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Shape 48">
            <a:extLst xmlns:a="http://schemas.openxmlformats.org/drawingml/2006/main">
              <a:ext uri="{FF2B5EF4-FFF2-40B4-BE49-F238E27FC236}">
                <a16:creationId xmlns:a16="http://schemas.microsoft.com/office/drawing/2014/main" id="{2A6B65E6-71F5-4254-85F2-2B8E509E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86" y="42656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Shape 49">
            <a:extLst xmlns:a="http://schemas.openxmlformats.org/drawingml/2006/main">
              <a:ext uri="{FF2B5EF4-FFF2-40B4-BE49-F238E27FC236}">
                <a16:creationId xmlns:a16="http://schemas.microsoft.com/office/drawing/2014/main" id="{CAEAE9C3-952E-4941-86E3-32A53251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86" y="42656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Shape 50">
            <a:extLst xmlns:a="http://schemas.openxmlformats.org/drawingml/2006/main">
              <a:ext uri="{FF2B5EF4-FFF2-40B4-BE49-F238E27FC236}">
                <a16:creationId xmlns:a16="http://schemas.microsoft.com/office/drawing/2014/main" id="{2F93B3F9-ACEE-4B7D-B40E-99632195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386" y="42656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76ABC2ED-0F6B-4368-85D8-8EE89EF5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286" y="42656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Shape 52">
            <a:extLst xmlns:a="http://schemas.openxmlformats.org/drawingml/2006/main">
              <a:ext uri="{FF2B5EF4-FFF2-40B4-BE49-F238E27FC236}">
                <a16:creationId xmlns:a16="http://schemas.microsoft.com/office/drawing/2014/main" id="{35FE92BC-9A1C-4035-8AE3-124D7022B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886" y="46085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Shape 53">
            <a:extLst xmlns:a="http://schemas.openxmlformats.org/drawingml/2006/main">
              <a:ext uri="{FF2B5EF4-FFF2-40B4-BE49-F238E27FC236}">
                <a16:creationId xmlns:a16="http://schemas.microsoft.com/office/drawing/2014/main" id="{75A6157B-2076-4DEE-BA78-14ED2B8A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86" y="46085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Shape 54">
            <a:extLst xmlns:a="http://schemas.openxmlformats.org/drawingml/2006/main">
              <a:ext uri="{FF2B5EF4-FFF2-40B4-BE49-F238E27FC236}">
                <a16:creationId xmlns:a16="http://schemas.microsoft.com/office/drawing/2014/main" id="{46461204-B3DD-4D40-9E5D-B03CC08F3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686" y="46085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Shape 55">
            <a:extLst xmlns:a="http://schemas.openxmlformats.org/drawingml/2006/main">
              <a:ext uri="{FF2B5EF4-FFF2-40B4-BE49-F238E27FC236}">
                <a16:creationId xmlns:a16="http://schemas.microsoft.com/office/drawing/2014/main" id="{D6C87AAA-BE90-4237-BF37-8866BEC8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86" y="46085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Shape 56">
            <a:extLst xmlns:a="http://schemas.openxmlformats.org/drawingml/2006/main">
              <a:ext uri="{FF2B5EF4-FFF2-40B4-BE49-F238E27FC236}">
                <a16:creationId xmlns:a16="http://schemas.microsoft.com/office/drawing/2014/main" id="{6CA7CDF2-BF40-4130-8F64-ED31E236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86" y="46085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Shape 57">
            <a:extLst xmlns:a="http://schemas.openxmlformats.org/drawingml/2006/main">
              <a:ext uri="{FF2B5EF4-FFF2-40B4-BE49-F238E27FC236}">
                <a16:creationId xmlns:a16="http://schemas.microsoft.com/office/drawing/2014/main" id="{97E0010B-42AD-4CA5-8F77-9ADC876F2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386" y="46085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Shape 58">
            <a:extLst xmlns:a="http://schemas.openxmlformats.org/drawingml/2006/main">
              <a:ext uri="{FF2B5EF4-FFF2-40B4-BE49-F238E27FC236}">
                <a16:creationId xmlns:a16="http://schemas.microsoft.com/office/drawing/2014/main" id="{8D1EF059-C66E-48EC-88E5-4A372081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286" y="46085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" name="Shape 59">
            <a:extLst xmlns:a="http://schemas.openxmlformats.org/drawingml/2006/main">
              <a:ext uri="{FF2B5EF4-FFF2-40B4-BE49-F238E27FC236}">
                <a16:creationId xmlns:a16="http://schemas.microsoft.com/office/drawing/2014/main" id="{414A77CC-AC13-41C7-A790-483CA6FC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886" y="49514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Shape 60">
            <a:extLst xmlns:a="http://schemas.openxmlformats.org/drawingml/2006/main">
              <a:ext uri="{FF2B5EF4-FFF2-40B4-BE49-F238E27FC236}">
                <a16:creationId xmlns:a16="http://schemas.microsoft.com/office/drawing/2014/main" id="{05F18F6A-D08E-478C-AFFD-B2528B09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6786" y="49514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" name="Shape 61">
            <a:extLst xmlns:a="http://schemas.openxmlformats.org/drawingml/2006/main">
              <a:ext uri="{FF2B5EF4-FFF2-40B4-BE49-F238E27FC236}">
                <a16:creationId xmlns:a16="http://schemas.microsoft.com/office/drawing/2014/main" id="{4D3ECEC9-0CD9-429A-A7B0-300B0702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9686" y="49514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Shape 62">
            <a:extLst xmlns:a="http://schemas.openxmlformats.org/drawingml/2006/main">
              <a:ext uri="{FF2B5EF4-FFF2-40B4-BE49-F238E27FC236}">
                <a16:creationId xmlns:a16="http://schemas.microsoft.com/office/drawing/2014/main" id="{DB2EEF29-2FE8-47CF-ABCE-C888877D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586" y="49514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Shape 63">
            <a:extLst xmlns:a="http://schemas.openxmlformats.org/drawingml/2006/main">
              <a:ext uri="{FF2B5EF4-FFF2-40B4-BE49-F238E27FC236}">
                <a16:creationId xmlns:a16="http://schemas.microsoft.com/office/drawing/2014/main" id="{EF1A730E-0976-4A3B-8985-4AE892F9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5486" y="49514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" name="Shape 64">
            <a:extLst xmlns:a="http://schemas.openxmlformats.org/drawingml/2006/main">
              <a:ext uri="{FF2B5EF4-FFF2-40B4-BE49-F238E27FC236}">
                <a16:creationId xmlns:a16="http://schemas.microsoft.com/office/drawing/2014/main" id="{7AA52A98-BDC4-4DC0-B3AA-125AD296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8386" y="49514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" name="Shape 65">
            <a:extLst xmlns:a="http://schemas.openxmlformats.org/drawingml/2006/main">
              <a:ext uri="{FF2B5EF4-FFF2-40B4-BE49-F238E27FC236}">
                <a16:creationId xmlns:a16="http://schemas.microsoft.com/office/drawing/2014/main" id="{D8D6E0B1-542A-43EE-A7A6-93CBCF15B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1286" y="4951476"/>
            <a:ext cx="233172" cy="23317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0" name="Text 66">
            <a:extLst xmlns:a="http://schemas.openxmlformats.org/drawingml/2006/main">
              <a:ext uri="{FF2B5EF4-FFF2-40B4-BE49-F238E27FC236}">
                <a16:creationId xmlns:a16="http://schemas.microsoft.com/office/drawing/2014/main" id="{D66111BE-66C5-4F42-AC34-2B279457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5550408"/>
            <a:ext cx="28986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95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7 × 6</a:t>
            </a:r>
            <a:endParaRPr sz="1950"/>
          </a:p>
        </p:txBody>
      </p:sp>
      <p:sp>
        <p:nvSpPr>
          <p:cNvPr id="71" name="Text 67">
            <a:extLst xmlns:a="http://schemas.openxmlformats.org/drawingml/2006/main">
              <a:ext uri="{FF2B5EF4-FFF2-40B4-BE49-F238E27FC236}">
                <a16:creationId xmlns:a16="http://schemas.microsoft.com/office/drawing/2014/main" id="{B41637D6-917D-43A2-B9E1-1AA637662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42616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3 SPIELER</a:t>
            </a:r>
            <a:endParaRPr sz="1320"/>
          </a:p>
        </p:txBody>
      </p:sp>
      <p:sp>
        <p:nvSpPr>
          <p:cNvPr id="72" name="Shape 68">
            <a:extLst xmlns:a="http://schemas.openxmlformats.org/drawingml/2006/main">
              <a:ext uri="{FF2B5EF4-FFF2-40B4-BE49-F238E27FC236}">
                <a16:creationId xmlns:a16="http://schemas.microsoft.com/office/drawing/2014/main" id="{A38A04FA-A010-450A-8027-CDB39F38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6086" y="3054096"/>
            <a:ext cx="2576779" cy="2318918"/>
          </a:xfrm>
          <a:prstGeom xmlns:a="http://schemas.openxmlformats.org/drawingml/2006/main" prst="roundRect">
            <a:avLst>
              <a:gd name="adj" fmla="val 5521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" name="Shape 69">
            <a:extLst xmlns:a="http://schemas.openxmlformats.org/drawingml/2006/main">
              <a:ext uri="{FF2B5EF4-FFF2-40B4-BE49-F238E27FC236}">
                <a16:creationId xmlns:a16="http://schemas.microsoft.com/office/drawing/2014/main" id="{37DFCB9F-1121-4603-A56F-946B439D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360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Shape 70">
            <a:extLst xmlns:a="http://schemas.openxmlformats.org/drawingml/2006/main">
              <a:ext uri="{FF2B5EF4-FFF2-40B4-BE49-F238E27FC236}">
                <a16:creationId xmlns:a16="http://schemas.microsoft.com/office/drawing/2014/main" id="{365521F5-B868-474F-BB04-CE362566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3221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5" name="Shape 71">
            <a:extLst xmlns:a="http://schemas.openxmlformats.org/drawingml/2006/main">
              <a:ext uri="{FF2B5EF4-FFF2-40B4-BE49-F238E27FC236}">
                <a16:creationId xmlns:a16="http://schemas.microsoft.com/office/drawing/2014/main" id="{01A5E692-3B97-48C4-BAB0-3EC68887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082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6" name="Shape 72">
            <a:extLst xmlns:a="http://schemas.openxmlformats.org/drawingml/2006/main">
              <a:ext uri="{FF2B5EF4-FFF2-40B4-BE49-F238E27FC236}">
                <a16:creationId xmlns:a16="http://schemas.microsoft.com/office/drawing/2014/main" id="{43B905C8-1682-482E-A8BB-AE0EE38D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943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Shape 73">
            <a:extLst xmlns:a="http://schemas.openxmlformats.org/drawingml/2006/main">
              <a:ext uri="{FF2B5EF4-FFF2-40B4-BE49-F238E27FC236}">
                <a16:creationId xmlns:a16="http://schemas.microsoft.com/office/drawing/2014/main" id="{D9CF8B00-5634-4F59-A5F9-2F37FFF5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803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Shape 74">
            <a:extLst xmlns:a="http://schemas.openxmlformats.org/drawingml/2006/main">
              <a:ext uri="{FF2B5EF4-FFF2-40B4-BE49-F238E27FC236}">
                <a16:creationId xmlns:a16="http://schemas.microsoft.com/office/drawing/2014/main" id="{6FCC651C-2E24-45A8-9CDF-5D7ED71B3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64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9" name="Shape 75">
            <a:extLst xmlns:a="http://schemas.openxmlformats.org/drawingml/2006/main">
              <a:ext uri="{FF2B5EF4-FFF2-40B4-BE49-F238E27FC236}">
                <a16:creationId xmlns:a16="http://schemas.microsoft.com/office/drawing/2014/main" id="{D857C342-67CE-460C-900C-565D9C1E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25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0" name="Shape 76">
            <a:extLst xmlns:a="http://schemas.openxmlformats.org/drawingml/2006/main">
              <a:ext uri="{FF2B5EF4-FFF2-40B4-BE49-F238E27FC236}">
                <a16:creationId xmlns:a16="http://schemas.microsoft.com/office/drawing/2014/main" id="{21B599FD-87E1-462A-A577-C2ADC639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386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1" name="Shape 77">
            <a:extLst xmlns:a="http://schemas.openxmlformats.org/drawingml/2006/main">
              <a:ext uri="{FF2B5EF4-FFF2-40B4-BE49-F238E27FC236}">
                <a16:creationId xmlns:a16="http://schemas.microsoft.com/office/drawing/2014/main" id="{93AA37BB-BB30-4D92-B873-F465E057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247" y="3223370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2" name="Shape 78">
            <a:extLst xmlns:a="http://schemas.openxmlformats.org/drawingml/2006/main">
              <a:ext uri="{FF2B5EF4-FFF2-40B4-BE49-F238E27FC236}">
                <a16:creationId xmlns:a16="http://schemas.microsoft.com/office/drawing/2014/main" id="{1ABA438C-5ADC-4804-B73C-0CD45C3C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360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3" name="Shape 79">
            <a:extLst xmlns:a="http://schemas.openxmlformats.org/drawingml/2006/main">
              <a:ext uri="{FF2B5EF4-FFF2-40B4-BE49-F238E27FC236}">
                <a16:creationId xmlns:a16="http://schemas.microsoft.com/office/drawing/2014/main" id="{6727C1C8-44DF-4CF2-9F05-B21A0279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3221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4" name="Shape 80">
            <a:extLst xmlns:a="http://schemas.openxmlformats.org/drawingml/2006/main">
              <a:ext uri="{FF2B5EF4-FFF2-40B4-BE49-F238E27FC236}">
                <a16:creationId xmlns:a16="http://schemas.microsoft.com/office/drawing/2014/main" id="{75E5E8B8-B333-41D5-951E-890FCDD2A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082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5" name="Shape 81">
            <a:extLst xmlns:a="http://schemas.openxmlformats.org/drawingml/2006/main">
              <a:ext uri="{FF2B5EF4-FFF2-40B4-BE49-F238E27FC236}">
                <a16:creationId xmlns:a16="http://schemas.microsoft.com/office/drawing/2014/main" id="{9ACC8AEE-39A0-4489-A3CD-85A00498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943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6" name="Shape 82">
            <a:extLst xmlns:a="http://schemas.openxmlformats.org/drawingml/2006/main">
              <a:ext uri="{FF2B5EF4-FFF2-40B4-BE49-F238E27FC236}">
                <a16:creationId xmlns:a16="http://schemas.microsoft.com/office/drawing/2014/main" id="{C3FB0B3F-7931-42AF-8507-4E163D5C5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803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7" name="Shape 83">
            <a:extLst xmlns:a="http://schemas.openxmlformats.org/drawingml/2006/main">
              <a:ext uri="{FF2B5EF4-FFF2-40B4-BE49-F238E27FC236}">
                <a16:creationId xmlns:a16="http://schemas.microsoft.com/office/drawing/2014/main" id="{82E01D94-3692-4B93-9B39-A09F1867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64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8" name="Shape 84">
            <a:extLst xmlns:a="http://schemas.openxmlformats.org/drawingml/2006/main">
              <a:ext uri="{FF2B5EF4-FFF2-40B4-BE49-F238E27FC236}">
                <a16:creationId xmlns:a16="http://schemas.microsoft.com/office/drawing/2014/main" id="{06BFEB42-6BFA-497E-9167-0A60F511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25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9" name="Shape 85">
            <a:extLst xmlns:a="http://schemas.openxmlformats.org/drawingml/2006/main">
              <a:ext uri="{FF2B5EF4-FFF2-40B4-BE49-F238E27FC236}">
                <a16:creationId xmlns:a16="http://schemas.microsoft.com/office/drawing/2014/main" id="{06D1D6E8-4576-4768-BDD8-DE42A082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386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0" name="Shape 86">
            <a:extLst xmlns:a="http://schemas.openxmlformats.org/drawingml/2006/main">
              <a:ext uri="{FF2B5EF4-FFF2-40B4-BE49-F238E27FC236}">
                <a16:creationId xmlns:a16="http://schemas.microsoft.com/office/drawing/2014/main" id="{548632C1-08A4-4790-9799-5DB26CBC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247" y="348123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1" name="Shape 87">
            <a:extLst xmlns:a="http://schemas.openxmlformats.org/drawingml/2006/main">
              <a:ext uri="{FF2B5EF4-FFF2-40B4-BE49-F238E27FC236}">
                <a16:creationId xmlns:a16="http://schemas.microsoft.com/office/drawing/2014/main" id="{0E7CBACA-BCD9-43A0-8E31-445474E3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360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2" name="Shape 88">
            <a:extLst xmlns:a="http://schemas.openxmlformats.org/drawingml/2006/main">
              <a:ext uri="{FF2B5EF4-FFF2-40B4-BE49-F238E27FC236}">
                <a16:creationId xmlns:a16="http://schemas.microsoft.com/office/drawing/2014/main" id="{80908A9D-71E6-44A1-A4ED-D2763542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3221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3" name="Shape 89">
            <a:extLst xmlns:a="http://schemas.openxmlformats.org/drawingml/2006/main">
              <a:ext uri="{FF2B5EF4-FFF2-40B4-BE49-F238E27FC236}">
                <a16:creationId xmlns:a16="http://schemas.microsoft.com/office/drawing/2014/main" id="{1A343BF5-2319-4DC3-A875-5C1FAD356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082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4" name="Shape 90">
            <a:extLst xmlns:a="http://schemas.openxmlformats.org/drawingml/2006/main">
              <a:ext uri="{FF2B5EF4-FFF2-40B4-BE49-F238E27FC236}">
                <a16:creationId xmlns:a16="http://schemas.microsoft.com/office/drawing/2014/main" id="{AAFFCE15-E4E1-4F4B-9765-A513432F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943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5" name="Shape 91">
            <a:extLst xmlns:a="http://schemas.openxmlformats.org/drawingml/2006/main">
              <a:ext uri="{FF2B5EF4-FFF2-40B4-BE49-F238E27FC236}">
                <a16:creationId xmlns:a16="http://schemas.microsoft.com/office/drawing/2014/main" id="{A42AEF58-EC78-4761-B4DD-8131160D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803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6" name="Shape 92">
            <a:extLst xmlns:a="http://schemas.openxmlformats.org/drawingml/2006/main">
              <a:ext uri="{FF2B5EF4-FFF2-40B4-BE49-F238E27FC236}">
                <a16:creationId xmlns:a16="http://schemas.microsoft.com/office/drawing/2014/main" id="{4C673067-C709-4E05-9D32-47A988C9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64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7" name="Shape 93">
            <a:extLst xmlns:a="http://schemas.openxmlformats.org/drawingml/2006/main">
              <a:ext uri="{FF2B5EF4-FFF2-40B4-BE49-F238E27FC236}">
                <a16:creationId xmlns:a16="http://schemas.microsoft.com/office/drawing/2014/main" id="{403F5F5D-415D-4119-9A57-EC5993DA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25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8" name="Shape 94">
            <a:extLst xmlns:a="http://schemas.openxmlformats.org/drawingml/2006/main">
              <a:ext uri="{FF2B5EF4-FFF2-40B4-BE49-F238E27FC236}">
                <a16:creationId xmlns:a16="http://schemas.microsoft.com/office/drawing/2014/main" id="{25CDF033-6A51-4DA0-ABD6-F48E3FD5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386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9" name="Shape 95">
            <a:extLst xmlns:a="http://schemas.openxmlformats.org/drawingml/2006/main">
              <a:ext uri="{FF2B5EF4-FFF2-40B4-BE49-F238E27FC236}">
                <a16:creationId xmlns:a16="http://schemas.microsoft.com/office/drawing/2014/main" id="{47EAECB3-46F5-4DAD-AFD8-65BE0786B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247" y="3739091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0" name="Shape 96">
            <a:extLst xmlns:a="http://schemas.openxmlformats.org/drawingml/2006/main">
              <a:ext uri="{FF2B5EF4-FFF2-40B4-BE49-F238E27FC236}">
                <a16:creationId xmlns:a16="http://schemas.microsoft.com/office/drawing/2014/main" id="{5C181CC7-6DA8-4ED5-A2E6-33E6BA00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360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1" name="Shape 97">
            <a:extLst xmlns:a="http://schemas.openxmlformats.org/drawingml/2006/main">
              <a:ext uri="{FF2B5EF4-FFF2-40B4-BE49-F238E27FC236}">
                <a16:creationId xmlns:a16="http://schemas.microsoft.com/office/drawing/2014/main" id="{B558FBA5-E7AF-4538-BDAC-70435DFCE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3221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2" name="Shape 98">
            <a:extLst xmlns:a="http://schemas.openxmlformats.org/drawingml/2006/main">
              <a:ext uri="{FF2B5EF4-FFF2-40B4-BE49-F238E27FC236}">
                <a16:creationId xmlns:a16="http://schemas.microsoft.com/office/drawing/2014/main" id="{ABA1FC06-E61D-4478-B245-78352AFE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082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3" name="Shape 99">
            <a:extLst xmlns:a="http://schemas.openxmlformats.org/drawingml/2006/main">
              <a:ext uri="{FF2B5EF4-FFF2-40B4-BE49-F238E27FC236}">
                <a16:creationId xmlns:a16="http://schemas.microsoft.com/office/drawing/2014/main" id="{2AEE6F36-FB84-4E21-896F-21A5F440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943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4" name="Shape 100">
            <a:extLst xmlns:a="http://schemas.openxmlformats.org/drawingml/2006/main">
              <a:ext uri="{FF2B5EF4-FFF2-40B4-BE49-F238E27FC236}">
                <a16:creationId xmlns:a16="http://schemas.microsoft.com/office/drawing/2014/main" id="{1F630F29-05CB-42D5-939F-A73DD3FC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803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5" name="Shape 101">
            <a:extLst xmlns:a="http://schemas.openxmlformats.org/drawingml/2006/main">
              <a:ext uri="{FF2B5EF4-FFF2-40B4-BE49-F238E27FC236}">
                <a16:creationId xmlns:a16="http://schemas.microsoft.com/office/drawing/2014/main" id="{D33267FD-608B-48D8-8316-40FCE65A6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64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6" name="Shape 102">
            <a:extLst xmlns:a="http://schemas.openxmlformats.org/drawingml/2006/main">
              <a:ext uri="{FF2B5EF4-FFF2-40B4-BE49-F238E27FC236}">
                <a16:creationId xmlns:a16="http://schemas.microsoft.com/office/drawing/2014/main" id="{D5350D0B-7A94-4136-9641-876F2708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25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7" name="Shape 103">
            <a:extLst xmlns:a="http://schemas.openxmlformats.org/drawingml/2006/main">
              <a:ext uri="{FF2B5EF4-FFF2-40B4-BE49-F238E27FC236}">
                <a16:creationId xmlns:a16="http://schemas.microsoft.com/office/drawing/2014/main" id="{FE44609C-5E2C-4E83-9FB9-257F11B7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386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8" name="Shape 104">
            <a:extLst xmlns:a="http://schemas.openxmlformats.org/drawingml/2006/main">
              <a:ext uri="{FF2B5EF4-FFF2-40B4-BE49-F238E27FC236}">
                <a16:creationId xmlns:a16="http://schemas.microsoft.com/office/drawing/2014/main" id="{0890C29C-5F42-4057-BE99-ABD59E62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247" y="3996952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9" name="Shape 105">
            <a:extLst xmlns:a="http://schemas.openxmlformats.org/drawingml/2006/main">
              <a:ext uri="{FF2B5EF4-FFF2-40B4-BE49-F238E27FC236}">
                <a16:creationId xmlns:a16="http://schemas.microsoft.com/office/drawing/2014/main" id="{06AA8552-ACF3-4B6D-A2AE-3CFBEEBD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360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0" name="Shape 106">
            <a:extLst xmlns:a="http://schemas.openxmlformats.org/drawingml/2006/main">
              <a:ext uri="{FF2B5EF4-FFF2-40B4-BE49-F238E27FC236}">
                <a16:creationId xmlns:a16="http://schemas.microsoft.com/office/drawing/2014/main" id="{8A67E0AE-32C9-4365-A0F7-65C6E8F7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3221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1" name="Shape 107">
            <a:extLst xmlns:a="http://schemas.openxmlformats.org/drawingml/2006/main">
              <a:ext uri="{FF2B5EF4-FFF2-40B4-BE49-F238E27FC236}">
                <a16:creationId xmlns:a16="http://schemas.microsoft.com/office/drawing/2014/main" id="{6E0A846A-2ADF-498E-9375-0BA9775C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082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2" name="Shape 108">
            <a:extLst xmlns:a="http://schemas.openxmlformats.org/drawingml/2006/main">
              <a:ext uri="{FF2B5EF4-FFF2-40B4-BE49-F238E27FC236}">
                <a16:creationId xmlns:a16="http://schemas.microsoft.com/office/drawing/2014/main" id="{7C7D1B21-3A5A-4D4F-8A59-95625E96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943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3" name="Shape 109">
            <a:extLst xmlns:a="http://schemas.openxmlformats.org/drawingml/2006/main">
              <a:ext uri="{FF2B5EF4-FFF2-40B4-BE49-F238E27FC236}">
                <a16:creationId xmlns:a16="http://schemas.microsoft.com/office/drawing/2014/main" id="{1B79E469-02EA-427E-8DB6-8BE653B5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803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4" name="Shape 110">
            <a:extLst xmlns:a="http://schemas.openxmlformats.org/drawingml/2006/main">
              <a:ext uri="{FF2B5EF4-FFF2-40B4-BE49-F238E27FC236}">
                <a16:creationId xmlns:a16="http://schemas.microsoft.com/office/drawing/2014/main" id="{57ED7F7A-A002-4EE1-AF7E-EBB89E1A1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64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5" name="Shape 111">
            <a:extLst xmlns:a="http://schemas.openxmlformats.org/drawingml/2006/main">
              <a:ext uri="{FF2B5EF4-FFF2-40B4-BE49-F238E27FC236}">
                <a16:creationId xmlns:a16="http://schemas.microsoft.com/office/drawing/2014/main" id="{E9D9BD56-0B74-4334-9AEE-84DE53C4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25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6" name="Shape 112">
            <a:extLst xmlns:a="http://schemas.openxmlformats.org/drawingml/2006/main">
              <a:ext uri="{FF2B5EF4-FFF2-40B4-BE49-F238E27FC236}">
                <a16:creationId xmlns:a16="http://schemas.microsoft.com/office/drawing/2014/main" id="{B3593FEF-648E-43FB-BAB3-AD2D2B10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386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7" name="Shape 113">
            <a:extLst xmlns:a="http://schemas.openxmlformats.org/drawingml/2006/main">
              <a:ext uri="{FF2B5EF4-FFF2-40B4-BE49-F238E27FC236}">
                <a16:creationId xmlns:a16="http://schemas.microsoft.com/office/drawing/2014/main" id="{4F251003-B306-4F64-A8E9-B82F7AC9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247" y="4254813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8" name="Shape 114">
            <a:extLst xmlns:a="http://schemas.openxmlformats.org/drawingml/2006/main">
              <a:ext uri="{FF2B5EF4-FFF2-40B4-BE49-F238E27FC236}">
                <a16:creationId xmlns:a16="http://schemas.microsoft.com/office/drawing/2014/main" id="{22964615-E1B1-4328-94A7-6278FA0E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360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9" name="Shape 115">
            <a:extLst xmlns:a="http://schemas.openxmlformats.org/drawingml/2006/main">
              <a:ext uri="{FF2B5EF4-FFF2-40B4-BE49-F238E27FC236}">
                <a16:creationId xmlns:a16="http://schemas.microsoft.com/office/drawing/2014/main" id="{22B18E20-9DF2-4DE0-A29C-8293EA6C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3221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0" name="Shape 116">
            <a:extLst xmlns:a="http://schemas.openxmlformats.org/drawingml/2006/main">
              <a:ext uri="{FF2B5EF4-FFF2-40B4-BE49-F238E27FC236}">
                <a16:creationId xmlns:a16="http://schemas.microsoft.com/office/drawing/2014/main" id="{B9D9DFB8-A561-43AE-B18E-8305AE56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082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1" name="Shape 117">
            <a:extLst xmlns:a="http://schemas.openxmlformats.org/drawingml/2006/main">
              <a:ext uri="{FF2B5EF4-FFF2-40B4-BE49-F238E27FC236}">
                <a16:creationId xmlns:a16="http://schemas.microsoft.com/office/drawing/2014/main" id="{9E33F5BC-EA44-4A1F-B5E8-22143C94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943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2" name="Shape 118">
            <a:extLst xmlns:a="http://schemas.openxmlformats.org/drawingml/2006/main">
              <a:ext uri="{FF2B5EF4-FFF2-40B4-BE49-F238E27FC236}">
                <a16:creationId xmlns:a16="http://schemas.microsoft.com/office/drawing/2014/main" id="{248AEE63-0FDE-41DC-8720-6D4D946D9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803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3" name="Shape 119">
            <a:extLst xmlns:a="http://schemas.openxmlformats.org/drawingml/2006/main">
              <a:ext uri="{FF2B5EF4-FFF2-40B4-BE49-F238E27FC236}">
                <a16:creationId xmlns:a16="http://schemas.microsoft.com/office/drawing/2014/main" id="{DB4472D0-BB85-4EC8-9D63-7C1C5349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64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4" name="Shape 120">
            <a:extLst xmlns:a="http://schemas.openxmlformats.org/drawingml/2006/main">
              <a:ext uri="{FF2B5EF4-FFF2-40B4-BE49-F238E27FC236}">
                <a16:creationId xmlns:a16="http://schemas.microsoft.com/office/drawing/2014/main" id="{6D5DE8EF-A4EA-43BA-8B30-A0A521E1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25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5" name="Shape 121">
            <a:extLst xmlns:a="http://schemas.openxmlformats.org/drawingml/2006/main">
              <a:ext uri="{FF2B5EF4-FFF2-40B4-BE49-F238E27FC236}">
                <a16:creationId xmlns:a16="http://schemas.microsoft.com/office/drawing/2014/main" id="{A49289CC-56DE-44DC-95DF-FFBF25CEC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386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6" name="Shape 122">
            <a:extLst xmlns:a="http://schemas.openxmlformats.org/drawingml/2006/main">
              <a:ext uri="{FF2B5EF4-FFF2-40B4-BE49-F238E27FC236}">
                <a16:creationId xmlns:a16="http://schemas.microsoft.com/office/drawing/2014/main" id="{AEBF7AA3-A5AA-4105-A9FC-8CCFBEDB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247" y="4512674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7" name="Shape 123">
            <a:extLst xmlns:a="http://schemas.openxmlformats.org/drawingml/2006/main">
              <a:ext uri="{FF2B5EF4-FFF2-40B4-BE49-F238E27FC236}">
                <a16:creationId xmlns:a16="http://schemas.microsoft.com/office/drawing/2014/main" id="{81863647-E3F0-40E1-B69F-4260B6D4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360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8" name="Shape 124">
            <a:extLst xmlns:a="http://schemas.openxmlformats.org/drawingml/2006/main">
              <a:ext uri="{FF2B5EF4-FFF2-40B4-BE49-F238E27FC236}">
                <a16:creationId xmlns:a16="http://schemas.microsoft.com/office/drawing/2014/main" id="{66B76E71-3AA4-4ECA-83F6-0E170818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3221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9" name="Shape 125">
            <a:extLst xmlns:a="http://schemas.openxmlformats.org/drawingml/2006/main">
              <a:ext uri="{FF2B5EF4-FFF2-40B4-BE49-F238E27FC236}">
                <a16:creationId xmlns:a16="http://schemas.microsoft.com/office/drawing/2014/main" id="{146DEA5A-8D70-4409-8E64-F3525E10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082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0" name="Shape 126">
            <a:extLst xmlns:a="http://schemas.openxmlformats.org/drawingml/2006/main">
              <a:ext uri="{FF2B5EF4-FFF2-40B4-BE49-F238E27FC236}">
                <a16:creationId xmlns:a16="http://schemas.microsoft.com/office/drawing/2014/main" id="{FD49D627-70DF-49A1-BED1-18EA134C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943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1" name="Shape 127">
            <a:extLst xmlns:a="http://schemas.openxmlformats.org/drawingml/2006/main">
              <a:ext uri="{FF2B5EF4-FFF2-40B4-BE49-F238E27FC236}">
                <a16:creationId xmlns:a16="http://schemas.microsoft.com/office/drawing/2014/main" id="{C5E977E3-067B-4017-A2C7-C829748B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803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2" name="Shape 128">
            <a:extLst xmlns:a="http://schemas.openxmlformats.org/drawingml/2006/main">
              <a:ext uri="{FF2B5EF4-FFF2-40B4-BE49-F238E27FC236}">
                <a16:creationId xmlns:a16="http://schemas.microsoft.com/office/drawing/2014/main" id="{3062F3F9-82F8-49FE-B121-BE027CCC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64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3" name="Shape 129">
            <a:extLst xmlns:a="http://schemas.openxmlformats.org/drawingml/2006/main">
              <a:ext uri="{FF2B5EF4-FFF2-40B4-BE49-F238E27FC236}">
                <a16:creationId xmlns:a16="http://schemas.microsoft.com/office/drawing/2014/main" id="{266D4A9A-1B14-42D7-A3E3-A77F184E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25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4" name="Shape 130">
            <a:extLst xmlns:a="http://schemas.openxmlformats.org/drawingml/2006/main">
              <a:ext uri="{FF2B5EF4-FFF2-40B4-BE49-F238E27FC236}">
                <a16:creationId xmlns:a16="http://schemas.microsoft.com/office/drawing/2014/main" id="{544533B7-E773-4D6A-95AE-5BAA2CC8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386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5" name="Shape 131">
            <a:extLst xmlns:a="http://schemas.openxmlformats.org/drawingml/2006/main">
              <a:ext uri="{FF2B5EF4-FFF2-40B4-BE49-F238E27FC236}">
                <a16:creationId xmlns:a16="http://schemas.microsoft.com/office/drawing/2014/main" id="{9804CB25-1C95-43AE-9524-C44D1CB9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247" y="477053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6" name="Shape 132">
            <a:extLst xmlns:a="http://schemas.openxmlformats.org/drawingml/2006/main">
              <a:ext uri="{FF2B5EF4-FFF2-40B4-BE49-F238E27FC236}">
                <a16:creationId xmlns:a16="http://schemas.microsoft.com/office/drawing/2014/main" id="{D03164A2-EA71-47D5-BDC1-26F31136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5360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7" name="Shape 133">
            <a:extLst xmlns:a="http://schemas.openxmlformats.org/drawingml/2006/main">
              <a:ext uri="{FF2B5EF4-FFF2-40B4-BE49-F238E27FC236}">
                <a16:creationId xmlns:a16="http://schemas.microsoft.com/office/drawing/2014/main" id="{6218C0EA-3F8B-4860-96D2-674E07DBF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3221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8" name="Shape 134">
            <a:extLst xmlns:a="http://schemas.openxmlformats.org/drawingml/2006/main">
              <a:ext uri="{FF2B5EF4-FFF2-40B4-BE49-F238E27FC236}">
                <a16:creationId xmlns:a16="http://schemas.microsoft.com/office/drawing/2014/main" id="{346CBCD7-DEBB-48B2-9D31-EB857A1E7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1082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9" name="Shape 135">
            <a:extLst xmlns:a="http://schemas.openxmlformats.org/drawingml/2006/main">
              <a:ext uri="{FF2B5EF4-FFF2-40B4-BE49-F238E27FC236}">
                <a16:creationId xmlns:a16="http://schemas.microsoft.com/office/drawing/2014/main" id="{E3C83B35-AF8E-4072-963A-C334AF01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8943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0" name="Shape 136">
            <a:extLst xmlns:a="http://schemas.openxmlformats.org/drawingml/2006/main">
              <a:ext uri="{FF2B5EF4-FFF2-40B4-BE49-F238E27FC236}">
                <a16:creationId xmlns:a16="http://schemas.microsoft.com/office/drawing/2014/main" id="{6E22271B-B7F5-47F8-A0A7-DCBEEE10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6803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1" name="Shape 137">
            <a:extLst xmlns:a="http://schemas.openxmlformats.org/drawingml/2006/main">
              <a:ext uri="{FF2B5EF4-FFF2-40B4-BE49-F238E27FC236}">
                <a16:creationId xmlns:a16="http://schemas.microsoft.com/office/drawing/2014/main" id="{47587A11-B229-4D5B-B45F-3E66335E9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664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2" name="Shape 138">
            <a:extLst xmlns:a="http://schemas.openxmlformats.org/drawingml/2006/main">
              <a:ext uri="{FF2B5EF4-FFF2-40B4-BE49-F238E27FC236}">
                <a16:creationId xmlns:a16="http://schemas.microsoft.com/office/drawing/2014/main" id="{F56E03B5-5198-4AAC-9316-0AFABA39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2525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3" name="Shape 139">
            <a:extLst xmlns:a="http://schemas.openxmlformats.org/drawingml/2006/main">
              <a:ext uri="{FF2B5EF4-FFF2-40B4-BE49-F238E27FC236}">
                <a16:creationId xmlns:a16="http://schemas.microsoft.com/office/drawing/2014/main" id="{69973351-CAA3-48D0-8C5B-87507154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0386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4" name="Shape 140">
            <a:extLst xmlns:a="http://schemas.openxmlformats.org/drawingml/2006/main">
              <a:ext uri="{FF2B5EF4-FFF2-40B4-BE49-F238E27FC236}">
                <a16:creationId xmlns:a16="http://schemas.microsoft.com/office/drawing/2014/main" id="{5A1A9CEE-20F5-4E9E-A6DD-297ACA11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247" y="5028395"/>
            <a:ext cx="175345" cy="17534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5" name="Text 141">
            <a:extLst xmlns:a="http://schemas.openxmlformats.org/drawingml/2006/main">
              <a:ext uri="{FF2B5EF4-FFF2-40B4-BE49-F238E27FC236}">
                <a16:creationId xmlns:a16="http://schemas.microsoft.com/office/drawing/2014/main" id="{632E62E0-A48D-414C-A8B2-FB1EF17D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5550408"/>
            <a:ext cx="28986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95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9 × 8</a:t>
            </a:r>
            <a:endParaRPr sz="1950"/>
          </a:p>
        </p:txBody>
      </p:sp>
      <p:sp>
        <p:nvSpPr>
          <p:cNvPr id="146" name="Text 142">
            <a:extLst xmlns:a="http://schemas.openxmlformats.org/drawingml/2006/main">
              <a:ext uri="{FF2B5EF4-FFF2-40B4-BE49-F238E27FC236}">
                <a16:creationId xmlns:a16="http://schemas.microsoft.com/office/drawing/2014/main" id="{9C3BBA23-4526-40A8-9B29-F1285FDB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2642616"/>
            <a:ext cx="28803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2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4 SPIELER</a:t>
            </a:r>
            <a:endParaRPr sz="1320"/>
          </a:p>
        </p:txBody>
      </p:sp>
      <p:sp>
        <p:nvSpPr>
          <p:cNvPr id="147" name="Shape 143">
            <a:extLst xmlns:a="http://schemas.openxmlformats.org/drawingml/2006/main">
              <a:ext uri="{FF2B5EF4-FFF2-40B4-BE49-F238E27FC236}">
                <a16:creationId xmlns:a16="http://schemas.microsoft.com/office/drawing/2014/main" id="{CEE47156-588D-49CA-8796-C8C5B62D8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9173" y="3054096"/>
            <a:ext cx="2529230" cy="2322576"/>
          </a:xfrm>
          <a:prstGeom xmlns:a="http://schemas.openxmlformats.org/drawingml/2006/main" prst="roundRect">
            <a:avLst>
              <a:gd name="adj" fmla="val 5512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8" name="Shape 144">
            <a:extLst xmlns:a="http://schemas.openxmlformats.org/drawingml/2006/main">
              <a:ext uri="{FF2B5EF4-FFF2-40B4-BE49-F238E27FC236}">
                <a16:creationId xmlns:a16="http://schemas.microsoft.com/office/drawing/2014/main" id="{C43F77B1-B8B2-4100-948D-1684E57F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9" name="Shape 145">
            <a:extLst xmlns:a="http://schemas.openxmlformats.org/drawingml/2006/main">
              <a:ext uri="{FF2B5EF4-FFF2-40B4-BE49-F238E27FC236}">
                <a16:creationId xmlns:a16="http://schemas.microsoft.com/office/drawing/2014/main" id="{2505D79E-09ED-42B8-9117-89B74517B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0" name="Shape 146">
            <a:extLst xmlns:a="http://schemas.openxmlformats.org/drawingml/2006/main">
              <a:ext uri="{FF2B5EF4-FFF2-40B4-BE49-F238E27FC236}">
                <a16:creationId xmlns:a16="http://schemas.microsoft.com/office/drawing/2014/main" id="{FDA8B9CA-810E-4E52-BA26-526DC7C2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1" name="Shape 147">
            <a:extLst xmlns:a="http://schemas.openxmlformats.org/drawingml/2006/main">
              <a:ext uri="{FF2B5EF4-FFF2-40B4-BE49-F238E27FC236}">
                <a16:creationId xmlns:a16="http://schemas.microsoft.com/office/drawing/2014/main" id="{78DFF2C1-35BC-4F3B-9E2C-1C677E67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2" name="Shape 148">
            <a:extLst xmlns:a="http://schemas.openxmlformats.org/drawingml/2006/main">
              <a:ext uri="{FF2B5EF4-FFF2-40B4-BE49-F238E27FC236}">
                <a16:creationId xmlns:a16="http://schemas.microsoft.com/office/drawing/2014/main" id="{193DEC4A-D8CE-4C38-BE27-40E390D68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3" name="Shape 149">
            <a:extLst xmlns:a="http://schemas.openxmlformats.org/drawingml/2006/main">
              <a:ext uri="{FF2B5EF4-FFF2-40B4-BE49-F238E27FC236}">
                <a16:creationId xmlns:a16="http://schemas.microsoft.com/office/drawing/2014/main" id="{5F49BA60-0CDB-41C4-86B4-BFDEBC46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4" name="Shape 150">
            <a:extLst xmlns:a="http://schemas.openxmlformats.org/drawingml/2006/main">
              <a:ext uri="{FF2B5EF4-FFF2-40B4-BE49-F238E27FC236}">
                <a16:creationId xmlns:a16="http://schemas.microsoft.com/office/drawing/2014/main" id="{1B85596C-FC60-4D5F-AA1E-F8B560F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5" name="Shape 151">
            <a:extLst xmlns:a="http://schemas.openxmlformats.org/drawingml/2006/main">
              <a:ext uri="{FF2B5EF4-FFF2-40B4-BE49-F238E27FC236}">
                <a16:creationId xmlns:a16="http://schemas.microsoft.com/office/drawing/2014/main" id="{924ABC41-66FA-4F39-803A-F0527BAE7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6" name="Shape 152">
            <a:extLst xmlns:a="http://schemas.openxmlformats.org/drawingml/2006/main">
              <a:ext uri="{FF2B5EF4-FFF2-40B4-BE49-F238E27FC236}">
                <a16:creationId xmlns:a16="http://schemas.microsoft.com/office/drawing/2014/main" id="{3B461A5D-5310-4BB0-A243-D3EA4DC2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7" name="Shape 153">
            <a:extLst xmlns:a="http://schemas.openxmlformats.org/drawingml/2006/main">
              <a:ext uri="{FF2B5EF4-FFF2-40B4-BE49-F238E27FC236}">
                <a16:creationId xmlns:a16="http://schemas.microsoft.com/office/drawing/2014/main" id="{33F95EB1-698E-412F-AA00-279D0744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8" name="Shape 154">
            <a:extLst xmlns:a="http://schemas.openxmlformats.org/drawingml/2006/main">
              <a:ext uri="{FF2B5EF4-FFF2-40B4-BE49-F238E27FC236}">
                <a16:creationId xmlns:a16="http://schemas.microsoft.com/office/drawing/2014/main" id="{1C49C5F5-8A05-40F0-9A7C-26E94E25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3215177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9" name="Shape 155">
            <a:extLst xmlns:a="http://schemas.openxmlformats.org/drawingml/2006/main">
              <a:ext uri="{FF2B5EF4-FFF2-40B4-BE49-F238E27FC236}">
                <a16:creationId xmlns:a16="http://schemas.microsoft.com/office/drawing/2014/main" id="{7ED853C1-3FD2-49A2-B894-E433F01C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0" name="Shape 156">
            <a:extLst xmlns:a="http://schemas.openxmlformats.org/drawingml/2006/main">
              <a:ext uri="{FF2B5EF4-FFF2-40B4-BE49-F238E27FC236}">
                <a16:creationId xmlns:a16="http://schemas.microsoft.com/office/drawing/2014/main" id="{A019A611-369E-4792-849D-070E2AFE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1" name="Shape 157">
            <a:extLst xmlns:a="http://schemas.openxmlformats.org/drawingml/2006/main">
              <a:ext uri="{FF2B5EF4-FFF2-40B4-BE49-F238E27FC236}">
                <a16:creationId xmlns:a16="http://schemas.microsoft.com/office/drawing/2014/main" id="{0AD7D170-F7C7-43DC-B6B4-A18A9054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2" name="Shape 158">
            <a:extLst xmlns:a="http://schemas.openxmlformats.org/drawingml/2006/main">
              <a:ext uri="{FF2B5EF4-FFF2-40B4-BE49-F238E27FC236}">
                <a16:creationId xmlns:a16="http://schemas.microsoft.com/office/drawing/2014/main" id="{61A7929D-8E75-48E2-B32B-8B834821D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3" name="Shape 159">
            <a:extLst xmlns:a="http://schemas.openxmlformats.org/drawingml/2006/main">
              <a:ext uri="{FF2B5EF4-FFF2-40B4-BE49-F238E27FC236}">
                <a16:creationId xmlns:a16="http://schemas.microsoft.com/office/drawing/2014/main" id="{AAE3DCFF-57B8-40EB-B7EF-2C90379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4" name="Shape 160">
            <a:extLst xmlns:a="http://schemas.openxmlformats.org/drawingml/2006/main">
              <a:ext uri="{FF2B5EF4-FFF2-40B4-BE49-F238E27FC236}">
                <a16:creationId xmlns:a16="http://schemas.microsoft.com/office/drawing/2014/main" id="{CFACBF93-99DF-4BD6-8E56-7A2FE751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5" name="Shape 161">
            <a:extLst xmlns:a="http://schemas.openxmlformats.org/drawingml/2006/main">
              <a:ext uri="{FF2B5EF4-FFF2-40B4-BE49-F238E27FC236}">
                <a16:creationId xmlns:a16="http://schemas.microsoft.com/office/drawing/2014/main" id="{A3E211B5-200D-43BD-8CEA-6811CF8A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6" name="Shape 162">
            <a:extLst xmlns:a="http://schemas.openxmlformats.org/drawingml/2006/main">
              <a:ext uri="{FF2B5EF4-FFF2-40B4-BE49-F238E27FC236}">
                <a16:creationId xmlns:a16="http://schemas.microsoft.com/office/drawing/2014/main" id="{8867EFD0-EBB6-49F1-8E1F-732DD4EC6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7" name="Shape 163">
            <a:extLst xmlns:a="http://schemas.openxmlformats.org/drawingml/2006/main">
              <a:ext uri="{FF2B5EF4-FFF2-40B4-BE49-F238E27FC236}">
                <a16:creationId xmlns:a16="http://schemas.microsoft.com/office/drawing/2014/main" id="{6A1FCC45-96C4-4C70-9BEE-A1A0B891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8" name="Shape 164">
            <a:extLst xmlns:a="http://schemas.openxmlformats.org/drawingml/2006/main">
              <a:ext uri="{FF2B5EF4-FFF2-40B4-BE49-F238E27FC236}">
                <a16:creationId xmlns:a16="http://schemas.microsoft.com/office/drawing/2014/main" id="{28D763E3-CBE3-43B3-9C75-6D0207B4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9" name="Shape 165">
            <a:extLst xmlns:a="http://schemas.openxmlformats.org/drawingml/2006/main">
              <a:ext uri="{FF2B5EF4-FFF2-40B4-BE49-F238E27FC236}">
                <a16:creationId xmlns:a16="http://schemas.microsoft.com/office/drawing/2014/main" id="{B950FED2-C744-4405-8072-33ED9550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3421831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0" name="Shape 166">
            <a:extLst xmlns:a="http://schemas.openxmlformats.org/drawingml/2006/main">
              <a:ext uri="{FF2B5EF4-FFF2-40B4-BE49-F238E27FC236}">
                <a16:creationId xmlns:a16="http://schemas.microsoft.com/office/drawing/2014/main" id="{7DF1F09F-39B4-4887-A1D4-C6F6DFDB5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1" name="Shape 167">
            <a:extLst xmlns:a="http://schemas.openxmlformats.org/drawingml/2006/main">
              <a:ext uri="{FF2B5EF4-FFF2-40B4-BE49-F238E27FC236}">
                <a16:creationId xmlns:a16="http://schemas.microsoft.com/office/drawing/2014/main" id="{62642AB1-9588-493C-AC5D-23D7F882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2" name="Shape 168">
            <a:extLst xmlns:a="http://schemas.openxmlformats.org/drawingml/2006/main">
              <a:ext uri="{FF2B5EF4-FFF2-40B4-BE49-F238E27FC236}">
                <a16:creationId xmlns:a16="http://schemas.microsoft.com/office/drawing/2014/main" id="{EA6F5B04-218C-4231-BDD0-19E4FEA0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3" name="Shape 169">
            <a:extLst xmlns:a="http://schemas.openxmlformats.org/drawingml/2006/main">
              <a:ext uri="{FF2B5EF4-FFF2-40B4-BE49-F238E27FC236}">
                <a16:creationId xmlns:a16="http://schemas.microsoft.com/office/drawing/2014/main" id="{267E9043-925D-4712-867A-7C64151E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4" name="Shape 170">
            <a:extLst xmlns:a="http://schemas.openxmlformats.org/drawingml/2006/main">
              <a:ext uri="{FF2B5EF4-FFF2-40B4-BE49-F238E27FC236}">
                <a16:creationId xmlns:a16="http://schemas.microsoft.com/office/drawing/2014/main" id="{45A70878-F280-4654-BD3E-FF2EB6A4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5" name="Shape 171">
            <a:extLst xmlns:a="http://schemas.openxmlformats.org/drawingml/2006/main">
              <a:ext uri="{FF2B5EF4-FFF2-40B4-BE49-F238E27FC236}">
                <a16:creationId xmlns:a16="http://schemas.microsoft.com/office/drawing/2014/main" id="{379A29E5-7A68-47F8-954D-B78DFC11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6" name="Shape 172">
            <a:extLst xmlns:a="http://schemas.openxmlformats.org/drawingml/2006/main">
              <a:ext uri="{FF2B5EF4-FFF2-40B4-BE49-F238E27FC236}">
                <a16:creationId xmlns:a16="http://schemas.microsoft.com/office/drawing/2014/main" id="{334AAC87-0232-4038-9A24-E286F6F9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7" name="Shape 173">
            <a:extLst xmlns:a="http://schemas.openxmlformats.org/drawingml/2006/main">
              <a:ext uri="{FF2B5EF4-FFF2-40B4-BE49-F238E27FC236}">
                <a16:creationId xmlns:a16="http://schemas.microsoft.com/office/drawing/2014/main" id="{BBDF3366-16D8-4EC3-9C16-C55FC382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8" name="Shape 174">
            <a:extLst xmlns:a="http://schemas.openxmlformats.org/drawingml/2006/main">
              <a:ext uri="{FF2B5EF4-FFF2-40B4-BE49-F238E27FC236}">
                <a16:creationId xmlns:a16="http://schemas.microsoft.com/office/drawing/2014/main" id="{A2A5F2BC-A200-46CA-8D18-6865F7F8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9" name="Shape 175">
            <a:extLst xmlns:a="http://schemas.openxmlformats.org/drawingml/2006/main">
              <a:ext uri="{FF2B5EF4-FFF2-40B4-BE49-F238E27FC236}">
                <a16:creationId xmlns:a16="http://schemas.microsoft.com/office/drawing/2014/main" id="{4327C67E-5C79-479B-97FF-3FD4124C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0" name="Shape 176">
            <a:extLst xmlns:a="http://schemas.openxmlformats.org/drawingml/2006/main">
              <a:ext uri="{FF2B5EF4-FFF2-40B4-BE49-F238E27FC236}">
                <a16:creationId xmlns:a16="http://schemas.microsoft.com/office/drawing/2014/main" id="{17B3A1BF-7546-4371-8673-3AA448C1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362848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1" name="Shape 177">
            <a:extLst xmlns:a="http://schemas.openxmlformats.org/drawingml/2006/main">
              <a:ext uri="{FF2B5EF4-FFF2-40B4-BE49-F238E27FC236}">
                <a16:creationId xmlns:a16="http://schemas.microsoft.com/office/drawing/2014/main" id="{40F597C9-64FF-492B-ADAE-A6AB900D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2" name="Shape 178">
            <a:extLst xmlns:a="http://schemas.openxmlformats.org/drawingml/2006/main">
              <a:ext uri="{FF2B5EF4-FFF2-40B4-BE49-F238E27FC236}">
                <a16:creationId xmlns:a16="http://schemas.microsoft.com/office/drawing/2014/main" id="{2465E3C2-4FA0-454B-8081-B79220B81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3" name="Shape 179">
            <a:extLst xmlns:a="http://schemas.openxmlformats.org/drawingml/2006/main">
              <a:ext uri="{FF2B5EF4-FFF2-40B4-BE49-F238E27FC236}">
                <a16:creationId xmlns:a16="http://schemas.microsoft.com/office/drawing/2014/main" id="{4853832F-5BAD-42D8-8AC2-8AB27008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4" name="Shape 180">
            <a:extLst xmlns:a="http://schemas.openxmlformats.org/drawingml/2006/main">
              <a:ext uri="{FF2B5EF4-FFF2-40B4-BE49-F238E27FC236}">
                <a16:creationId xmlns:a16="http://schemas.microsoft.com/office/drawing/2014/main" id="{376E3706-59F7-423C-B4C7-7EB90652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5" name="Shape 181">
            <a:extLst xmlns:a="http://schemas.openxmlformats.org/drawingml/2006/main">
              <a:ext uri="{FF2B5EF4-FFF2-40B4-BE49-F238E27FC236}">
                <a16:creationId xmlns:a16="http://schemas.microsoft.com/office/drawing/2014/main" id="{C28E8985-320B-4CE4-BAC9-7537A883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6" name="Shape 182">
            <a:extLst xmlns:a="http://schemas.openxmlformats.org/drawingml/2006/main">
              <a:ext uri="{FF2B5EF4-FFF2-40B4-BE49-F238E27FC236}">
                <a16:creationId xmlns:a16="http://schemas.microsoft.com/office/drawing/2014/main" id="{90CAF329-9603-4703-83CA-25608A12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7" name="Shape 183">
            <a:extLst xmlns:a="http://schemas.openxmlformats.org/drawingml/2006/main">
              <a:ext uri="{FF2B5EF4-FFF2-40B4-BE49-F238E27FC236}">
                <a16:creationId xmlns:a16="http://schemas.microsoft.com/office/drawing/2014/main" id="{08BE630F-4978-49DA-AAFD-AD292B2D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8" name="Shape 184">
            <a:extLst xmlns:a="http://schemas.openxmlformats.org/drawingml/2006/main">
              <a:ext uri="{FF2B5EF4-FFF2-40B4-BE49-F238E27FC236}">
                <a16:creationId xmlns:a16="http://schemas.microsoft.com/office/drawing/2014/main" id="{F7825958-A6BB-475A-8854-6A00C11B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9" name="Shape 185">
            <a:extLst xmlns:a="http://schemas.openxmlformats.org/drawingml/2006/main">
              <a:ext uri="{FF2B5EF4-FFF2-40B4-BE49-F238E27FC236}">
                <a16:creationId xmlns:a16="http://schemas.microsoft.com/office/drawing/2014/main" id="{A935A4B2-7923-4BD8-98E6-F5435289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0" name="Shape 186">
            <a:extLst xmlns:a="http://schemas.openxmlformats.org/drawingml/2006/main">
              <a:ext uri="{FF2B5EF4-FFF2-40B4-BE49-F238E27FC236}">
                <a16:creationId xmlns:a16="http://schemas.microsoft.com/office/drawing/2014/main" id="{25B4CC73-3345-4229-8E25-8DCCCDFFD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1" name="Shape 187">
            <a:extLst xmlns:a="http://schemas.openxmlformats.org/drawingml/2006/main">
              <a:ext uri="{FF2B5EF4-FFF2-40B4-BE49-F238E27FC236}">
                <a16:creationId xmlns:a16="http://schemas.microsoft.com/office/drawing/2014/main" id="{A792C267-C793-4FDB-A883-8263B7C5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3835140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2" name="Shape 188">
            <a:extLst xmlns:a="http://schemas.openxmlformats.org/drawingml/2006/main">
              <a:ext uri="{FF2B5EF4-FFF2-40B4-BE49-F238E27FC236}">
                <a16:creationId xmlns:a16="http://schemas.microsoft.com/office/drawing/2014/main" id="{82497422-B6FB-4F51-94B1-9B9DD41C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3" name="Shape 189">
            <a:extLst xmlns:a="http://schemas.openxmlformats.org/drawingml/2006/main">
              <a:ext uri="{FF2B5EF4-FFF2-40B4-BE49-F238E27FC236}">
                <a16:creationId xmlns:a16="http://schemas.microsoft.com/office/drawing/2014/main" id="{9DEFA235-45C9-4ACA-B5A8-5F98146D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4" name="Shape 190">
            <a:extLst xmlns:a="http://schemas.openxmlformats.org/drawingml/2006/main">
              <a:ext uri="{FF2B5EF4-FFF2-40B4-BE49-F238E27FC236}">
                <a16:creationId xmlns:a16="http://schemas.microsoft.com/office/drawing/2014/main" id="{6794146F-38E9-46DD-9356-C470D744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5" name="Shape 191">
            <a:extLst xmlns:a="http://schemas.openxmlformats.org/drawingml/2006/main">
              <a:ext uri="{FF2B5EF4-FFF2-40B4-BE49-F238E27FC236}">
                <a16:creationId xmlns:a16="http://schemas.microsoft.com/office/drawing/2014/main" id="{B460DB0D-7656-40FB-933E-E8144FF9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6" name="Shape 192">
            <a:extLst xmlns:a="http://schemas.openxmlformats.org/drawingml/2006/main">
              <a:ext uri="{FF2B5EF4-FFF2-40B4-BE49-F238E27FC236}">
                <a16:creationId xmlns:a16="http://schemas.microsoft.com/office/drawing/2014/main" id="{57364860-B0F1-47FF-8DAD-95DF89B71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7" name="Shape 193">
            <a:extLst xmlns:a="http://schemas.openxmlformats.org/drawingml/2006/main">
              <a:ext uri="{FF2B5EF4-FFF2-40B4-BE49-F238E27FC236}">
                <a16:creationId xmlns:a16="http://schemas.microsoft.com/office/drawing/2014/main" id="{D4D10CC0-A40E-4F1B-9EF4-07335C10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8" name="Shape 194">
            <a:extLst xmlns:a="http://schemas.openxmlformats.org/drawingml/2006/main">
              <a:ext uri="{FF2B5EF4-FFF2-40B4-BE49-F238E27FC236}">
                <a16:creationId xmlns:a16="http://schemas.microsoft.com/office/drawing/2014/main" id="{550AB59B-4537-4907-98AF-F73C682E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9" name="Shape 195">
            <a:extLst xmlns:a="http://schemas.openxmlformats.org/drawingml/2006/main">
              <a:ext uri="{FF2B5EF4-FFF2-40B4-BE49-F238E27FC236}">
                <a16:creationId xmlns:a16="http://schemas.microsoft.com/office/drawing/2014/main" id="{2316EA91-684A-4D53-8418-8D500431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0" name="Shape 196">
            <a:extLst xmlns:a="http://schemas.openxmlformats.org/drawingml/2006/main">
              <a:ext uri="{FF2B5EF4-FFF2-40B4-BE49-F238E27FC236}">
                <a16:creationId xmlns:a16="http://schemas.microsoft.com/office/drawing/2014/main" id="{53524D5F-83A7-4700-80BD-8BCEB026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1" name="Shape 197">
            <a:extLst xmlns:a="http://schemas.openxmlformats.org/drawingml/2006/main">
              <a:ext uri="{FF2B5EF4-FFF2-40B4-BE49-F238E27FC236}">
                <a16:creationId xmlns:a16="http://schemas.microsoft.com/office/drawing/2014/main" id="{6533143F-35F0-40B5-B422-8225054A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2" name="Shape 198">
            <a:extLst xmlns:a="http://schemas.openxmlformats.org/drawingml/2006/main">
              <a:ext uri="{FF2B5EF4-FFF2-40B4-BE49-F238E27FC236}">
                <a16:creationId xmlns:a16="http://schemas.microsoft.com/office/drawing/2014/main" id="{1D35AFBA-CCAB-45F3-8FB3-C64502D1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4041794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3" name="Shape 199">
            <a:extLst xmlns:a="http://schemas.openxmlformats.org/drawingml/2006/main">
              <a:ext uri="{FF2B5EF4-FFF2-40B4-BE49-F238E27FC236}">
                <a16:creationId xmlns:a16="http://schemas.microsoft.com/office/drawing/2014/main" id="{95FF1663-C40E-4A89-A3CB-685E517C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4" name="Shape 200">
            <a:extLst xmlns:a="http://schemas.openxmlformats.org/drawingml/2006/main">
              <a:ext uri="{FF2B5EF4-FFF2-40B4-BE49-F238E27FC236}">
                <a16:creationId xmlns:a16="http://schemas.microsoft.com/office/drawing/2014/main" id="{45496AA7-41FD-4ED7-BD36-155958C1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5" name="Shape 201">
            <a:extLst xmlns:a="http://schemas.openxmlformats.org/drawingml/2006/main">
              <a:ext uri="{FF2B5EF4-FFF2-40B4-BE49-F238E27FC236}">
                <a16:creationId xmlns:a16="http://schemas.microsoft.com/office/drawing/2014/main" id="{DC67838B-57D9-4A78-B08E-92E69892D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6" name="Shape 202">
            <a:extLst xmlns:a="http://schemas.openxmlformats.org/drawingml/2006/main">
              <a:ext uri="{FF2B5EF4-FFF2-40B4-BE49-F238E27FC236}">
                <a16:creationId xmlns:a16="http://schemas.microsoft.com/office/drawing/2014/main" id="{73225CDB-1D2B-4C82-AC6F-CE7B31281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7" name="Shape 203">
            <a:extLst xmlns:a="http://schemas.openxmlformats.org/drawingml/2006/main">
              <a:ext uri="{FF2B5EF4-FFF2-40B4-BE49-F238E27FC236}">
                <a16:creationId xmlns:a16="http://schemas.microsoft.com/office/drawing/2014/main" id="{7746F683-42B0-4F82-9BD3-A6DBAB891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8" name="Shape 204">
            <a:extLst xmlns:a="http://schemas.openxmlformats.org/drawingml/2006/main">
              <a:ext uri="{FF2B5EF4-FFF2-40B4-BE49-F238E27FC236}">
                <a16:creationId xmlns:a16="http://schemas.microsoft.com/office/drawing/2014/main" id="{4C636140-D041-4F67-807D-0F58DA150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9" name="Shape 205">
            <a:extLst xmlns:a="http://schemas.openxmlformats.org/drawingml/2006/main">
              <a:ext uri="{FF2B5EF4-FFF2-40B4-BE49-F238E27FC236}">
                <a16:creationId xmlns:a16="http://schemas.microsoft.com/office/drawing/2014/main" id="{D0C0D65E-A665-4B42-A3DF-EC681DC1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0" name="Shape 206">
            <a:extLst xmlns:a="http://schemas.openxmlformats.org/drawingml/2006/main">
              <a:ext uri="{FF2B5EF4-FFF2-40B4-BE49-F238E27FC236}">
                <a16:creationId xmlns:a16="http://schemas.microsoft.com/office/drawing/2014/main" id="{D66929CD-010C-41CF-847E-DB2124956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1" name="Shape 207">
            <a:extLst xmlns:a="http://schemas.openxmlformats.org/drawingml/2006/main">
              <a:ext uri="{FF2B5EF4-FFF2-40B4-BE49-F238E27FC236}">
                <a16:creationId xmlns:a16="http://schemas.microsoft.com/office/drawing/2014/main" id="{19B01A70-DA4F-4591-9B81-844356C3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2" name="Shape 208">
            <a:extLst xmlns:a="http://schemas.openxmlformats.org/drawingml/2006/main">
              <a:ext uri="{FF2B5EF4-FFF2-40B4-BE49-F238E27FC236}">
                <a16:creationId xmlns:a16="http://schemas.microsoft.com/office/drawing/2014/main" id="{8715EF10-AE4C-41F9-B6C6-E5A8EE8D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3" name="Shape 209">
            <a:extLst xmlns:a="http://schemas.openxmlformats.org/drawingml/2006/main">
              <a:ext uri="{FF2B5EF4-FFF2-40B4-BE49-F238E27FC236}">
                <a16:creationId xmlns:a16="http://schemas.microsoft.com/office/drawing/2014/main" id="{66BCD319-62C0-4B41-A72E-832343E39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4248449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4" name="Shape 210">
            <a:extLst xmlns:a="http://schemas.openxmlformats.org/drawingml/2006/main">
              <a:ext uri="{FF2B5EF4-FFF2-40B4-BE49-F238E27FC236}">
                <a16:creationId xmlns:a16="http://schemas.microsoft.com/office/drawing/2014/main" id="{48681B3B-0CF6-4704-858F-42B4892F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5" name="Shape 211">
            <a:extLst xmlns:a="http://schemas.openxmlformats.org/drawingml/2006/main">
              <a:ext uri="{FF2B5EF4-FFF2-40B4-BE49-F238E27FC236}">
                <a16:creationId xmlns:a16="http://schemas.microsoft.com/office/drawing/2014/main" id="{59E90C32-CCD1-4992-A5C3-5F6835E9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6" name="Shape 212">
            <a:extLst xmlns:a="http://schemas.openxmlformats.org/drawingml/2006/main">
              <a:ext uri="{FF2B5EF4-FFF2-40B4-BE49-F238E27FC236}">
                <a16:creationId xmlns:a16="http://schemas.microsoft.com/office/drawing/2014/main" id="{E598F253-6F13-46E1-A901-89600727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7" name="Shape 213">
            <a:extLst xmlns:a="http://schemas.openxmlformats.org/drawingml/2006/main">
              <a:ext uri="{FF2B5EF4-FFF2-40B4-BE49-F238E27FC236}">
                <a16:creationId xmlns:a16="http://schemas.microsoft.com/office/drawing/2014/main" id="{4CB4DEC6-BEB6-4E4E-BE9B-22E40BBC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8" name="Shape 214">
            <a:extLst xmlns:a="http://schemas.openxmlformats.org/drawingml/2006/main">
              <a:ext uri="{FF2B5EF4-FFF2-40B4-BE49-F238E27FC236}">
                <a16:creationId xmlns:a16="http://schemas.microsoft.com/office/drawing/2014/main" id="{750D36A4-522F-4DA5-9997-513698A1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9" name="Shape 215">
            <a:extLst xmlns:a="http://schemas.openxmlformats.org/drawingml/2006/main">
              <a:ext uri="{FF2B5EF4-FFF2-40B4-BE49-F238E27FC236}">
                <a16:creationId xmlns:a16="http://schemas.microsoft.com/office/drawing/2014/main" id="{856D327B-3043-4D67-B9A3-131DC557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0" name="Shape 216">
            <a:extLst xmlns:a="http://schemas.openxmlformats.org/drawingml/2006/main">
              <a:ext uri="{FF2B5EF4-FFF2-40B4-BE49-F238E27FC236}">
                <a16:creationId xmlns:a16="http://schemas.microsoft.com/office/drawing/2014/main" id="{F8E282F7-3594-4BBD-8277-F1B439ECF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1" name="Shape 217">
            <a:extLst xmlns:a="http://schemas.openxmlformats.org/drawingml/2006/main">
              <a:ext uri="{FF2B5EF4-FFF2-40B4-BE49-F238E27FC236}">
                <a16:creationId xmlns:a16="http://schemas.microsoft.com/office/drawing/2014/main" id="{83015222-E9EA-44C6-A3F9-266F8A4BE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2" name="Shape 218">
            <a:extLst xmlns:a="http://schemas.openxmlformats.org/drawingml/2006/main">
              <a:ext uri="{FF2B5EF4-FFF2-40B4-BE49-F238E27FC236}">
                <a16:creationId xmlns:a16="http://schemas.microsoft.com/office/drawing/2014/main" id="{7F4259E0-5C81-4C58-A8FF-7D066969C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3" name="Shape 219">
            <a:extLst xmlns:a="http://schemas.openxmlformats.org/drawingml/2006/main">
              <a:ext uri="{FF2B5EF4-FFF2-40B4-BE49-F238E27FC236}">
                <a16:creationId xmlns:a16="http://schemas.microsoft.com/office/drawing/2014/main" id="{B3DA7E12-B82E-42F6-AF0C-3F66C13B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4" name="Shape 220">
            <a:extLst xmlns:a="http://schemas.openxmlformats.org/drawingml/2006/main">
              <a:ext uri="{FF2B5EF4-FFF2-40B4-BE49-F238E27FC236}">
                <a16:creationId xmlns:a16="http://schemas.microsoft.com/office/drawing/2014/main" id="{39AD7F36-1790-4B0E-B044-B5FE6576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4455103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5" name="Shape 221">
            <a:extLst xmlns:a="http://schemas.openxmlformats.org/drawingml/2006/main">
              <a:ext uri="{FF2B5EF4-FFF2-40B4-BE49-F238E27FC236}">
                <a16:creationId xmlns:a16="http://schemas.microsoft.com/office/drawing/2014/main" id="{09C80D13-AD34-4811-98EF-A7B7B9ECB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6" name="Shape 222">
            <a:extLst xmlns:a="http://schemas.openxmlformats.org/drawingml/2006/main">
              <a:ext uri="{FF2B5EF4-FFF2-40B4-BE49-F238E27FC236}">
                <a16:creationId xmlns:a16="http://schemas.microsoft.com/office/drawing/2014/main" id="{6D98B01F-3BAE-44C5-A045-D4C2EF39B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7" name="Shape 223">
            <a:extLst xmlns:a="http://schemas.openxmlformats.org/drawingml/2006/main">
              <a:ext uri="{FF2B5EF4-FFF2-40B4-BE49-F238E27FC236}">
                <a16:creationId xmlns:a16="http://schemas.microsoft.com/office/drawing/2014/main" id="{4887E3AD-B5A7-4916-9E4A-C714759E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8" name="Shape 224">
            <a:extLst xmlns:a="http://schemas.openxmlformats.org/drawingml/2006/main">
              <a:ext uri="{FF2B5EF4-FFF2-40B4-BE49-F238E27FC236}">
                <a16:creationId xmlns:a16="http://schemas.microsoft.com/office/drawing/2014/main" id="{EC3FA896-3740-438B-980B-3C5A8E6D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9" name="Shape 225">
            <a:extLst xmlns:a="http://schemas.openxmlformats.org/drawingml/2006/main">
              <a:ext uri="{FF2B5EF4-FFF2-40B4-BE49-F238E27FC236}">
                <a16:creationId xmlns:a16="http://schemas.microsoft.com/office/drawing/2014/main" id="{24757B3F-0801-45C0-83EF-EECE40C9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0" name="Shape 226">
            <a:extLst xmlns:a="http://schemas.openxmlformats.org/drawingml/2006/main">
              <a:ext uri="{FF2B5EF4-FFF2-40B4-BE49-F238E27FC236}">
                <a16:creationId xmlns:a16="http://schemas.microsoft.com/office/drawing/2014/main" id="{8064E55C-3EB1-4361-ABAC-F7D14B33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1" name="Shape 227">
            <a:extLst xmlns:a="http://schemas.openxmlformats.org/drawingml/2006/main">
              <a:ext uri="{FF2B5EF4-FFF2-40B4-BE49-F238E27FC236}">
                <a16:creationId xmlns:a16="http://schemas.microsoft.com/office/drawing/2014/main" id="{2B74BF27-D946-427F-92FA-9F47A9E7B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2" name="Shape 228">
            <a:extLst xmlns:a="http://schemas.openxmlformats.org/drawingml/2006/main">
              <a:ext uri="{FF2B5EF4-FFF2-40B4-BE49-F238E27FC236}">
                <a16:creationId xmlns:a16="http://schemas.microsoft.com/office/drawing/2014/main" id="{07A2F6B7-C02F-48D1-9177-83C8A4B2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3" name="Shape 229">
            <a:extLst xmlns:a="http://schemas.openxmlformats.org/drawingml/2006/main">
              <a:ext uri="{FF2B5EF4-FFF2-40B4-BE49-F238E27FC236}">
                <a16:creationId xmlns:a16="http://schemas.microsoft.com/office/drawing/2014/main" id="{EC94B4E5-BE21-4A40-9459-53590B10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4" name="Shape 230">
            <a:extLst xmlns:a="http://schemas.openxmlformats.org/drawingml/2006/main">
              <a:ext uri="{FF2B5EF4-FFF2-40B4-BE49-F238E27FC236}">
                <a16:creationId xmlns:a16="http://schemas.microsoft.com/office/drawing/2014/main" id="{5CE3CC8E-0A7E-499B-B5F5-544ACC96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5" name="Shape 231">
            <a:extLst xmlns:a="http://schemas.openxmlformats.org/drawingml/2006/main">
              <a:ext uri="{FF2B5EF4-FFF2-40B4-BE49-F238E27FC236}">
                <a16:creationId xmlns:a16="http://schemas.microsoft.com/office/drawing/2014/main" id="{5CD4D896-87E4-4266-87C4-CF8A8374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4661758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6" name="Shape 232">
            <a:extLst xmlns:a="http://schemas.openxmlformats.org/drawingml/2006/main">
              <a:ext uri="{FF2B5EF4-FFF2-40B4-BE49-F238E27FC236}">
                <a16:creationId xmlns:a16="http://schemas.microsoft.com/office/drawing/2014/main" id="{7B7E4111-59FC-4A1D-B524-983763F7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7" name="Shape 233">
            <a:extLst xmlns:a="http://schemas.openxmlformats.org/drawingml/2006/main">
              <a:ext uri="{FF2B5EF4-FFF2-40B4-BE49-F238E27FC236}">
                <a16:creationId xmlns:a16="http://schemas.microsoft.com/office/drawing/2014/main" id="{D8EFF77C-AE42-40A7-A3F7-CDAF39ABB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8" name="Shape 234">
            <a:extLst xmlns:a="http://schemas.openxmlformats.org/drawingml/2006/main">
              <a:ext uri="{FF2B5EF4-FFF2-40B4-BE49-F238E27FC236}">
                <a16:creationId xmlns:a16="http://schemas.microsoft.com/office/drawing/2014/main" id="{037343B3-C49B-4680-9073-1436B8DD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9" name="Shape 235">
            <a:extLst xmlns:a="http://schemas.openxmlformats.org/drawingml/2006/main">
              <a:ext uri="{FF2B5EF4-FFF2-40B4-BE49-F238E27FC236}">
                <a16:creationId xmlns:a16="http://schemas.microsoft.com/office/drawing/2014/main" id="{BBD5F8AF-4D02-4833-82B8-40FFB4D29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0" name="Shape 236">
            <a:extLst xmlns:a="http://schemas.openxmlformats.org/drawingml/2006/main">
              <a:ext uri="{FF2B5EF4-FFF2-40B4-BE49-F238E27FC236}">
                <a16:creationId xmlns:a16="http://schemas.microsoft.com/office/drawing/2014/main" id="{9807F913-8B8A-4F60-BE5E-5C2DE9B37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1" name="Shape 237">
            <a:extLst xmlns:a="http://schemas.openxmlformats.org/drawingml/2006/main">
              <a:ext uri="{FF2B5EF4-FFF2-40B4-BE49-F238E27FC236}">
                <a16:creationId xmlns:a16="http://schemas.microsoft.com/office/drawing/2014/main" id="{D52557C8-EE46-4A19-94DB-C983AD48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2" name="Shape 238">
            <a:extLst xmlns:a="http://schemas.openxmlformats.org/drawingml/2006/main">
              <a:ext uri="{FF2B5EF4-FFF2-40B4-BE49-F238E27FC236}">
                <a16:creationId xmlns:a16="http://schemas.microsoft.com/office/drawing/2014/main" id="{9CC6848C-B21E-4AB8-96D7-687F6D02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3" name="Shape 239">
            <a:extLst xmlns:a="http://schemas.openxmlformats.org/drawingml/2006/main">
              <a:ext uri="{FF2B5EF4-FFF2-40B4-BE49-F238E27FC236}">
                <a16:creationId xmlns:a16="http://schemas.microsoft.com/office/drawing/2014/main" id="{78146971-5FB4-49F4-959C-8C1AB691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4" name="Shape 240">
            <a:extLst xmlns:a="http://schemas.openxmlformats.org/drawingml/2006/main">
              <a:ext uri="{FF2B5EF4-FFF2-40B4-BE49-F238E27FC236}">
                <a16:creationId xmlns:a16="http://schemas.microsoft.com/office/drawing/2014/main" id="{7F1152DE-8A9E-45B1-A5CE-C4A753ED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5" name="Shape 241">
            <a:extLst xmlns:a="http://schemas.openxmlformats.org/drawingml/2006/main">
              <a:ext uri="{FF2B5EF4-FFF2-40B4-BE49-F238E27FC236}">
                <a16:creationId xmlns:a16="http://schemas.microsoft.com/office/drawing/2014/main" id="{9C90F161-5D7B-46B9-AFA8-5EAF0936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6" name="Shape 242">
            <a:extLst xmlns:a="http://schemas.openxmlformats.org/drawingml/2006/main">
              <a:ext uri="{FF2B5EF4-FFF2-40B4-BE49-F238E27FC236}">
                <a16:creationId xmlns:a16="http://schemas.microsoft.com/office/drawing/2014/main" id="{CC442202-C81F-437B-9E4D-A66FCC1D7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4868412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7" name="Shape 243">
            <a:extLst xmlns:a="http://schemas.openxmlformats.org/drawingml/2006/main">
              <a:ext uri="{FF2B5EF4-FFF2-40B4-BE49-F238E27FC236}">
                <a16:creationId xmlns:a16="http://schemas.microsoft.com/office/drawing/2014/main" id="{B6E9C80F-CA2C-49C1-99A5-3877A10D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254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8" name="Shape 244">
            <a:extLst xmlns:a="http://schemas.openxmlformats.org/drawingml/2006/main">
              <a:ext uri="{FF2B5EF4-FFF2-40B4-BE49-F238E27FC236}">
                <a16:creationId xmlns:a16="http://schemas.microsoft.com/office/drawing/2014/main" id="{0DACBEB3-2EC3-4D9D-8ED7-E71457D9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6908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9" name="Shape 245">
            <a:extLst xmlns:a="http://schemas.openxmlformats.org/drawingml/2006/main">
              <a:ext uri="{FF2B5EF4-FFF2-40B4-BE49-F238E27FC236}">
                <a16:creationId xmlns:a16="http://schemas.microsoft.com/office/drawing/2014/main" id="{03E499D4-8258-4933-AE1F-3401A5DC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562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0" name="Shape 246">
            <a:extLst xmlns:a="http://schemas.openxmlformats.org/drawingml/2006/main">
              <a:ext uri="{FF2B5EF4-FFF2-40B4-BE49-F238E27FC236}">
                <a16:creationId xmlns:a16="http://schemas.microsoft.com/office/drawing/2014/main" id="{89EEE446-C5F9-4D91-8F2F-FF897700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0217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1" name="Shape 247">
            <a:extLst xmlns:a="http://schemas.openxmlformats.org/drawingml/2006/main">
              <a:ext uri="{FF2B5EF4-FFF2-40B4-BE49-F238E27FC236}">
                <a16:creationId xmlns:a16="http://schemas.microsoft.com/office/drawing/2014/main" id="{1DBB4576-5052-448D-8607-22C72701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871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2" name="Shape 248">
            <a:extLst xmlns:a="http://schemas.openxmlformats.org/drawingml/2006/main">
              <a:ext uri="{FF2B5EF4-FFF2-40B4-BE49-F238E27FC236}">
                <a16:creationId xmlns:a16="http://schemas.microsoft.com/office/drawing/2014/main" id="{8E2D41B2-526B-46CB-A977-ACB2CF62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3526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3" name="Shape 249">
            <a:extLst xmlns:a="http://schemas.openxmlformats.org/drawingml/2006/main">
              <a:ext uri="{FF2B5EF4-FFF2-40B4-BE49-F238E27FC236}">
                <a16:creationId xmlns:a16="http://schemas.microsoft.com/office/drawing/2014/main" id="{022E5C54-C9A4-4134-A59A-11A94E52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180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4" name="Shape 250">
            <a:extLst xmlns:a="http://schemas.openxmlformats.org/drawingml/2006/main">
              <a:ext uri="{FF2B5EF4-FFF2-40B4-BE49-F238E27FC236}">
                <a16:creationId xmlns:a16="http://schemas.microsoft.com/office/drawing/2014/main" id="{E0DBA89C-5342-4F31-B85A-EC09B44D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834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5" name="Shape 251">
            <a:extLst xmlns:a="http://schemas.openxmlformats.org/drawingml/2006/main">
              <a:ext uri="{FF2B5EF4-FFF2-40B4-BE49-F238E27FC236}">
                <a16:creationId xmlns:a16="http://schemas.microsoft.com/office/drawing/2014/main" id="{3FD95E4E-CCA1-443D-8030-5E612663F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3489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6" name="Shape 252">
            <a:extLst xmlns:a="http://schemas.openxmlformats.org/drawingml/2006/main">
              <a:ext uri="{FF2B5EF4-FFF2-40B4-BE49-F238E27FC236}">
                <a16:creationId xmlns:a16="http://schemas.microsoft.com/office/drawing/2014/main" id="{D41EA060-A744-4BB6-9AF1-54083567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0143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7" name="Shape 253">
            <a:extLst xmlns:a="http://schemas.openxmlformats.org/drawingml/2006/main">
              <a:ext uri="{FF2B5EF4-FFF2-40B4-BE49-F238E27FC236}">
                <a16:creationId xmlns:a16="http://schemas.microsoft.com/office/drawing/2014/main" id="{34EF98ED-02FD-431C-8F01-D8EC07D62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6798" y="5075066"/>
            <a:ext cx="140525" cy="1405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8" name="Text 254">
            <a:extLst xmlns:a="http://schemas.openxmlformats.org/drawingml/2006/main">
              <a:ext uri="{FF2B5EF4-FFF2-40B4-BE49-F238E27FC236}">
                <a16:creationId xmlns:a16="http://schemas.microsoft.com/office/drawing/2014/main" id="{83C11B02-7517-404C-B8C0-975D9719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4464" y="5550408"/>
            <a:ext cx="289864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95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11 × 10</a:t>
            </a:r>
            <a:endParaRPr sz="1950"/>
          </a:p>
        </p:txBody>
      </p:sp>
      <p:sp>
        <p:nvSpPr>
          <p:cNvPr id="259" name="Text 255">
            <a:extLst xmlns:a="http://schemas.openxmlformats.org/drawingml/2006/main">
              <a:ext uri="{FF2B5EF4-FFF2-40B4-BE49-F238E27FC236}">
                <a16:creationId xmlns:a16="http://schemas.microsoft.com/office/drawing/2014/main" id="{92E58F0A-8AE8-4317-B835-8B6543C8C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044184"/>
            <a:ext cx="104241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Gewinnregel</a:t>
            </a:r>
            <a:endParaRPr sz="1120"/>
          </a:p>
        </p:txBody>
      </p:sp>
      <p:sp>
        <p:nvSpPr>
          <p:cNvPr id="260" name="Shape 256">
            <a:extLst xmlns:a="http://schemas.openxmlformats.org/drawingml/2006/main">
              <a:ext uri="{FF2B5EF4-FFF2-40B4-BE49-F238E27FC236}">
                <a16:creationId xmlns:a16="http://schemas.microsoft.com/office/drawing/2014/main" id="{2E4E3EBA-F4BA-4F32-B259-0412CCAF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6504" y="6007608"/>
            <a:ext cx="2322576" cy="292608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1" name="Text 257">
            <a:extLst xmlns:a="http://schemas.openxmlformats.org/drawingml/2006/main">
              <a:ext uri="{FF2B5EF4-FFF2-40B4-BE49-F238E27FC236}">
                <a16:creationId xmlns:a16="http://schemas.microsoft.com/office/drawing/2014/main" id="{14567E96-907A-4CBA-A17D-B0522C4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3664" y="6080760"/>
            <a:ext cx="20574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4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4 in einer Reihe</a:t>
            </a:r>
            <a:endParaRPr sz="1040"/>
          </a:p>
        </p:txBody>
      </p:sp>
      <p:sp>
        <p:nvSpPr>
          <p:cNvPr id="262" name="Text 258">
            <a:extLst xmlns:a="http://schemas.openxmlformats.org/drawingml/2006/main">
              <a:ext uri="{FF2B5EF4-FFF2-40B4-BE49-F238E27FC236}">
                <a16:creationId xmlns:a16="http://schemas.microsoft.com/office/drawing/2014/main" id="{38061F39-5F33-4D59-BF35-0E1C2060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6053328"/>
            <a:ext cx="6940296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70">
                <a:solidFill>
                  <a:srgbClr val="557087"/>
                </a:solidFill>
                <a:latin typeface="Inter"/>
                <a:ea typeface="Inter"/>
                <a:cs typeface="Inter"/>
              </a:rPr>
              <a:t>Ungültige Eingaben werden abgefangen · Nur ein gültiger Spielzug wechselt den Spieler.</a:t>
            </a:r>
            <a:endParaRPr sz="1070"/>
          </a:p>
        </p:txBody>
      </p:sp>
    </p:spTree>
    <p:extLst>
      <p:ext uri="{BB962C8B-B14F-4D97-AF65-F5344CB8AC3E}">
        <p14:creationId xmlns:p14="http://schemas.microsoft.com/office/powerpoint/2010/main" val="26185015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FC8AFBF-78E3-4C36-90E7-C3B811BC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E7F2EAD-6C4E-404B-84E2-31CE7F998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05C3CD0-20B6-4A94-8F30-2F2B4964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083E6287-B689-4148-BCA1-C4FA8EBC65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e2d23a5bca4e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1400834-A2B5-4FF5-9D67-1A192AF9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3772172-5C14-49D0-823A-02DEE4D6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A1070688-6869-404D-BF9F-5C303787D2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5a24f4b23c46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ff06f789aa96457b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B535B8C0-98B9-4F49-A16F-359A3EF1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06E3C91B-47A8-4661-A54D-21CEA2D9B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05  /  ABLAUF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E7041BB-856E-489E-917C-DFD16ABE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Vom Startmenü bis zum Ergebnis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C3FF85F-50EF-44A2-88B3-352E9D48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Jeder gültige Zug führt durch eine definierte Folge von Zustandsänderungen und Prüfungen.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8C64966-C716-4F0E-8FA4-086D19FCA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3FFA1FCE-65AD-48A5-AFBA-8403E4F6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99CD0BD-CD06-4B14-BCB2-A7F791A9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05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3DC6E48-A139-4373-ADD7-366D4268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70D37D9C-193E-493F-AE61-C5BF6C73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DF6FCB6C-D22B-47DE-99E2-F7DCE7D04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B05DF950-98A5-4805-AC74-80536B76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BE06B46-302F-4AB9-8E69-4338E3A1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5B83A6A1-FB5C-4F5A-A842-A3A74BE2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BF8778BA-8272-40A2-87B6-8C1C04D8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8B89869-984C-4D3B-8EEE-24670BBE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5FAAD73E-DC73-41CE-AA80-A58DB65A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BFBC5BE4-24F9-4BA6-937B-BFA9945F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7779757C-085D-4E08-9D43-CBE1BD2D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34640"/>
            <a:ext cx="2601468" cy="2048256"/>
          </a:xfrm>
          <a:prstGeom xmlns:a="http://schemas.openxmlformats.org/drawingml/2006/main" prst="roundRect">
            <a:avLst>
              <a:gd name="adj" fmla="val 5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79629B9C-E107-48F3-90D1-0EEDF48B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834640"/>
            <a:ext cx="50292" cy="2048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BACB61EE-2547-4A25-89F4-14C6344B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017520"/>
            <a:ext cx="22722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01</a:t>
            </a:r>
            <a:endParaRPr sz="11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24BFA71-F0B2-45C3-A173-A36FADFE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364992"/>
            <a:ext cx="228142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Konfigurieren</a:t>
            </a:r>
            <a:endParaRPr sz="152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7A604E9F-C480-41FA-A3B8-3E9AEB8C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3776472"/>
            <a:ext cx="230886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40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Spielerzahl, Namen und GUI-Start bestätigen</a:t>
            </a:r>
            <a:endParaRPr sz="1140"/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69479CCA-9CD3-4722-AF58-A47711F8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2112" y="3429000"/>
            <a:ext cx="25603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26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›</a:t>
            </a:r>
            <a:endParaRPr sz="260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FC95194C-7D5E-49F4-A276-44690752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96" y="2834640"/>
            <a:ext cx="2601468" cy="2048256"/>
          </a:xfrm>
          <a:prstGeom xmlns:a="http://schemas.openxmlformats.org/drawingml/2006/main" prst="roundRect">
            <a:avLst>
              <a:gd name="adj" fmla="val 5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CF0ED773-8CB5-4901-8434-BDE18AE1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96" y="2834640"/>
            <a:ext cx="50292" cy="2048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BEA9A98-CD1C-4565-812F-FCA707277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0732" y="3017520"/>
            <a:ext cx="22722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02</a:t>
            </a:r>
            <a:endParaRPr sz="110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75F9F9EE-BE10-4622-A925-8F097DF5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1588" y="3364992"/>
            <a:ext cx="228142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Stein einwerfen</a:t>
            </a:r>
            <a:endParaRPr sz="152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742D7AF3-D7E9-4F89-8C11-FB1705E81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1588" y="3776472"/>
            <a:ext cx="230886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40">
                <a:solidFill>
                  <a:srgbClr val="557087"/>
                </a:solidFill>
                <a:latin typeface="Inter"/>
                <a:ea typeface="Inter"/>
                <a:cs typeface="Inter"/>
              </a:rPr>
              <a:t>Spalte validieren und freie Zeile bestimmen</a:t>
            </a:r>
            <a:endParaRPr sz="114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6636704D-3305-422E-8391-688E1EF1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748" y="3429000"/>
            <a:ext cx="25603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26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›</a:t>
            </a:r>
            <a:endParaRPr sz="260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50FD108B-BC20-4813-BB91-7B43B2CD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834640"/>
            <a:ext cx="2601468" cy="2048256"/>
          </a:xfrm>
          <a:prstGeom xmlns:a="http://schemas.openxmlformats.org/drawingml/2006/main" prst="roundRect">
            <a:avLst>
              <a:gd name="adj" fmla="val 5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D4FE928D-84C0-43FE-A3CB-65DEE975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834640"/>
            <a:ext cx="50292" cy="2048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41A014AB-FAA7-4FFE-80CC-E2B93B405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3368" y="3017520"/>
            <a:ext cx="22722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03</a:t>
            </a:r>
            <a:endParaRPr sz="110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2A70DFAE-9F48-4BB7-A634-CC1F2F308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364992"/>
            <a:ext cx="228142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Ergebnis prüfen</a:t>
            </a:r>
            <a:endParaRPr sz="152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3EDFA783-42DD-477D-ADAD-2A925763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3776472"/>
            <a:ext cx="230886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40">
                <a:solidFill>
                  <a:srgbClr val="557087"/>
                </a:solidFill>
                <a:latin typeface="Inter"/>
                <a:ea typeface="Inter"/>
                <a:cs typeface="Inter"/>
              </a:rPr>
              <a:t>Sieg, Remis oder nächsten Spieler auswählen</a:t>
            </a:r>
            <a:endParaRPr sz="1140"/>
          </a:p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27AFA996-BB8A-4DDF-81A1-E75E7CC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7384" y="3429000"/>
            <a:ext cx="25603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26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›</a:t>
            </a:r>
            <a:endParaRPr sz="2600"/>
          </a:p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A1AC824F-532F-46F2-B199-8213E652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268" y="2834640"/>
            <a:ext cx="2601468" cy="2048256"/>
          </a:xfrm>
          <a:prstGeom xmlns:a="http://schemas.openxmlformats.org/drawingml/2006/main" prst="roundRect">
            <a:avLst>
              <a:gd name="adj" fmla="val 58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4E41D5A6-F487-4AEF-B34E-5A3CB0DA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2268" y="2834640"/>
            <a:ext cx="50292" cy="20482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813A7ADB-C41B-4CE2-85F9-02D0504C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6004" y="3017520"/>
            <a:ext cx="2272284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04</a:t>
            </a:r>
            <a:endParaRPr sz="110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C255B314-4755-4182-B575-8BEA7823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6860" y="3364992"/>
            <a:ext cx="228142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Fortsetzen</a:t>
            </a:r>
            <a:endParaRPr sz="1520"/>
          </a:p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65DA43E1-4730-4F48-9F25-B8341E22C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6860" y="3776472"/>
            <a:ext cx="230886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40">
                <a:solidFill>
                  <a:srgbClr val="557087"/>
                </a:solidFill>
                <a:latin typeface="Inter"/>
                <a:ea typeface="Inter"/>
                <a:cs typeface="Inter"/>
              </a:rPr>
              <a:t>Nächster Zug, Revanche oder Hauptmenü</a:t>
            </a:r>
            <a:endParaRPr sz="1140"/>
          </a:p>
        </p:txBody>
      </p:sp>
      <p:sp>
        <p:nvSpPr>
          <p:cNvPr id="49" name="Shape 45">
            <a:extLst xmlns:a="http://schemas.openxmlformats.org/drawingml/2006/main">
              <a:ext uri="{FF2B5EF4-FFF2-40B4-BE49-F238E27FC236}">
                <a16:creationId xmlns:a16="http://schemas.microsoft.com/office/drawing/2014/main" id="{8CD161D1-9B77-4234-BB7E-1B66A54F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5248656"/>
            <a:ext cx="10762488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C9338888-DFBD-453F-B5C6-BCCE4641B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5248656"/>
            <a:ext cx="59436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7">
            <a:extLst xmlns:a="http://schemas.openxmlformats.org/drawingml/2006/main">
              <a:ext uri="{FF2B5EF4-FFF2-40B4-BE49-F238E27FC236}">
                <a16:creationId xmlns:a16="http://schemas.microsoft.com/office/drawing/2014/main" id="{EF299D6B-6131-470F-BA19-93DD3E01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" y="5404104"/>
            <a:ext cx="1536192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3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Zentrale Regel</a:t>
            </a:r>
            <a:endParaRPr sz="1430"/>
          </a:p>
        </p:txBody>
      </p:sp>
      <p:sp>
        <p:nvSpPr>
          <p:cNvPr id="52" name="Text 48">
            <a:extLst xmlns:a="http://schemas.openxmlformats.org/drawingml/2006/main">
              <a:ext uri="{FF2B5EF4-FFF2-40B4-BE49-F238E27FC236}">
                <a16:creationId xmlns:a16="http://schemas.microsoft.com/office/drawing/2014/main" id="{EE23B500-9730-4983-BB54-5956A2B3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0632" y="5404104"/>
            <a:ext cx="828446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20">
                <a:solidFill>
                  <a:srgbClr val="557087"/>
                </a:solidFill>
                <a:latin typeface="Inter"/>
                <a:ea typeface="Inter"/>
                <a:cs typeface="Inter"/>
              </a:rPr>
              <a:t>Eine ungültige Eingabe erzeugt keinen Spielzug und keinen Spielerwechsel.</a:t>
            </a:r>
            <a:endParaRPr sz="1320"/>
          </a:p>
        </p:txBody>
      </p:sp>
    </p:spTree>
    <p:extLst>
      <p:ext uri="{BB962C8B-B14F-4D97-AF65-F5344CB8AC3E}">
        <p14:creationId xmlns:p14="http://schemas.microsoft.com/office/powerpoint/2010/main" val="17712696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D584B3A-DFD4-481A-BAA6-30BB8FE2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6C003BE-DF90-4E6E-8FAD-E4C51876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B34399D-8E80-4866-8765-B284E8C6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65996A23-B095-431C-8A72-E8F1D8E66C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342123fd2a4c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0D8E4C1-9099-4F87-9C95-78C1AB56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0D6F0D30-C922-4B96-B319-D35E25138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30A55F14-0248-4567-99A4-DA7D02511A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c04a93ab904b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711fc78b2a854d02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2D951891-D4E7-4FB8-BFE0-0B3BCD66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317C928-89BF-46B1-9543-350B21DF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06  /  ARCHITEKTUR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BA54F25-C0AC-493A-A6D2-EE104BCE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Gemeinsame Regeln und getrennte Frontends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91BEB068-3C64-4A18-9816-4E02F5B1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Board kennt die Regeln. Game und MatchSession steuern ihre jeweilige Partie.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11E416D-5BDA-4513-A141-4CC5B38D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8B77EE7-F153-4653-ADF6-5E978571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3F9DF53-9134-46AE-838E-848CE77A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06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10923E61-BB59-468B-A368-27CB1F23F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8907F9B0-52EC-4636-9A77-8F4E7A6F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25B43E52-1F7C-4E02-92B7-32B1997F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84FB48EF-0E2B-43CC-964C-A7E90CC3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F9F324E-4537-41DA-A843-C2FEF724E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EA76950-E441-4EBD-AB08-F2E45BE2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3E60FB6C-67B4-4EC5-8DCF-158067A0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9F7B3CC-0E3C-482C-9433-C6EF0293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71E69D1-FAAC-40FD-A62B-B8500657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DD9076A9-A6A1-451E-94D5-F29F59FB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225F1198-D0EA-4720-A5BC-D36EAE5F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788920"/>
            <a:ext cx="4325112" cy="2990088"/>
          </a:xfrm>
          <a:prstGeom xmlns:a="http://schemas.openxmlformats.org/drawingml/2006/main" prst="roundRect">
            <a:avLst>
              <a:gd name="adj" fmla="val 3976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8255">
            <a:solidFill>
              <a:srgbClr val="24507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8A78AE4D-32E2-49B8-803D-E9371A38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72384"/>
            <a:ext cx="59436" cy="40233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EF"/>
          </a:solidFill>
          <a:ln xmlns:a="http://schemas.openxmlformats.org/drawingml/2006/main" w="12700">
            <a:solidFill>
              <a:srgbClr val="35C8E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4F7EBC3C-7637-4896-AA8A-D8D91090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" y="3054096"/>
            <a:ext cx="32918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>
            <a:defPPr>
              <a:defRPr sz="2250"/>
            </a:defPPr>
            <a:lvl1pPr>
              <a:defRPr sz="2250"/>
            </a:lvl1pPr>
            <a:lvl2pPr>
              <a:defRPr sz="2250"/>
            </a:lvl2pPr>
            <a:lvl3pPr>
              <a:defRPr sz="225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25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Game + MatchSession</a:t>
            </a:r>
            <a:endParaRPr sz="26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FE4313D9-CD6A-4627-9D03-4DE47444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840480"/>
            <a:ext cx="3730752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D9E8F4"/>
                </a:solidFill>
                <a:latin typeface="Inter"/>
                <a:ea typeface="Inter"/>
                <a:cs typeface="Inter"/>
              </a:rPr>
              <a:t>Game steuert die Konsole.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D9E8F4"/>
                </a:solidFill>
                <a:latin typeface="Inter"/>
                <a:ea typeface="Inter"/>
                <a:cs typeface="Inter"/>
              </a:rPr>
              <a:t>MatchSession hält den GUI-Spielzustand mit Spielern, Zügen, Dateien und Siegen.</a:t>
            </a:r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83D33C84-BC94-4D32-AC29-DBCB6FFE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788920"/>
            <a:ext cx="2816352" cy="1344168"/>
          </a:xfrm>
          <a:prstGeom xmlns:a="http://schemas.openxmlformats.org/drawingml/2006/main" prst="roundRect">
            <a:avLst>
              <a:gd name="adj" fmla="val 88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9E22D7CF-15DB-4D21-BD95-5793199C4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6984" y="3017520"/>
            <a:ext cx="50292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E3B964F-24D7-4EFD-A618-2341F2D9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9864" y="2990088"/>
            <a:ext cx="22860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Board</a:t>
            </a:r>
            <a:endParaRPr sz="162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0E2108E7-ECB4-4457-AD5C-789C61A9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4416" y="3502152"/>
            <a:ext cx="241401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>
                <a:solidFill>
                  <a:srgbClr val="557087"/>
                </a:solidFill>
                <a:latin typeface="Inter"/>
                <a:ea typeface="Inter"/>
                <a:cs typeface="Inter"/>
              </a:rPr>
              <a:t>Raster, Spielzüge und Gewinnprüfung</a:t>
            </a:r>
            <a:endParaRPr sz="121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161474E9-EB85-4D45-983D-B7E731AA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788920"/>
            <a:ext cx="3008376" cy="1344168"/>
          </a:xfrm>
          <a:prstGeom xmlns:a="http://schemas.openxmlformats.org/drawingml/2006/main" prst="roundRect">
            <a:avLst>
              <a:gd name="adj" fmla="val 88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42665A65-AF11-47F4-B91A-293AB25C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928" y="3017520"/>
            <a:ext cx="50292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EF"/>
          </a:solidFill>
          <a:ln xmlns:a="http://schemas.openxmlformats.org/drawingml/2006/main" w="12700">
            <a:solidFill>
              <a:srgbClr val="35C8E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3EA45BB4-EDCF-47EF-AC6F-BFE920C9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808" y="2990088"/>
            <a:ext cx="247802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Player</a:t>
            </a:r>
            <a:endParaRPr sz="162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41A0F697-73B7-419C-83FF-F9D1C4D3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0" y="3502152"/>
            <a:ext cx="2606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>
                <a:solidFill>
                  <a:srgbClr val="557087"/>
                </a:solidFill>
                <a:latin typeface="Inter"/>
                <a:ea typeface="Inter"/>
                <a:cs typeface="Inter"/>
              </a:rPr>
              <a:t>Name und eindeutiges Symbol</a:t>
            </a:r>
            <a:endParaRPr sz="121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4C10C91A-0186-4A5A-BFD6-9BCF0270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434840"/>
            <a:ext cx="5989320" cy="1344168"/>
          </a:xfrm>
          <a:prstGeom xmlns:a="http://schemas.openxmlformats.org/drawingml/2006/main" prst="roundRect">
            <a:avLst>
              <a:gd name="adj" fmla="val 88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9744F117-EFD9-46DF-B544-6DAB4B17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6984" y="4663440"/>
            <a:ext cx="50292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C1B0"/>
          </a:solidFill>
          <a:ln xmlns:a="http://schemas.openxmlformats.org/drawingml/2006/main" w="12700">
            <a:solidFill>
              <a:srgbClr val="59C1B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BED12473-D0D9-46E8-BE19-A31AFA44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9864" y="4636008"/>
            <a:ext cx="5458968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Move / GymMove</a:t>
            </a:r>
            <a:endParaRPr sz="162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7141402C-DEE8-4216-A460-5FEFA1F3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4416" y="5148072"/>
            <a:ext cx="558698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>
                <a:solidFill>
                  <a:srgbClr val="557087"/>
                </a:solidFill>
                <a:latin typeface="Inter"/>
                <a:ea typeface="Inter"/>
                <a:cs typeface="Inter"/>
              </a:rPr>
              <a:t>Zeile · Spalte · Spielerindex für die Rückgängig-Historie</a:t>
            </a:r>
            <a:endParaRPr sz="121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F5CCB932-A3F9-4CAD-A68F-465CCCD0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5192" y="4261104"/>
            <a:ext cx="31089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4290">
            <a:solidFill>
              <a:srgbClr val="2478F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DF270BF4-4204-4CE1-948B-BD4E1A0B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5916168"/>
            <a:ext cx="5669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140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Je Controller: 1 Board, 2–4 Player und eine Zughistorie</a:t>
            </a:r>
            <a:endParaRPr sz="1140"/>
          </a:p>
        </p:txBody>
      </p:sp>
    </p:spTree>
    <p:extLst>
      <p:ext uri="{BB962C8B-B14F-4D97-AF65-F5344CB8AC3E}">
        <p14:creationId xmlns:p14="http://schemas.microsoft.com/office/powerpoint/2010/main" val="58822823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C195CEC-C405-4E6E-B99F-0D2B8EFE7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7B4FE88-1CB0-445A-A459-FC5ECB502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FF957B6-C658-4F89-A323-F6A91710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EEF85AC3-CF83-4A78-8BF9-ABFA701AB7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74b6df9bc74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FBAF3A6-7541-4772-A05C-ED8E8294C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8B21218-5C61-4914-88C8-6D0CCCF9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BB67B7FE-D267-4B79-8428-FA3FED7A8B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f7933ff444a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9c94217c8be141fc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D9773F65-8543-4D17-8C4E-76C0A0BF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1013922C-7054-4E88-A645-CFD2A4CC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07  /  C++-STRUKTUR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B219390-5939-4915-8245-EFD11BB55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Quelltext getrennt nach Verantwortung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BA9B350-8553-4087-83F6-640F5947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Header deklarieren Schnittstellen, CPP-Dateien enthalten die zugehörige Implementierung.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5216D01-FCAC-4078-8460-2C50178A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6D2FE472-AEA2-4555-A1BD-A6474733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973A53E-7184-4653-A06D-3C6BB099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07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5CFAA80-A188-4C7E-B296-90C46E591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6A239959-7AA2-4490-A251-D4DF4587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6633315-A714-4F6C-8D72-DEBBF036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313FA8B9-A00D-49EE-990E-8BD1798B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F46ED18-0304-4767-918F-4E1BAAE9F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0D0D478-D48D-4619-BA06-D5914303E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EE1E89F7-236C-48C6-A01A-F50C502B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F890D96F-7EE7-4524-B628-687953A2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E8240A7C-C274-40B2-9171-820289053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EB896FD-1EA4-46B0-999C-55E381326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3601E7A1-34F8-4BD2-9002-E6E774A7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651760"/>
            <a:ext cx="3931920" cy="3236976"/>
          </a:xfrm>
          <a:prstGeom xmlns:a="http://schemas.openxmlformats.org/drawingml/2006/main" prst="roundRect">
            <a:avLst>
              <a:gd name="adj" fmla="val 3672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8255">
            <a:solidFill>
              <a:srgbClr val="24507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83877D5E-0470-42CC-8CB3-97F2CFD4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89504"/>
            <a:ext cx="3383280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30" b="1" spc="100">
                <a:solidFill>
                  <a:srgbClr val="35C8EF"/>
                </a:solidFill>
                <a:latin typeface="Inter"/>
                <a:ea typeface="Inter"/>
                <a:cs typeface="Inter"/>
              </a:rPr>
              <a:t>PROJEKTSTRUKTUR</a:t>
            </a:r>
            <a:endParaRPr sz="113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EABFC6E5-E214-4246-B432-D6D70D390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74136"/>
            <a:ext cx="3291840" cy="23500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>
              <a:defRPr sz="1275"/>
            </a:defPPr>
            <a:lvl1pPr>
              <a:defRPr sz="1275"/>
            </a:lvl1pPr>
            <a:lvl2pPr>
              <a:defRPr sz="1275"/>
            </a:lvl2pPr>
            <a:lvl3pPr>
              <a:defRPr sz="1275"/>
            </a:lvl3pPr>
            <a:lvl4pPr>
              <a:defRPr sz="1275"/>
            </a:lvl4pPr>
            <a:lvl5pPr>
              <a:defRPr sz="1275"/>
            </a:lvl5pPr>
            <a:lvl6pPr>
              <a:defRPr sz="1275"/>
            </a:lvl6pPr>
            <a:lvl7pPr>
              <a:defRPr sz="1275"/>
            </a:lvl7pPr>
            <a:lvl8pPr>
              <a:defRPr sz="1275"/>
            </a:lvl8pPr>
            <a:lvl9pPr>
              <a:defRPr sz="1275"/>
            </a:lvl9pPr>
          </a:lstStyle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include/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  Board.h, Player.h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  Game.h, ConsoleUI.h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  MatchSession.h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  AtomicFile.h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src/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  main.cpp, Game.cpp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  Board.cpp, ConsoleUI.cpp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  MatchSession.cpp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5">
                <a:solidFill>
                  <a:srgbClr val="E7F3FF"/>
                </a:solidFill>
                <a:latin typeface="Liberation Mono"/>
                <a:ea typeface="Liberation Mono"/>
                <a:cs typeface="Liberation Mono"/>
              </a:rPr>
              <a:t>  gui/Main.cpp, GymBeat.h</a:t>
            </a:r>
          </a:p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FDAA05AB-7DCC-49BC-B183-0E150BAB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642616"/>
            <a:ext cx="6748272" cy="1837944"/>
          </a:xfrm>
          <a:prstGeom xmlns:a="http://schemas.openxmlformats.org/drawingml/2006/main" prst="roundRect">
            <a:avLst>
              <a:gd name="adj" fmla="val 7960"/>
            </a:avLst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14A53B81-E82B-4FDB-B085-59FA85EE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642616"/>
            <a:ext cx="6748272" cy="384048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D4A"/>
          </a:solidFill>
          <a:ln xmlns:a="http://schemas.openxmlformats.org/drawingml/2006/main" w="12700">
            <a:solidFill>
              <a:srgbClr val="102D4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B395295D-364E-4A11-8630-A4B661445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8052" y="2784348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47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E44C4D0F-6662-4C36-BCAA-B5B8E0B03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2644" y="2784348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B55D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5661DBC9-C2D3-4C5D-84B4-96EB6C9E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7236" y="2784348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7C1A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81CC6640-3DE4-4AC5-8A6E-1F365A07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776" y="3246120"/>
            <a:ext cx="6291072" cy="10698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70">
                <a:solidFill>
                  <a:srgbClr val="E2F5FF"/>
                </a:solidFill>
                <a:latin typeface="Liberation Mono"/>
                <a:ea typeface="Liberation Mono"/>
                <a:cs typeface="Liberation Mono"/>
              </a:rPr>
              <a:t>Board::Board(int playerCount)</a:t>
            </a:r>
            <a:endParaRPr sz="137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70">
                <a:solidFill>
                  <a:srgbClr val="E2F5FF"/>
                </a:solidFill>
                <a:latin typeface="Liberation Mono"/>
                <a:ea typeface="Liberation Mono"/>
                <a:cs typeface="Liberation Mono"/>
              </a:rPr>
              <a:t> : rows_(6 + 2 * (playerCount - 2)),</a:t>
            </a:r>
            <a:endParaRPr sz="137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70">
                <a:solidFill>
                  <a:srgbClr val="E2F5FF"/>
                </a:solidFill>
                <a:latin typeface="Liberation Mono"/>
                <a:ea typeface="Liberation Mono"/>
                <a:cs typeface="Liberation Mono"/>
              </a:rPr>
              <a:t>   columns_(7 + 2 * (playerCount - 2)),</a:t>
            </a:r>
            <a:endParaRPr sz="137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70">
                <a:solidFill>
                  <a:srgbClr val="E2F5FF"/>
                </a:solidFill>
                <a:latin typeface="Liberation Mono"/>
                <a:ea typeface="Liberation Mono"/>
                <a:cs typeface="Liberation Mono"/>
              </a:rPr>
              <a:t>   grid_(rows_, std::vector&lt;char&gt;(columns_, '.')) {}</a:t>
            </a:r>
            <a:endParaRPr sz="137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0AD397F5-28A3-45D4-81CE-DC7787999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4791456"/>
            <a:ext cx="642823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EINE REGEL, ZENTRAL DEFINIERT</a:t>
            </a:r>
            <a:endParaRPr sz="127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6386D081-3026-47F7-87CA-204FE738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2896" y="5221224"/>
            <a:ext cx="6419088" cy="7406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30">
                <a:solidFill>
                  <a:srgbClr val="557087"/>
                </a:solidFill>
                <a:latin typeface="Inter"/>
                <a:ea typeface="Inter"/>
                <a:cs typeface="Inter"/>
              </a:rPr>
              <a:t>Neue Spielfeldgrößen werden im Konstruktor berechnet. Alle Spielmodi nutzen danach dieselbe Board-Logik.</a:t>
            </a:r>
            <a:endParaRPr sz="1430"/>
          </a:p>
        </p:txBody>
      </p:sp>
    </p:spTree>
    <p:extLst>
      <p:ext uri="{BB962C8B-B14F-4D97-AF65-F5344CB8AC3E}">
        <p14:creationId xmlns:p14="http://schemas.microsoft.com/office/powerpoint/2010/main" val="7981814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14B15DD-2DB4-4B3B-A4CF-DA3DE31F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5B51468-EE69-4B39-AB56-7CC9106D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F3494CE-3EF1-4E90-9192-E26F44B2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457AD7DB-3AE3-4F31-8ABE-791AA66F3D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0b5268b9c42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8F48F4B-3FC2-4D44-BBA5-3D0E7657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957DF76-88C4-4FE3-847B-C9D8585F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4174BF57-19C1-4D08-9845-59D4ECDF508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2c2be9e30a4a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0179b4f7f983401b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60D9CA1A-1A18-4544-BBD3-082B5464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F80A099-02CF-4478-9ABC-A929F152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08  /  ALGORITHMUS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D83B9C0-8A21-4143-9A44-2323F451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Gewinnprüfung in vier Richtungsachsen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5FF7F890-F54C-4BC3-A5F5-4D2E858E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Nach jedem gültigen Zug wird vom letzten Stein aus in beide Richtungen gezählt.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177DCE35-C4B0-4D73-B4DF-B6594D45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827B671-720F-4477-A133-B261519D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B6FF5FF-694B-40FB-AB2B-E0FA6A8C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08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5CA8DFE-81F3-42A7-BD8A-D54F49DA0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89203084-C55C-4C80-93F4-6FB5EEBB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CD20896-979C-4250-ADA2-F1D11A61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D64B8667-0AAA-4905-9DA0-1F5FEFEC8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311EFB8-31EF-44E0-A576-2A7CC73A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FB3E8C78-9194-4E0D-A1F6-2951E323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47959C65-0D28-4EE1-AA48-2EEFE5D90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D0078937-8A28-4417-82CF-23DC1D2C8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25E93166-C8EF-40B8-BFE4-8D1F1FAA9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4313104A-CE1A-44F3-8BFC-7B14B711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FC55BFBF-EFD2-4F9A-957C-FB5A578F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2798064"/>
            <a:ext cx="3776472" cy="3273552"/>
          </a:xfrm>
          <a:prstGeom xmlns:a="http://schemas.openxmlformats.org/drawingml/2006/main" prst="roundRect">
            <a:avLst>
              <a:gd name="adj" fmla="val 3911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4DEB9B0B-E006-4591-AEF9-63984838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30065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9EC4556D-59DE-4273-B250-95B877137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059" y="30065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5">
            <a:extLst xmlns:a="http://schemas.openxmlformats.org/drawingml/2006/main">
              <a:ext uri="{FF2B5EF4-FFF2-40B4-BE49-F238E27FC236}">
                <a16:creationId xmlns:a16="http://schemas.microsoft.com/office/drawing/2014/main" id="{E8D27F73-0D7F-46D5-8F1A-CC0B399C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979" y="30065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9985E0D-CA91-4C51-B42F-11DB5543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99" y="30065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25273FB5-D440-4E8E-864E-32F7045F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19" y="30065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A6651881-0845-4D77-A2D2-508C3918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39" y="30065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29">
            <a:extLst xmlns:a="http://schemas.openxmlformats.org/drawingml/2006/main">
              <a:ext uri="{FF2B5EF4-FFF2-40B4-BE49-F238E27FC236}">
                <a16:creationId xmlns:a16="http://schemas.microsoft.com/office/drawing/2014/main" id="{54229C0A-A858-4A1B-A94B-04A66123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30065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7ABE5BCE-32BF-4337-AFB7-7B049B1A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350946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1658293C-18ED-48AA-80A1-2AEE11FC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059" y="350946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39660DC0-74F5-4497-9F9D-1C805826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979" y="350946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77D9C86E-C7CA-4B97-85B3-BC10DAD5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99" y="350946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86160BB1-2A60-4539-BB88-406AAC10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19" y="350946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5">
            <a:extLst xmlns:a="http://schemas.openxmlformats.org/drawingml/2006/main">
              <a:ext uri="{FF2B5EF4-FFF2-40B4-BE49-F238E27FC236}">
                <a16:creationId xmlns:a16="http://schemas.microsoft.com/office/drawing/2014/main" id="{88046017-B354-4A24-8DF5-20E79C90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39" y="350946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459F4707-759A-40A5-AA31-470B0BF4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350946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FAD88E4B-D96E-4879-9575-7F73B0B6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401238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C8DEEB7E-2E72-494B-9E67-68F38112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059" y="401238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E50E4050-3F4A-4804-A66F-D17EE9FC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979" y="401238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0">
            <a:extLst xmlns:a="http://schemas.openxmlformats.org/drawingml/2006/main">
              <a:ext uri="{FF2B5EF4-FFF2-40B4-BE49-F238E27FC236}">
                <a16:creationId xmlns:a16="http://schemas.microsoft.com/office/drawing/2014/main" id="{486B873E-C593-4600-B17D-E714926F0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99" y="401238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5E61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1">
            <a:extLst xmlns:a="http://schemas.openxmlformats.org/drawingml/2006/main">
              <a:ext uri="{FF2B5EF4-FFF2-40B4-BE49-F238E27FC236}">
                <a16:creationId xmlns:a16="http://schemas.microsoft.com/office/drawing/2014/main" id="{F86C249D-95E2-44DB-944F-CF7082BB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19" y="401238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9CE82B95-C40D-4940-B6EF-D5F3EBC7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39" y="401238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81CB2F13-410C-4DFA-8235-619FF817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401238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4">
            <a:extLst xmlns:a="http://schemas.openxmlformats.org/drawingml/2006/main">
              <a:ext uri="{FF2B5EF4-FFF2-40B4-BE49-F238E27FC236}">
                <a16:creationId xmlns:a16="http://schemas.microsoft.com/office/drawing/2014/main" id="{C0AA11A2-EACF-4DEC-B2B4-DC385860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451530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Shape 45">
            <a:extLst xmlns:a="http://schemas.openxmlformats.org/drawingml/2006/main">
              <a:ext uri="{FF2B5EF4-FFF2-40B4-BE49-F238E27FC236}">
                <a16:creationId xmlns:a16="http://schemas.microsoft.com/office/drawing/2014/main" id="{49FB490D-269E-4C83-81BB-0DE3E982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059" y="451530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Shape 46">
            <a:extLst xmlns:a="http://schemas.openxmlformats.org/drawingml/2006/main">
              <a:ext uri="{FF2B5EF4-FFF2-40B4-BE49-F238E27FC236}">
                <a16:creationId xmlns:a16="http://schemas.microsoft.com/office/drawing/2014/main" id="{27B30996-C423-488D-B35F-5EB11938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979" y="451530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5E61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9ABEAAF9-1E2E-4D90-A4D5-AF261389A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99" y="451530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A2FF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Shape 48">
            <a:extLst xmlns:a="http://schemas.openxmlformats.org/drawingml/2006/main">
              <a:ext uri="{FF2B5EF4-FFF2-40B4-BE49-F238E27FC236}">
                <a16:creationId xmlns:a16="http://schemas.microsoft.com/office/drawing/2014/main" id="{A97529F4-B4BA-4E99-A49D-74AC37C0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19" y="451530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Shape 49">
            <a:extLst xmlns:a="http://schemas.openxmlformats.org/drawingml/2006/main">
              <a:ext uri="{FF2B5EF4-FFF2-40B4-BE49-F238E27FC236}">
                <a16:creationId xmlns:a16="http://schemas.microsoft.com/office/drawing/2014/main" id="{E7DCECE1-AC83-445A-9731-276B98DB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39" y="451530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Shape 50">
            <a:extLst xmlns:a="http://schemas.openxmlformats.org/drawingml/2006/main">
              <a:ext uri="{FF2B5EF4-FFF2-40B4-BE49-F238E27FC236}">
                <a16:creationId xmlns:a16="http://schemas.microsoft.com/office/drawing/2014/main" id="{8B8B84B6-7244-4238-B312-9613A819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451530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5" name="Shape 51">
            <a:extLst xmlns:a="http://schemas.openxmlformats.org/drawingml/2006/main">
              <a:ext uri="{FF2B5EF4-FFF2-40B4-BE49-F238E27FC236}">
                <a16:creationId xmlns:a16="http://schemas.microsoft.com/office/drawing/2014/main" id="{BEA27766-5CF9-42B1-BF8F-67B7A005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501822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6" name="Shape 52">
            <a:extLst xmlns:a="http://schemas.openxmlformats.org/drawingml/2006/main">
              <a:ext uri="{FF2B5EF4-FFF2-40B4-BE49-F238E27FC236}">
                <a16:creationId xmlns:a16="http://schemas.microsoft.com/office/drawing/2014/main" id="{2245CB3E-E0F8-4AD7-ADED-6AF796D6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059" y="501822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5E61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Shape 53">
            <a:extLst xmlns:a="http://schemas.openxmlformats.org/drawingml/2006/main">
              <a:ext uri="{FF2B5EF4-FFF2-40B4-BE49-F238E27FC236}">
                <a16:creationId xmlns:a16="http://schemas.microsoft.com/office/drawing/2014/main" id="{A63F2536-2B3F-49E6-B3E0-79F51288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979" y="501822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A2FF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8" name="Shape 54">
            <a:extLst xmlns:a="http://schemas.openxmlformats.org/drawingml/2006/main">
              <a:ext uri="{FF2B5EF4-FFF2-40B4-BE49-F238E27FC236}">
                <a16:creationId xmlns:a16="http://schemas.microsoft.com/office/drawing/2014/main" id="{BB708ECD-E102-4D40-98AA-2BBEF895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99" y="501822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A2FF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9" name="Shape 55">
            <a:extLst xmlns:a="http://schemas.openxmlformats.org/drawingml/2006/main">
              <a:ext uri="{FF2B5EF4-FFF2-40B4-BE49-F238E27FC236}">
                <a16:creationId xmlns:a16="http://schemas.microsoft.com/office/drawing/2014/main" id="{714D31EB-2ABC-42CA-A382-A60DB486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19" y="501822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Shape 56">
            <a:extLst xmlns:a="http://schemas.openxmlformats.org/drawingml/2006/main">
              <a:ext uri="{FF2B5EF4-FFF2-40B4-BE49-F238E27FC236}">
                <a16:creationId xmlns:a16="http://schemas.microsoft.com/office/drawing/2014/main" id="{453D5286-60B4-46E1-82AD-AD60A8EC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39" y="501822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1" name="Shape 57">
            <a:extLst xmlns:a="http://schemas.openxmlformats.org/drawingml/2006/main">
              <a:ext uri="{FF2B5EF4-FFF2-40B4-BE49-F238E27FC236}">
                <a16:creationId xmlns:a16="http://schemas.microsoft.com/office/drawing/2014/main" id="{FECBDE5C-60E0-49D1-9852-E5D82519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501822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2" name="Shape 58">
            <a:extLst xmlns:a="http://schemas.openxmlformats.org/drawingml/2006/main">
              <a:ext uri="{FF2B5EF4-FFF2-40B4-BE49-F238E27FC236}">
                <a16:creationId xmlns:a16="http://schemas.microsoft.com/office/drawing/2014/main" id="{C7985D1F-5264-49B7-A7C0-86B5EDC2A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" y="55211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35E61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" name="Shape 59">
            <a:extLst xmlns:a="http://schemas.openxmlformats.org/drawingml/2006/main">
              <a:ext uri="{FF2B5EF4-FFF2-40B4-BE49-F238E27FC236}">
                <a16:creationId xmlns:a16="http://schemas.microsoft.com/office/drawing/2014/main" id="{F0C51A0F-A27A-445D-BC08-5330531A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059" y="55211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A2FF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Shape 60">
            <a:extLst xmlns:a="http://schemas.openxmlformats.org/drawingml/2006/main">
              <a:ext uri="{FF2B5EF4-FFF2-40B4-BE49-F238E27FC236}">
                <a16:creationId xmlns:a16="http://schemas.microsoft.com/office/drawing/2014/main" id="{48311E0D-BAC9-434E-A1B5-8A96CD6D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0979" y="55211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A2FF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5" name="Shape 61">
            <a:extLst xmlns:a="http://schemas.openxmlformats.org/drawingml/2006/main">
              <a:ext uri="{FF2B5EF4-FFF2-40B4-BE49-F238E27FC236}">
                <a16:creationId xmlns:a16="http://schemas.microsoft.com/office/drawing/2014/main" id="{EA46B4E6-B360-4CB8-85E9-4DC880A9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3899" y="55211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8A2FF"/>
          </a:solidFill>
          <a:ln xmlns:a="http://schemas.openxmlformats.org/drawingml/2006/main" w="889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6" name="Shape 62">
            <a:extLst xmlns:a="http://schemas.openxmlformats.org/drawingml/2006/main">
              <a:ext uri="{FF2B5EF4-FFF2-40B4-BE49-F238E27FC236}">
                <a16:creationId xmlns:a16="http://schemas.microsoft.com/office/drawing/2014/main" id="{8216D3C7-4C64-4481-9BDA-9ADFFA32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6819" y="55211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7" name="Shape 63">
            <a:extLst xmlns:a="http://schemas.openxmlformats.org/drawingml/2006/main">
              <a:ext uri="{FF2B5EF4-FFF2-40B4-BE49-F238E27FC236}">
                <a16:creationId xmlns:a16="http://schemas.microsoft.com/office/drawing/2014/main" id="{49F5FCB4-B954-4093-9715-EC2968300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9739" y="55211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8" name="Shape 64">
            <a:extLst xmlns:a="http://schemas.openxmlformats.org/drawingml/2006/main">
              <a:ext uri="{FF2B5EF4-FFF2-40B4-BE49-F238E27FC236}">
                <a16:creationId xmlns:a16="http://schemas.microsoft.com/office/drawing/2014/main" id="{61ED9838-D7A3-4344-8B8F-4159F3AC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5521147"/>
            <a:ext cx="341986" cy="341986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8890">
            <a:solidFill>
              <a:srgbClr val="31577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9" name="Text 65">
            <a:extLst xmlns:a="http://schemas.openxmlformats.org/drawingml/2006/main">
              <a:ext uri="{FF2B5EF4-FFF2-40B4-BE49-F238E27FC236}">
                <a16:creationId xmlns:a16="http://schemas.microsoft.com/office/drawing/2014/main" id="{42335AD6-F8E9-4776-8B66-E4F6D6F9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291072"/>
            <a:ext cx="402336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40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BEISPIEL: DIAGONALE VIERERREIHE</a:t>
            </a:r>
            <a:endParaRPr sz="940"/>
          </a:p>
        </p:txBody>
      </p:sp>
      <p:sp>
        <p:nvSpPr>
          <p:cNvPr id="70" name="Shape 66">
            <a:extLst xmlns:a="http://schemas.openxmlformats.org/drawingml/2006/main">
              <a:ext uri="{FF2B5EF4-FFF2-40B4-BE49-F238E27FC236}">
                <a16:creationId xmlns:a16="http://schemas.microsoft.com/office/drawing/2014/main" id="{7E94A33B-53C9-4804-AF68-498CF415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0056" y="2706624"/>
            <a:ext cx="6437376" cy="950976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" name="Text 67">
            <a:extLst xmlns:a="http://schemas.openxmlformats.org/drawingml/2006/main">
              <a:ext uri="{FF2B5EF4-FFF2-40B4-BE49-F238E27FC236}">
                <a16:creationId xmlns:a16="http://schemas.microsoft.com/office/drawing/2014/main" id="{7600BF5F-89A5-4A1E-9510-F34EB5AD7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962656"/>
            <a:ext cx="597103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4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Horizontal   ·   Vertikal   ·   Diagonal ↘   ·   Diagonal ↙</a:t>
            </a:r>
            <a:endParaRPr sz="1400"/>
          </a:p>
        </p:txBody>
      </p:sp>
      <p:sp>
        <p:nvSpPr>
          <p:cNvPr id="72" name="Shape 68">
            <a:extLst xmlns:a="http://schemas.openxmlformats.org/drawingml/2006/main">
              <a:ext uri="{FF2B5EF4-FFF2-40B4-BE49-F238E27FC236}">
                <a16:creationId xmlns:a16="http://schemas.microsoft.com/office/drawing/2014/main" id="{7A4F0BFF-6BA6-4654-A399-A5486A24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0056" y="3858768"/>
            <a:ext cx="6437376" cy="18288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3" name="Shape 69">
            <a:extLst xmlns:a="http://schemas.openxmlformats.org/drawingml/2006/main">
              <a:ext uri="{FF2B5EF4-FFF2-40B4-BE49-F238E27FC236}">
                <a16:creationId xmlns:a16="http://schemas.microsoft.com/office/drawing/2014/main" id="{37118869-2037-424C-97EF-3FE7D356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0056" y="3858768"/>
            <a:ext cx="6437376" cy="384048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102D4A"/>
          </a:solidFill>
          <a:ln xmlns:a="http://schemas.openxmlformats.org/drawingml/2006/main" w="12700">
            <a:solidFill>
              <a:srgbClr val="102D4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Shape 70">
            <a:extLst xmlns:a="http://schemas.openxmlformats.org/drawingml/2006/main">
              <a:ext uri="{FF2B5EF4-FFF2-40B4-BE49-F238E27FC236}">
                <a16:creationId xmlns:a16="http://schemas.microsoft.com/office/drawing/2014/main" id="{935DA70B-6A35-44BC-9B82-859EC554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0076" y="400050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07478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5" name="Shape 71">
            <a:extLst xmlns:a="http://schemas.openxmlformats.org/drawingml/2006/main">
              <a:ext uri="{FF2B5EF4-FFF2-40B4-BE49-F238E27FC236}">
                <a16:creationId xmlns:a16="http://schemas.microsoft.com/office/drawing/2014/main" id="{CFD82ADF-1E03-432C-BC94-5D92D6C62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4668" y="400050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B55D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6" name="Shape 72">
            <a:extLst xmlns:a="http://schemas.openxmlformats.org/drawingml/2006/main">
              <a:ext uri="{FF2B5EF4-FFF2-40B4-BE49-F238E27FC236}">
                <a16:creationId xmlns:a16="http://schemas.microsoft.com/office/drawing/2014/main" id="{643BC312-C33C-4397-AA27-B26AFD28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9260" y="4000500"/>
            <a:ext cx="100584" cy="10058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7C1A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7" name="Text 73">
            <a:extLst xmlns:a="http://schemas.openxmlformats.org/drawingml/2006/main">
              <a:ext uri="{FF2B5EF4-FFF2-40B4-BE49-F238E27FC236}">
                <a16:creationId xmlns:a16="http://schemas.microsoft.com/office/drawing/2014/main" id="{79544EE2-059A-4A04-9645-092CBDCB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462272"/>
            <a:ext cx="5980176" cy="10607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90">
                <a:solidFill>
                  <a:srgbClr val="E2F5FF"/>
                </a:solidFill>
                <a:latin typeface="Liberation Mono"/>
                <a:ea typeface="Liberation Mono"/>
                <a:cs typeface="Liberation Mono"/>
              </a:rPr>
              <a:t>int length = 1</a:t>
            </a:r>
            <a:endParaRPr sz="139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90">
                <a:solidFill>
                  <a:srgbClr val="E2F5FF"/>
                </a:solidFill>
                <a:latin typeface="Liberation Mono"/>
                <a:ea typeface="Liberation Mono"/>
                <a:cs typeface="Liberation Mono"/>
              </a:rPr>
              <a:t>  + countDirection(...,  dr,  dc, symbol)</a:t>
            </a:r>
            <a:endParaRPr sz="139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90">
                <a:solidFill>
                  <a:srgbClr val="E2F5FF"/>
                </a:solidFill>
                <a:latin typeface="Liberation Mono"/>
                <a:ea typeface="Liberation Mono"/>
                <a:cs typeface="Liberation Mono"/>
              </a:rPr>
              <a:t>  + countDirection(..., -dr, -dc, symbol);</a:t>
            </a:r>
            <a:endParaRPr sz="139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90">
                <a:solidFill>
                  <a:srgbClr val="E2F5FF"/>
                </a:solidFill>
                <a:latin typeface="Liberation Mono"/>
                <a:ea typeface="Liberation Mono"/>
                <a:cs typeface="Liberation Mono"/>
              </a:rPr>
              <a:t>if (length &gt;= 4) return true;</a:t>
            </a:r>
            <a:endParaRPr sz="1390"/>
          </a:p>
        </p:txBody>
      </p:sp>
      <p:sp>
        <p:nvSpPr>
          <p:cNvPr id="78" name="Text 74">
            <a:extLst xmlns:a="http://schemas.openxmlformats.org/drawingml/2006/main">
              <a:ext uri="{FF2B5EF4-FFF2-40B4-BE49-F238E27FC236}">
                <a16:creationId xmlns:a16="http://schemas.microsoft.com/office/drawing/2014/main" id="{EC1B3766-53F2-489C-BCC6-32C3F9AC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9784" y="5952744"/>
            <a:ext cx="6236208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70">
                <a:solidFill>
                  <a:srgbClr val="557087"/>
                </a:solidFill>
                <a:latin typeface="Inter"/>
                <a:ea typeface="Inter"/>
                <a:cs typeface="Inter"/>
              </a:rPr>
              <a:t>Nur vier Achsen nötig: jede deckt ihre Gegenrichtung mit ab.</a:t>
            </a:r>
            <a:endParaRPr sz="1170"/>
          </a:p>
        </p:txBody>
      </p:sp>
    </p:spTree>
    <p:extLst>
      <p:ext uri="{BB962C8B-B14F-4D97-AF65-F5344CB8AC3E}">
        <p14:creationId xmlns:p14="http://schemas.microsoft.com/office/powerpoint/2010/main" val="168818445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5183C2-6B30-487C-BDE7-ABC7B2C8C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0063ABC-BBD5-4B0C-A3E9-CDB02ABF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052F661-8303-4B99-B721-600C199E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D51C69F8-C6B9-4CD4-A0A2-59FE4D3B3D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e36440e36b49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BAA836E-B0B9-42E0-99ED-9DDF7B2E1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51095C3-3268-4808-B4CA-1A925A7C9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61BAD5BC-44E8-4A4F-BCAC-827DE81889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5cd63cb96b4d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7b2f13c93a2c4c7a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C8079906-FD0E-49B5-855A-8E6779D2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537488E-8461-4D63-A507-89E855380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09  /  PERSISTENZ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1C2AD9A-3121-461C-880F-7B35C976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Spielstände sichern und kontrolliert laden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204276D5-F197-4724-BE6B-64196224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GYM1 bleibt kompatibel. Beim Schreiben erst vollständig sichern, dann die Zieldatei ersetzen.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70E0385-3BE7-403A-8722-2595C4B7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F2DB6613-9B58-413C-A2A7-A3DF4E9C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92A3B30-8A74-4361-9861-19A59716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09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4733BEA3-5BB1-4CC8-B0E5-D134B047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B6BB6AE-0C21-4FB6-AECB-83B56559E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37E8BC2-5DD5-4859-8D18-93BC4545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1345386A-8984-4EFA-89FB-F988C44B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20DF40F-4465-485D-8BB8-4DECDBB8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BBC28D76-5D98-4EED-B364-EEE21A33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BB73B29F-5909-4122-B584-EA0D61FEE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B7B48F0-A54F-46B0-8510-8D870923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3110A304-3B33-42D0-A953-EF85E01A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211E3363-23CA-4E74-AD95-8FF59BE6A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9E75E6FD-D330-4233-84C1-3515120DD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51760"/>
            <a:ext cx="5148072" cy="3493008"/>
          </a:xfrm>
          <a:prstGeom xmlns:a="http://schemas.openxmlformats.org/drawingml/2006/main" prst="roundRect">
            <a:avLst>
              <a:gd name="adj" fmla="val 3403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8255">
            <a:solidFill>
              <a:srgbClr val="24507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04A439A5-8EA9-4BA6-978F-71025D81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907792"/>
            <a:ext cx="44805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10" b="1" spc="100">
                <a:solidFill>
                  <a:srgbClr val="35C8EF"/>
                </a:solidFill>
                <a:latin typeface="Inter"/>
                <a:ea typeface="Inter"/>
                <a:cs typeface="Inter"/>
              </a:rPr>
              <a:t>SAVEGAME-FORMAT</a:t>
            </a:r>
            <a:endParaRPr sz="111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A1C159C2-E003-4FC5-8FAE-04082EDD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474720"/>
            <a:ext cx="4389120" cy="1965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40">
                <a:solidFill>
                  <a:srgbClr val="FFFFFF"/>
                </a:solidFill>
                <a:latin typeface="Liberation Mono"/>
                <a:ea typeface="Liberation Mono"/>
                <a:cs typeface="Liberation Mono"/>
              </a:rPr>
              <a:t>GYM1</a:t>
            </a:r>
            <a:endParaRPr sz="184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40">
                <a:solidFill>
                  <a:srgbClr val="FFFFFF"/>
                </a:solidFill>
                <a:latin typeface="Liberation Mono"/>
                <a:ea typeface="Liberation Mono"/>
                <a:cs typeface="Liberation Mono"/>
              </a:rPr>
              <a:t>2 1 6 7 3</a:t>
            </a:r>
            <a:endParaRPr sz="184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40">
                <a:solidFill>
                  <a:srgbClr val="FFFFFF"/>
                </a:solidFill>
                <a:latin typeface="Liberation Mono"/>
                <a:ea typeface="Liberation Mono"/>
                <a:cs typeface="Liberation Mono"/>
              </a:rPr>
              <a:t>"Julian" R</a:t>
            </a:r>
            <a:endParaRPr sz="184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40">
                <a:solidFill>
                  <a:srgbClr val="FFFFFF"/>
                </a:solidFill>
                <a:latin typeface="Liberation Mono"/>
                <a:ea typeface="Liberation Mono"/>
                <a:cs typeface="Liberation Mono"/>
              </a:rPr>
              <a:t>"Daniel" B</a:t>
            </a:r>
            <a:endParaRPr sz="184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40">
                <a:solidFill>
                  <a:srgbClr val="FFFFFF"/>
                </a:solidFill>
                <a:latin typeface="Liberation Mono"/>
                <a:ea typeface="Liberation Mono"/>
                <a:cs typeface="Liberation Mono"/>
              </a:rPr>
              <a:t>... Zugliste ...</a:t>
            </a:r>
            <a:endParaRPr sz="184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840">
                <a:solidFill>
                  <a:srgbClr val="FFFFFF"/>
                </a:solidFill>
                <a:latin typeface="Liberation Mono"/>
                <a:ea typeface="Liberation Mono"/>
                <a:cs typeface="Liberation Mono"/>
              </a:rPr>
              <a:t>... Spielfeld ...</a:t>
            </a:r>
            <a:endParaRPr sz="184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5E691BAA-FD45-4FFA-9DFD-CBD0A54D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5687568"/>
            <a:ext cx="4507992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950">
                <a:solidFill>
                  <a:srgbClr val="A7BDD0"/>
                </a:solidFill>
                <a:latin typeface="Inter"/>
                <a:ea typeface="Inter"/>
                <a:cs typeface="Inter"/>
              </a:rPr>
              <a:t>Schematischer Ausschnitt · Formatversion + Zustand</a:t>
            </a:r>
            <a:endParaRPr sz="95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8C7F737B-C2AA-473D-8714-277C693A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2770632"/>
            <a:ext cx="1685544" cy="2441448"/>
          </a:xfrm>
          <a:prstGeom xmlns:a="http://schemas.openxmlformats.org/drawingml/2006/main" prst="roundRect">
            <a:avLst>
              <a:gd name="adj" fmla="val 70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168F4439-2B8D-43CA-BDA5-EFFE5807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1616" y="2770632"/>
            <a:ext cx="50292" cy="2441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ADD85081-C024-41C0-B999-5D34AC13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5352" y="2953512"/>
            <a:ext cx="1356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01</a:t>
            </a:r>
            <a:endParaRPr sz="11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25016802-49F5-4E2E-9AC3-15B44D31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300984"/>
            <a:ext cx="136550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Einlesen</a:t>
            </a:r>
            <a:endParaRPr sz="152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A35E4C7C-5523-441D-AB01-7B73FD4A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208" y="3712464"/>
            <a:ext cx="139293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40">
                <a:solidFill>
                  <a:srgbClr val="557087"/>
                </a:solidFill>
                <a:latin typeface="Inter"/>
                <a:ea typeface="Inter"/>
                <a:cs typeface="Inter"/>
              </a:rPr>
              <a:t>Signatur, Dimensionen, Namen und Züge prüfen</a:t>
            </a:r>
            <a:endParaRPr sz="114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5E4ED4AB-7A39-4A34-B34B-18B4E0D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444" y="3364992"/>
            <a:ext cx="25603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26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›</a:t>
            </a:r>
            <a:endParaRPr sz="260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97CEB77E-BD39-440B-91DD-C1E35FEA6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328" y="2770632"/>
            <a:ext cx="1685544" cy="2441448"/>
          </a:xfrm>
          <a:prstGeom xmlns:a="http://schemas.openxmlformats.org/drawingml/2006/main" prst="roundRect">
            <a:avLst>
              <a:gd name="adj" fmla="val 70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958D81C6-C186-4BD7-BF7F-22260D75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8328" y="2770632"/>
            <a:ext cx="50292" cy="2441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D76D2EC0-6DDC-4E18-8928-B2BB2981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2064" y="2953512"/>
            <a:ext cx="1356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02</a:t>
            </a:r>
            <a:endParaRPr sz="11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ADD35769-0210-4E23-9F4C-3EAD83BDF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920" y="3300984"/>
            <a:ext cx="136550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Rekonstruieren</a:t>
            </a:r>
            <a:endParaRPr sz="152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BCC24136-C99A-4693-B218-CE041659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920" y="3712464"/>
            <a:ext cx="139293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40">
                <a:solidFill>
                  <a:srgbClr val="557087"/>
                </a:solidFill>
                <a:latin typeface="Inter"/>
                <a:ea typeface="Inter"/>
                <a:cs typeface="Inter"/>
              </a:rPr>
              <a:t>Temporäres Board für gültige Spielzüge</a:t>
            </a:r>
            <a:endParaRPr sz="1140"/>
          </a:p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6584733E-21FB-4964-8354-73E3B1C1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0156" y="3364992"/>
            <a:ext cx="256032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26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›</a:t>
            </a:r>
            <a:endParaRPr sz="2600"/>
          </a:p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C396225A-06BB-4079-B0AD-E18A31C91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040" y="2770632"/>
            <a:ext cx="1685544" cy="2441448"/>
          </a:xfrm>
          <a:prstGeom xmlns:a="http://schemas.openxmlformats.org/drawingml/2006/main" prst="roundRect">
            <a:avLst>
              <a:gd name="adj" fmla="val 70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42FF178A-1F63-414C-89BB-BB386E0C2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5040" y="2770632"/>
            <a:ext cx="50292" cy="2441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CED7935B-816F-46BC-B4BA-D8FF43AB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8776" y="2953512"/>
            <a:ext cx="1356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03</a:t>
            </a:r>
            <a:endParaRPr sz="110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F7163F27-8D9D-4FDE-8B15-A47154093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9632" y="3300984"/>
            <a:ext cx="136550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5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Übernehmen</a:t>
            </a:r>
            <a:endParaRPr sz="1520"/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68AB0352-11A6-4AFB-8E8F-4E51A08D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9632" y="3712464"/>
            <a:ext cx="1392936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140">
                <a:solidFill>
                  <a:srgbClr val="557087"/>
                </a:solidFill>
                <a:latin typeface="Inter"/>
                <a:ea typeface="Inter"/>
                <a:cs typeface="Inter"/>
              </a:rPr>
              <a:t>Erst nach Validierung echten Zustand ersetzen</a:t>
            </a:r>
            <a:endParaRPr sz="1140"/>
          </a:p>
        </p:txBody>
      </p:sp>
      <p:sp>
        <p:nvSpPr>
          <p:cNvPr id="47" name="Text 43">
            <a:extLst xmlns:a="http://schemas.openxmlformats.org/drawingml/2006/main">
              <a:ext uri="{FF2B5EF4-FFF2-40B4-BE49-F238E27FC236}">
                <a16:creationId xmlns:a16="http://schemas.microsoft.com/office/drawing/2014/main" id="{F4B9F27F-8D8A-4A7B-BAA9-E42B81BF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5623560"/>
            <a:ext cx="52395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20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Laden prüft zuerst einen Kandidaten. Schreibfehler erhalten den getesteten Altbestand.</a:t>
            </a:r>
            <a:endParaRPr sz="1220"/>
          </a:p>
        </p:txBody>
      </p:sp>
    </p:spTree>
    <p:extLst>
      <p:ext uri="{BB962C8B-B14F-4D97-AF65-F5344CB8AC3E}">
        <p14:creationId xmlns:p14="http://schemas.microsoft.com/office/powerpoint/2010/main" val="200352388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09420F9B-0978-40BA-9633-A4FFD04B1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984974A-F10E-4F21-B6C3-4DD32B27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CB6EBEC-0907-4498-BD3F-8AAB6134E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CA5293BA-A9D8-4A2B-A1D8-9FADC96CDE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44f5052e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B9EB61-F67F-4C46-A69E-B2F961963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4F8FBE4F-B9C2-4D88-AEBA-F058A6B1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72F9BBAD-A78E-4EC3-AADE-9FB41CCBE9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cd90ce3a741e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32f7d53ab3654c78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2F437EFE-04F5-4433-A3EF-5C3442E4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FD618EBA-20AE-4EFC-B8D8-2973EDB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10  /  FUNKTIONEN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164CC824-9496-4527-8922-77621F72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Bedienung und Gym-Identität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B9BEDB78-764A-4B8A-83F2-8B14ED2B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Konsole und 2D-Fenster verwenden denselben Regelkern. Zusätze bleiben klar bedienbar.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7CC102F-20F6-4732-AEAE-D5A47E4F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A4945C7-0F55-4FBB-9EAC-A3968C5D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4ED501B-19BE-4013-86BF-F948CDE8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10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8DBD7569-1D16-4632-90D5-460698AA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7CE54CA-EFE8-455F-8352-E64B2D328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A1BB802E-E0F2-4240-9B07-38485094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7E39FB2E-5788-4FFD-8033-7BCFCFCE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D953C5CF-CBD8-4077-84FB-1F6F5F8EC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1547267D-C970-49EA-A004-A4CDC8EF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85C60A71-D425-4750-A74E-591B3D76F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9B885351-F822-44A3-B89D-5367D61D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F2FA7D91-521E-44A4-A68A-A481BC0B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4BFDE517-3386-4031-BF9E-915DC8DE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6826-233E-4EA8-B423-52B97584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715768"/>
            <a:ext cx="3456432" cy="1298448"/>
          </a:xfrm>
          <a:prstGeom xmlns:a="http://schemas.openxmlformats.org/drawingml/2006/main" prst="roundRect">
            <a:avLst>
              <a:gd name="adj" fmla="val 91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9D50EA9-4210-4BCF-B304-EE4D0B531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16936"/>
            <a:ext cx="658368" cy="539496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47CA5B20-0B04-44F1-81A9-798A115DB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026664"/>
            <a:ext cx="603504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6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V 4</a:t>
            </a:r>
            <a:endParaRPr sz="160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AF89D03C-79B5-4E68-831C-D0E17D0A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953512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8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Spaltenvorschau</a:t>
            </a:r>
            <a:endParaRPr sz="138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52F19229-CF23-4D1A-A4F9-EE4283693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447288"/>
            <a:ext cx="2258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70">
                <a:solidFill>
                  <a:srgbClr val="557087"/>
                </a:solidFill>
                <a:latin typeface="Inter"/>
                <a:ea typeface="Inter"/>
                <a:cs typeface="Inter"/>
              </a:rPr>
              <a:t>nur Anzeige</a:t>
            </a:r>
            <a:endParaRPr sz="107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362E583C-965C-4577-8855-6712A66D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2715768"/>
            <a:ext cx="3456432" cy="1298448"/>
          </a:xfrm>
          <a:prstGeom xmlns:a="http://schemas.openxmlformats.org/drawingml/2006/main" prst="roundRect">
            <a:avLst>
              <a:gd name="adj" fmla="val 91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9004B8C4-F23F-40CF-B86E-471E8FE1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916936"/>
            <a:ext cx="658368" cy="539496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DE54157D-6E9C-4D53-815C-4405DFA4B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144" y="3026664"/>
            <a:ext cx="603504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6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U</a:t>
            </a:r>
            <a:endParaRPr sz="1600"/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B640EF3B-13F7-4012-B0E2-A3A6DD7A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2953512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8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Zug zurücknehmen</a:t>
            </a:r>
            <a:endParaRPr sz="1380"/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64E4568D-BC79-4DD2-8C9A-B9B1328D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3447288"/>
            <a:ext cx="2258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70">
                <a:solidFill>
                  <a:srgbClr val="557087"/>
                </a:solidFill>
                <a:latin typeface="Inter"/>
                <a:ea typeface="Inter"/>
                <a:cs typeface="Inter"/>
              </a:rPr>
              <a:t>Zughistorie</a:t>
            </a:r>
            <a:endParaRPr sz="1070"/>
          </a:p>
        </p:txBody>
      </p:sp>
      <p:sp>
        <p:nvSpPr>
          <p:cNvPr id="36" name="Shape 32">
            <a:extLst xmlns:a="http://schemas.openxmlformats.org/drawingml/2006/main">
              <a:ext uri="{FF2B5EF4-FFF2-40B4-BE49-F238E27FC236}">
                <a16:creationId xmlns:a16="http://schemas.microsoft.com/office/drawing/2014/main" id="{B79B4AE3-6365-431B-AC69-94C1BAD8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7304" y="2715768"/>
            <a:ext cx="3456432" cy="1298448"/>
          </a:xfrm>
          <a:prstGeom xmlns:a="http://schemas.openxmlformats.org/drawingml/2006/main" prst="roundRect">
            <a:avLst>
              <a:gd name="adj" fmla="val 91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8FE761DD-9ECA-4478-A50E-8B879ED38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2916936"/>
            <a:ext cx="658368" cy="539496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BE88FBAF-A63E-49F2-80C9-43EBD1B79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26664"/>
            <a:ext cx="603504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6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S</a:t>
            </a:r>
            <a:endParaRPr sz="16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539A33EF-A6C9-4E71-AD42-39FF975B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953512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8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Spielstand speichern</a:t>
            </a:r>
            <a:endParaRPr sz="1380"/>
          </a:p>
        </p:txBody>
      </p:sp>
      <p:sp>
        <p:nvSpPr>
          <p:cNvPr id="40" name="Text 36">
            <a:extLst xmlns:a="http://schemas.openxmlformats.org/drawingml/2006/main">
              <a:ext uri="{FF2B5EF4-FFF2-40B4-BE49-F238E27FC236}">
                <a16:creationId xmlns:a16="http://schemas.microsoft.com/office/drawing/2014/main" id="{0FA49443-F109-47BE-8C12-B666A027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3447288"/>
            <a:ext cx="2258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70">
                <a:solidFill>
                  <a:srgbClr val="557087"/>
                </a:solidFill>
                <a:latin typeface="Inter"/>
                <a:ea typeface="Inter"/>
                <a:cs typeface="Inter"/>
              </a:rPr>
              <a:t>lokale Datei</a:t>
            </a:r>
            <a:endParaRPr sz="1070"/>
          </a:p>
        </p:txBody>
      </p:sp>
      <p:sp>
        <p:nvSpPr>
          <p:cNvPr id="41" name="Shape 37">
            <a:extLst xmlns:a="http://schemas.openxmlformats.org/drawingml/2006/main">
              <a:ext uri="{FF2B5EF4-FFF2-40B4-BE49-F238E27FC236}">
                <a16:creationId xmlns:a16="http://schemas.microsoft.com/office/drawing/2014/main" id="{C0A4315A-446C-46F2-A4AC-5FAACDC9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288536"/>
            <a:ext cx="3456432" cy="1298448"/>
          </a:xfrm>
          <a:prstGeom xmlns:a="http://schemas.openxmlformats.org/drawingml/2006/main" prst="roundRect">
            <a:avLst>
              <a:gd name="adj" fmla="val 91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Shape 38">
            <a:extLst xmlns:a="http://schemas.openxmlformats.org/drawingml/2006/main">
              <a:ext uri="{FF2B5EF4-FFF2-40B4-BE49-F238E27FC236}">
                <a16:creationId xmlns:a16="http://schemas.microsoft.com/office/drawing/2014/main" id="{AE81F606-9973-4709-BAF9-508F1ABA0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89704"/>
            <a:ext cx="658368" cy="539496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Text 39">
            <a:extLst xmlns:a="http://schemas.openxmlformats.org/drawingml/2006/main">
              <a:ext uri="{FF2B5EF4-FFF2-40B4-BE49-F238E27FC236}">
                <a16:creationId xmlns:a16="http://schemas.microsoft.com/office/drawing/2014/main" id="{6C13E0C1-10AF-49A1-A27A-CCB13B0B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599432"/>
            <a:ext cx="603504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6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F9</a:t>
            </a:r>
            <a:endParaRPr sz="1600"/>
          </a:p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448068C5-6094-48D4-9648-B2C7F606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452628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8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Gym-Beat an/aus</a:t>
            </a:r>
            <a:endParaRPr sz="138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DF8C7E31-9FC4-4F37-9414-CEDB0303A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020056"/>
            <a:ext cx="2258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70">
                <a:solidFill>
                  <a:srgbClr val="557087"/>
                </a:solidFill>
                <a:latin typeface="Inter"/>
                <a:ea typeface="Inter"/>
                <a:cs typeface="Inter"/>
              </a:rPr>
              <a:t>GUI, Standard aus</a:t>
            </a:r>
            <a:endParaRPr sz="1070"/>
          </a:p>
        </p:txBody>
      </p:sp>
      <p:sp>
        <p:nvSpPr>
          <p:cNvPr id="46" name="Shape 42">
            <a:extLst xmlns:a="http://schemas.openxmlformats.org/drawingml/2006/main">
              <a:ext uri="{FF2B5EF4-FFF2-40B4-BE49-F238E27FC236}">
                <a16:creationId xmlns:a16="http://schemas.microsoft.com/office/drawing/2014/main" id="{31B6DA33-84EE-48D6-A8A2-B8346BCD4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7408" y="4288536"/>
            <a:ext cx="3456432" cy="1298448"/>
          </a:xfrm>
          <a:prstGeom xmlns:a="http://schemas.openxmlformats.org/drawingml/2006/main" prst="roundRect">
            <a:avLst>
              <a:gd name="adj" fmla="val 91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3">
            <a:extLst xmlns:a="http://schemas.openxmlformats.org/drawingml/2006/main">
              <a:ext uri="{FF2B5EF4-FFF2-40B4-BE49-F238E27FC236}">
                <a16:creationId xmlns:a16="http://schemas.microsoft.com/office/drawing/2014/main" id="{61AE0BA3-A15F-44B5-8F48-F71BA3B56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489704"/>
            <a:ext cx="658368" cy="539496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4">
            <a:extLst xmlns:a="http://schemas.openxmlformats.org/drawingml/2006/main">
              <a:ext uri="{FF2B5EF4-FFF2-40B4-BE49-F238E27FC236}">
                <a16:creationId xmlns:a16="http://schemas.microsoft.com/office/drawing/2014/main" id="{E232FF46-3988-4ED9-89C4-3966645E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144" y="4599432"/>
            <a:ext cx="603504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6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I</a:t>
            </a:r>
            <a:endParaRPr sz="1600"/>
          </a:p>
        </p:txBody>
      </p:sp>
      <p:sp>
        <p:nvSpPr>
          <p:cNvPr id="49" name="Text 45">
            <a:extLst xmlns:a="http://schemas.openxmlformats.org/drawingml/2006/main">
              <a:ext uri="{FF2B5EF4-FFF2-40B4-BE49-F238E27FC236}">
                <a16:creationId xmlns:a16="http://schemas.microsoft.com/office/drawing/2014/main" id="{6F9D3701-6775-4F7E-BA71-2603F8B5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452628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8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Partiestatistik</a:t>
            </a:r>
            <a:endParaRPr sz="1380"/>
          </a:p>
        </p:txBody>
      </p:sp>
      <p:sp>
        <p:nvSpPr>
          <p:cNvPr id="50" name="Text 46">
            <a:extLst xmlns:a="http://schemas.openxmlformats.org/drawingml/2006/main">
              <a:ext uri="{FF2B5EF4-FFF2-40B4-BE49-F238E27FC236}">
                <a16:creationId xmlns:a16="http://schemas.microsoft.com/office/drawing/2014/main" id="{AA8325FD-5E93-4F66-8F7A-8FAD8ED1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5816" y="5020056"/>
            <a:ext cx="2258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70">
                <a:solidFill>
                  <a:srgbClr val="557087"/>
                </a:solidFill>
                <a:latin typeface="Inter"/>
                <a:ea typeface="Inter"/>
                <a:cs typeface="Inter"/>
              </a:rPr>
              <a:t>Füllstand &amp; Spieler</a:t>
            </a:r>
            <a:endParaRPr sz="1070"/>
          </a:p>
        </p:txBody>
      </p:sp>
      <p:sp>
        <p:nvSpPr>
          <p:cNvPr id="51" name="Shape 47">
            <a:extLst xmlns:a="http://schemas.openxmlformats.org/drawingml/2006/main">
              <a:ext uri="{FF2B5EF4-FFF2-40B4-BE49-F238E27FC236}">
                <a16:creationId xmlns:a16="http://schemas.microsoft.com/office/drawing/2014/main" id="{7D2BB377-14F9-4E63-B914-AF51D335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7304" y="4288536"/>
            <a:ext cx="3456432" cy="1298448"/>
          </a:xfrm>
          <a:prstGeom xmlns:a="http://schemas.openxmlformats.org/drawingml/2006/main" prst="roundRect">
            <a:avLst>
              <a:gd name="adj" fmla="val 91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Shape 48">
            <a:extLst xmlns:a="http://schemas.openxmlformats.org/drawingml/2006/main">
              <a:ext uri="{FF2B5EF4-FFF2-40B4-BE49-F238E27FC236}">
                <a16:creationId xmlns:a16="http://schemas.microsoft.com/office/drawing/2014/main" id="{CD67425F-7E83-40FF-8918-CB2CF968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4489704"/>
            <a:ext cx="658368" cy="539496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Text 49">
            <a:extLst xmlns:a="http://schemas.openxmlformats.org/drawingml/2006/main">
              <a:ext uri="{FF2B5EF4-FFF2-40B4-BE49-F238E27FC236}">
                <a16:creationId xmlns:a16="http://schemas.microsoft.com/office/drawing/2014/main" id="{0FB54890-3507-4C18-A758-486306637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99432"/>
            <a:ext cx="603504" cy="2468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6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A</a:t>
            </a:r>
            <a:endParaRPr sz="1600"/>
          </a:p>
        </p:txBody>
      </p:sp>
      <p:sp>
        <p:nvSpPr>
          <p:cNvPr id="54" name="Text 50">
            <a:extLst xmlns:a="http://schemas.openxmlformats.org/drawingml/2006/main">
              <a:ext uri="{FF2B5EF4-FFF2-40B4-BE49-F238E27FC236}">
                <a16:creationId xmlns:a16="http://schemas.microsoft.com/office/drawing/2014/main" id="{8A15A905-2611-4FCC-8BB9-77B66D7A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4526280"/>
            <a:ext cx="227685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8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Fallanimation an/aus</a:t>
            </a:r>
            <a:endParaRPr sz="1380"/>
          </a:p>
        </p:txBody>
      </p:sp>
      <p:sp>
        <p:nvSpPr>
          <p:cNvPr id="55" name="Text 51">
            <a:extLst xmlns:a="http://schemas.openxmlformats.org/drawingml/2006/main">
              <a:ext uri="{FF2B5EF4-FFF2-40B4-BE49-F238E27FC236}">
                <a16:creationId xmlns:a16="http://schemas.microsoft.com/office/drawing/2014/main" id="{0C2675E8-2733-45DF-956B-BC80309A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5020056"/>
            <a:ext cx="2258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70">
                <a:solidFill>
                  <a:srgbClr val="557087"/>
                </a:solidFill>
                <a:latin typeface="Inter"/>
                <a:ea typeface="Inter"/>
                <a:cs typeface="Inter"/>
              </a:rPr>
              <a:t>Konsole aus, GUI an</a:t>
            </a:r>
            <a:endParaRPr sz="1070"/>
          </a:p>
        </p:txBody>
      </p:sp>
      <p:sp>
        <p:nvSpPr>
          <p:cNvPr id="56" name="Shape 52">
            <a:extLst xmlns:a="http://schemas.openxmlformats.org/drawingml/2006/main">
              <a:ext uri="{FF2B5EF4-FFF2-40B4-BE49-F238E27FC236}">
                <a16:creationId xmlns:a16="http://schemas.microsoft.com/office/drawing/2014/main" id="{B60DCD7E-7B82-4C99-925B-4041FD7A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5879592"/>
            <a:ext cx="10927080" cy="3200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Text 53">
            <a:extLst xmlns:a="http://schemas.openxmlformats.org/drawingml/2006/main">
              <a:ext uri="{FF2B5EF4-FFF2-40B4-BE49-F238E27FC236}">
                <a16:creationId xmlns:a16="http://schemas.microsoft.com/office/drawing/2014/main" id="{EE6ECEF7-95F7-433D-BD12-88F1145E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961888"/>
            <a:ext cx="10552176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95327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7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Zusätzlich: Revanche, Schullogo und JK-AXIS-Symbol. Das alte 3D-Bild bleibt eine Designstudie.</a:t>
            </a:r>
            <a:endParaRPr sz="1070"/>
          </a:p>
        </p:txBody>
      </p:sp>
    </p:spTree>
    <p:extLst>
      <p:ext uri="{BB962C8B-B14F-4D97-AF65-F5344CB8AC3E}">
        <p14:creationId xmlns:p14="http://schemas.microsoft.com/office/powerpoint/2010/main" val="190619309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2123939-03C1-4768-A3E5-8D13EC6A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15A6D01-0340-4C71-9F79-35D0D522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8C34D0E-E836-46AD-BCD1-8A38580B1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16DE832B-DFA1-4F6F-9194-D7E7EE4EBE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200f96dd764c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E229BC3-062B-4206-BBEF-6105E998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937113A-F790-43B5-9DFF-F5880CBE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04E48AB1-51A2-44EC-B059-0ED421A803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8fefaf4e6e4f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cdd0e97bca3c42a6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A295E393-B934-404C-9530-1DC0EFF4D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92267D13-4C2A-4C10-9E26-ACAB875E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11  /  QUALITÄTSSICHERUNG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10CC07D-546C-41CA-86A6-305C631F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Was ist tatsächlich getestet?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5D57DE7-AF83-417C-A376-35B203CD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Automatisierte Tests sind von noch offenen manuellen Abnahmetests zu unterscheiden.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8BE9F06-3305-4175-A5A7-9061E02C7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1E7E28E1-C55B-4CDA-8055-F7478EBF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89A4F413-395B-4492-B99C-DF07BF39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11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E123D9E-C14E-4C4B-B361-7982A2AF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DF184DA9-4351-426B-8B14-1011C30F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F2AE38E-4C3C-4517-AA51-4081FEEFD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EE4417CE-42C3-4C76-AB08-24F442105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6971394F-2831-40A5-BD9A-6B26FD19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EA48147-EA72-4D98-911C-ECB2E9E0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E487F02-AACF-41D0-84C4-573C39BA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14E45A4-E0F4-4CD4-A876-8EAEBE307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AA7B08E6-08CB-4C48-ACE3-2718D5FC2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ECC4FE6F-1CA8-4977-BAC9-B11CDDD9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45520CC5-485F-4073-A621-2A09136A1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2761488"/>
            <a:ext cx="6547104" cy="29718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31A83E23-8F7F-40DE-8445-152395917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8376"/>
            <a:ext cx="544068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0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AUTOMATISCH VERIFIZIERT</a:t>
            </a:r>
            <a:endParaRPr sz="130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A45788C1-7002-4759-9A16-25C72F1D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" y="3543300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C1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B754A922-CA8A-4C19-BC20-89555594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53358"/>
            <a:ext cx="17373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✓</a:t>
            </a:r>
            <a:endParaRPr sz="100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DF129840-2530-4514-AE1F-789D4DDEB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502152"/>
            <a:ext cx="543153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50">
                <a:solidFill>
                  <a:srgbClr val="10263D"/>
                </a:solidFill>
                <a:latin typeface="Inter"/>
                <a:ea typeface="Inter"/>
                <a:cs typeface="Inter"/>
              </a:rPr>
              <a:t>Windows und Ubuntu: Debug/Release</a:t>
            </a:r>
            <a:endParaRPr sz="125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05B36AB0-8838-4DEE-B5FB-BE580DF56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" y="3936492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C1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3B6D93E9-BAAE-4813-9183-86B755A5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46550"/>
            <a:ext cx="17373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✓</a:t>
            </a:r>
            <a:endParaRPr sz="100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F09FFED-532B-4DEA-81E2-AD318B91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895344"/>
            <a:ext cx="543153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50">
                <a:solidFill>
                  <a:srgbClr val="10263D"/>
                </a:solidFill>
                <a:latin typeface="Inter"/>
                <a:ea typeface="Inter"/>
                <a:cs typeface="Inter"/>
              </a:rPr>
              <a:t>Board, Konsole und MatchSession</a:t>
            </a:r>
            <a:endParaRPr sz="125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A78EDBB4-6708-46A4-BDF6-66617B7C4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" y="4329684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C1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EB416AE2-7154-4036-9FFA-63DC1A624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9742"/>
            <a:ext cx="17373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✓</a:t>
            </a:r>
            <a:endParaRPr sz="100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CF71FB48-AA34-4C41-B3BD-404E91D8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288536"/>
            <a:ext cx="543153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50">
                <a:solidFill>
                  <a:srgbClr val="10263D"/>
                </a:solidFill>
                <a:latin typeface="Inter"/>
                <a:ea typeface="Inter"/>
                <a:cs typeface="Inter"/>
              </a:rPr>
              <a:t>GYM1, Revanche und Schreibfehler</a:t>
            </a:r>
            <a:endParaRPr sz="1250"/>
          </a:p>
        </p:txBody>
      </p:sp>
      <p:sp>
        <p:nvSpPr>
          <p:cNvPr id="37" name="Shape 33">
            <a:extLst xmlns:a="http://schemas.openxmlformats.org/drawingml/2006/main">
              <a:ext uri="{FF2B5EF4-FFF2-40B4-BE49-F238E27FC236}">
                <a16:creationId xmlns:a16="http://schemas.microsoft.com/office/drawing/2014/main" id="{6D4D838B-E6C7-448A-99C7-DA5EF96A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" y="4722876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C1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4">
            <a:extLst xmlns:a="http://schemas.openxmlformats.org/drawingml/2006/main">
              <a:ext uri="{FF2B5EF4-FFF2-40B4-BE49-F238E27FC236}">
                <a16:creationId xmlns:a16="http://schemas.microsoft.com/office/drawing/2014/main" id="{39B628EF-3A36-4196-A474-53B4CC00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32934"/>
            <a:ext cx="17373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✓</a:t>
            </a:r>
            <a:endParaRPr sz="1000"/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A754FA4D-1AFE-4A08-BDF0-D82E6DF1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81728"/>
            <a:ext cx="543153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50">
                <a:solidFill>
                  <a:srgbClr val="10263D"/>
                </a:solidFill>
                <a:latin typeface="Inter"/>
                <a:ea typeface="Inter"/>
                <a:cs typeface="Inter"/>
              </a:rPr>
              <a:t>GUI-Release-Builds auf beiden Systemen</a:t>
            </a:r>
            <a:endParaRPr sz="1250"/>
          </a:p>
        </p:txBody>
      </p:sp>
      <p:sp>
        <p:nvSpPr>
          <p:cNvPr id="40" name="Shape 36">
            <a:extLst xmlns:a="http://schemas.openxmlformats.org/drawingml/2006/main">
              <a:ext uri="{FF2B5EF4-FFF2-40B4-BE49-F238E27FC236}">
                <a16:creationId xmlns:a16="http://schemas.microsoft.com/office/drawing/2014/main" id="{AE2F7187-B708-4358-B6E9-5D850842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" y="5116068"/>
            <a:ext cx="192024" cy="192024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C1B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7">
            <a:extLst xmlns:a="http://schemas.openxmlformats.org/drawingml/2006/main">
              <a:ext uri="{FF2B5EF4-FFF2-40B4-BE49-F238E27FC236}">
                <a16:creationId xmlns:a16="http://schemas.microsoft.com/office/drawing/2014/main" id="{83F880C7-206E-4D4F-A62B-2259614F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26126"/>
            <a:ext cx="173736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0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✓</a:t>
            </a:r>
            <a:endParaRPr sz="1000"/>
          </a:p>
        </p:txBody>
      </p:sp>
      <p:sp>
        <p:nvSpPr>
          <p:cNvPr id="42" name="Text 38">
            <a:extLst xmlns:a="http://schemas.openxmlformats.org/drawingml/2006/main">
              <a:ext uri="{FF2B5EF4-FFF2-40B4-BE49-F238E27FC236}">
                <a16:creationId xmlns:a16="http://schemas.microsoft.com/office/drawing/2014/main" id="{9BF5A0E4-C70C-45F5-9B1B-5CAF0777D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074920"/>
            <a:ext cx="5431536" cy="265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50">
                <a:solidFill>
                  <a:srgbClr val="10263D"/>
                </a:solidFill>
                <a:latin typeface="Inter"/>
                <a:ea typeface="Inter"/>
                <a:cs typeface="Inter"/>
              </a:rPr>
              <a:t>Kurzer Linux-Fensterstart über Xvfb</a:t>
            </a:r>
            <a:endParaRPr sz="1250"/>
          </a:p>
        </p:txBody>
      </p:sp>
      <p:sp>
        <p:nvSpPr>
          <p:cNvPr id="43" name="Shape 39">
            <a:extLst xmlns:a="http://schemas.openxmlformats.org/drawingml/2006/main">
              <a:ext uri="{FF2B5EF4-FFF2-40B4-BE49-F238E27FC236}">
                <a16:creationId xmlns:a16="http://schemas.microsoft.com/office/drawing/2014/main" id="{10ECA3F7-3162-46F7-9230-C1CA178C8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761488"/>
            <a:ext cx="4096512" cy="29718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0">
            <a:extLst xmlns:a="http://schemas.openxmlformats.org/drawingml/2006/main">
              <a:ext uri="{FF2B5EF4-FFF2-40B4-BE49-F238E27FC236}">
                <a16:creationId xmlns:a16="http://schemas.microsoft.com/office/drawing/2014/main" id="{9ECF43FB-54F4-4F5B-90FD-23EADB84B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8" y="3017520"/>
            <a:ext cx="3630168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8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MANUELL NOCH NACHWEISEN</a:t>
            </a:r>
            <a:endParaRPr sz="1280"/>
          </a:p>
        </p:txBody>
      </p:sp>
      <p:sp>
        <p:nvSpPr>
          <p:cNvPr id="45" name="Text 41">
            <a:extLst xmlns:a="http://schemas.openxmlformats.org/drawingml/2006/main">
              <a:ext uri="{FF2B5EF4-FFF2-40B4-BE49-F238E27FC236}">
                <a16:creationId xmlns:a16="http://schemas.microsoft.com/office/drawing/2014/main" id="{E9EF04CD-C391-48E1-9294-D36509BD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528" y="3685032"/>
            <a:ext cx="3575304" cy="1600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557087"/>
                </a:solidFill>
                <a:latin typeface="Inter"/>
                <a:ea typeface="Inter"/>
                <a:cs typeface="Inter"/>
              </a:rPr>
              <a:t>• Lokaler UCRT64-F5-Start</a:t>
            </a:r>
            <a:endParaRPr sz="126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557087"/>
                </a:solidFill>
                <a:latin typeface="Inter"/>
                <a:ea typeface="Inter"/>
                <a:cs typeface="Inter"/>
              </a:rPr>
              <a:t>• Mausbedienung und ganze Partie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557087"/>
                </a:solidFill>
                <a:latin typeface="Inter"/>
                <a:ea typeface="Inter"/>
                <a:cs typeface="Inter"/>
              </a:rPr>
              <a:t>• Schullogo und tatsächlicher Hörtest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60">
                <a:solidFill>
                  <a:srgbClr val="557087"/>
                </a:solidFill>
                <a:latin typeface="Inter"/>
                <a:ea typeface="Inter"/>
                <a:cs typeface="Inter"/>
              </a:rPr>
              <a:t>• PowerPoint und Schulbeamer</a:t>
            </a:r>
          </a:p>
        </p:txBody>
      </p:sp>
      <p:sp>
        <p:nvSpPr>
          <p:cNvPr id="46" name="Text 42">
            <a:extLst xmlns:a="http://schemas.openxmlformats.org/drawingml/2006/main">
              <a:ext uri="{FF2B5EF4-FFF2-40B4-BE49-F238E27FC236}">
                <a16:creationId xmlns:a16="http://schemas.microsoft.com/office/drawing/2014/main" id="{3B5BCF67-8B51-4A6A-865D-26D918BA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6053328"/>
            <a:ext cx="1063447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90">
                <a:solidFill>
                  <a:srgbClr val="557087"/>
                </a:solidFill>
                <a:latin typeface="Inter"/>
                <a:ea typeface="Inter"/>
                <a:cs typeface="Inter"/>
              </a:rPr>
              <a:t>Nachweis: Commit 02eb79f8, sechs C++-/GUI-Jobs erfolgreich. CI-Snapshot in docs/evidence/.</a:t>
            </a:r>
            <a:endParaRPr sz="1090"/>
          </a:p>
        </p:txBody>
      </p:sp>
    </p:spTree>
    <p:extLst>
      <p:ext uri="{BB962C8B-B14F-4D97-AF65-F5344CB8AC3E}">
        <p14:creationId xmlns:p14="http://schemas.microsoft.com/office/powerpoint/2010/main" val="63575123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1D7BAE-2033-4CC2-A133-C8AB363F6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FB6A72-E464-44F4-9A0F-DB698D9DD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12EC8CA-D228-422E-99B0-1B6B309A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8DDF6CA9-C0DD-4224-90B3-3842070F2D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a143e9caf4d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C360358-E8AD-42FF-9177-62B323D3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F8156A9-B485-4C19-B5FF-7305670D7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3E14B62F-50AF-4853-A931-EAD658ABAD3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32a8e34a5040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a3e45bf9766b4a56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BE22AF61-3900-430B-BF7A-B2825EAB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FF977326-DCA3-4E13-B306-4DD3E70E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12  /  PROJEKTSTAND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8581E26-E3D1-4A61-AA7B-00CAFFEF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Implementierter Stand und verbleibende Abnahme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95E9E14-FCB7-419C-A17C-3AC348B4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Die Konsole und die zusätzliche SFML-2D-GUI liegen im Entwicklungsbranch. PR #1 ist noch Draft.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2F6E034-FC2A-4875-9668-392E5BCC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C869668-8640-4CFF-890A-F901F0DB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DD708C9B-3792-40E1-83A2-7F92ACC2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12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03F17631-7973-4BDF-A8A7-D8221ADC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20DD9B3C-0325-40FC-9253-588699E3F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B1B35763-3DED-4479-9053-AF5B7B7A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0487536E-B4CE-4F20-83D0-2E97F784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1A1E7A3-9BF9-4B60-AA04-0744EABC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ED8718CD-D45B-47DC-A00C-DA530869E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1671F3E4-BA2E-4F57-90BC-52876B9B5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CF5F7880-F86C-476D-BFA4-8C0BD7B4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FDC6B542-CB80-47B4-AC3D-CEF19678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67ABA1E1-E797-4D77-B489-FF24A2EF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0B4BCBD9-68BC-4DD0-9E64-2759BFD0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2734056"/>
            <a:ext cx="5404104" cy="3145536"/>
          </a:xfrm>
          <a:prstGeom xmlns:a="http://schemas.openxmlformats.org/drawingml/2006/main" prst="roundRect">
            <a:avLst>
              <a:gd name="adj" fmla="val 37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5EBEE827-11F0-4B77-B9ED-2BC053B9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734056"/>
            <a:ext cx="5321808" cy="3145536"/>
          </a:xfrm>
          <a:prstGeom xmlns:a="http://schemas.openxmlformats.org/drawingml/2006/main" prst="roundRect">
            <a:avLst>
              <a:gd name="adj" fmla="val 37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A98E3C9E-7338-48F6-85E2-DEA00F37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" y="2734056"/>
            <a:ext cx="5404104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791FE070-7AEC-4F2A-B6ED-53ABD6F8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2880360"/>
            <a:ext cx="4928616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IM QUELLCODE VORHANDEN</a:t>
            </a:r>
            <a:endParaRPr sz="127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CE660C7B-B908-42C1-8960-AE7D23BD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2152"/>
            <a:ext cx="4773168" cy="20025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Konsole und SFML-2D-Spiel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Maus/Tastatur und Hantelanimation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Speichern/Laden und Revanche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120-BPM-Beat mit F9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Schullogo und JK-AXIS-Symbol</a:t>
            </a:r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E25C673F-D114-4E61-A1BD-C31BE729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734056"/>
            <a:ext cx="5321808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4185EC0E-FAC6-4A9F-81C0-95A50BEC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880360"/>
            <a:ext cx="4846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7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OFFEN ODER NICHT IM UMFANG</a:t>
            </a:r>
            <a:endParaRPr sz="127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13753F3-22C8-450F-9B4D-998CF737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502152"/>
            <a:ext cx="4690872" cy="20025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Lokaler F5-/Hörtest und Generalprobe</a:t>
            </a:r>
            <a:endParaRPr sz="1400"/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Vollständige Schulabnahme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3D-Spiel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Online-Multiplayer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00">
                <a:solidFill>
                  <a:srgbClr val="10263D"/>
                </a:solidFill>
                <a:latin typeface="Inter"/>
                <a:ea typeface="Inter"/>
                <a:cs typeface="Inter"/>
              </a:rPr>
              <a:t>• KI-Gegner</a:t>
            </a:r>
          </a:p>
        </p:txBody>
      </p:sp>
    </p:spTree>
    <p:extLst>
      <p:ext uri="{BB962C8B-B14F-4D97-AF65-F5344CB8AC3E}">
        <p14:creationId xmlns:p14="http://schemas.microsoft.com/office/powerpoint/2010/main" val="119683485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ADA3886-7FF4-416B-8DC0-07868587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25CDC93-899D-4C08-AACA-26B6B1BA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3BDDAD0-6787-49BD-A9A7-EFD7855D3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1FD6C053-2B43-4D1E-94F6-6E6714B311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7f9d1deee4f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112577F-D874-40C9-BF7A-8198A7FB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D6ECB99E-DB1D-4482-88D2-66D55C84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A54D5ADF-BE8D-440A-BB62-EC6911AA15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dd47c2445a419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2fe0717edc8645f3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5C179645-8EA8-45F0-B7D9-CDCE6B45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14655FF4-DB79-46E3-9A7A-6C59B87B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13  /  FAZIT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B5AE41D-FA11-4323-99AB-AF1B281FA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Gemeinsame Regeln und nachvollziehbare Abläufe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F5E6791D-C7F3-416B-83A9-C5592363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Das Projekt verbindet objektorientierte Modellierung, Regelalgorithmen und sichere Dateiverarbeitung.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D230F95-3FE9-48DF-8115-81DDE5A3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5A7E8C0D-F2D4-40DA-93AC-FF3CB34DD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4E00ABB-098C-4A91-A0B1-9DF33422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13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D4202738-0AD6-4D91-AF10-28F4E7C4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441448"/>
            <a:ext cx="135331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FFBC6E59-F448-4287-A745-C8365306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2471623"/>
            <a:ext cx="128016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PROJEKT</a:t>
            </a:r>
            <a:endParaRPr sz="665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D396839-1179-4DD6-9A60-FA0A3156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41448"/>
            <a:ext cx="2523744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B57FC3CB-0295-48A9-B002-CC91E140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471623"/>
            <a:ext cx="2450592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SPIELABLAUF + OOP</a:t>
            </a:r>
            <a:endParaRPr sz="665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75AF39F-5A2F-4B7E-86BC-451C16CD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41448"/>
            <a:ext cx="2029968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9A874435-C148-4851-935F-DA1712BFD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2471623"/>
            <a:ext cx="1956816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ALGORITHMEN</a:t>
            </a:r>
            <a:endParaRPr sz="665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40085457-652E-4C42-90F7-798DABB3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41448"/>
            <a:ext cx="190195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927389D-592D-4F7F-AF4C-A3CB08FE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471623"/>
            <a:ext cx="182880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TEST + STATUS</a:t>
            </a:r>
            <a:endParaRPr sz="665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618E15C5-E738-4940-BB90-CC7F74916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3376" y="2441448"/>
            <a:ext cx="1490472" cy="164592"/>
          </a:xfrm>
          <a:prstGeom xmlns:a="http://schemas.openxmlformats.org/drawingml/2006/main" prst="roundRect">
            <a:avLst>
              <a:gd name="adj" fmla="val 1944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71FD6A14-9931-460F-ABDE-591A8F83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952" y="2471623"/>
            <a:ext cx="1417320" cy="960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665" b="1">
                <a:solidFill>
                  <a:srgbClr val="557087"/>
                </a:solidFill>
                <a:latin typeface="Inter"/>
                <a:ea typeface="Inter"/>
                <a:cs typeface="Inter"/>
              </a:rPr>
              <a:t>LIVE-CODE</a:t>
            </a:r>
            <a:endParaRPr sz="665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3FA340BB-8035-4184-884A-D69F1B49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98064"/>
            <a:ext cx="3465576" cy="2295144"/>
          </a:xfrm>
          <a:prstGeom xmlns:a="http://schemas.openxmlformats.org/drawingml/2006/main" prst="roundRect">
            <a:avLst>
              <a:gd name="adj" fmla="val 51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3">
            <a:extLst xmlns:a="http://schemas.openxmlformats.org/drawingml/2006/main">
              <a:ext uri="{FF2B5EF4-FFF2-40B4-BE49-F238E27FC236}">
                <a16:creationId xmlns:a16="http://schemas.microsoft.com/office/drawing/2014/main" id="{71CA0718-7BC6-4620-8310-64E115D7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026664"/>
            <a:ext cx="50292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6E912EAC-9DCD-47C5-BA9F-3C10ED7F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" y="2999232"/>
            <a:ext cx="293522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01  Struktur</a:t>
            </a:r>
            <a:endParaRPr sz="1620"/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D9943A27-1E98-4183-B8A3-861A61D4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" y="3511296"/>
            <a:ext cx="3063240" cy="1408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>
                <a:solidFill>
                  <a:srgbClr val="557087"/>
                </a:solidFill>
                <a:latin typeface="Inter"/>
                <a:ea typeface="Inter"/>
                <a:cs typeface="Inter"/>
              </a:rPr>
              <a:t>Game steuert die Konsole, MatchSession die GUI-Partie. Beide nutzen Board.</a:t>
            </a:r>
            <a:endParaRPr sz="121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37F45838-DC07-4B34-952F-85CD7B8F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0832" y="2798064"/>
            <a:ext cx="3465576" cy="2295144"/>
          </a:xfrm>
          <a:prstGeom xmlns:a="http://schemas.openxmlformats.org/drawingml/2006/main" prst="roundRect">
            <a:avLst>
              <a:gd name="adj" fmla="val 51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3388E0F6-C85D-4895-9FAF-5DEA92CB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4568" y="3026664"/>
            <a:ext cx="50292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EF"/>
          </a:solidFill>
          <a:ln xmlns:a="http://schemas.openxmlformats.org/drawingml/2006/main" w="12700">
            <a:solidFill>
              <a:srgbClr val="35C8E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EBA0C8E2-9687-4B57-B391-4097FB286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7448" y="2999232"/>
            <a:ext cx="293522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02  Logik</a:t>
            </a:r>
            <a:endParaRPr sz="162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C0FC2C24-2FD6-40DC-885F-0760627D3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11296"/>
            <a:ext cx="3063240" cy="1408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>
                <a:solidFill>
                  <a:srgbClr val="557087"/>
                </a:solidFill>
                <a:latin typeface="Inter"/>
                <a:ea typeface="Inter"/>
                <a:cs typeface="Inter"/>
              </a:rPr>
              <a:t>Ein zentraler Algorithmus prüft jede mögliche Gewinnrichtung.</a:t>
            </a:r>
            <a:endParaRPr sz="121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60FD270B-1502-4563-961C-612532AC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864" y="2798064"/>
            <a:ext cx="3465576" cy="2295144"/>
          </a:xfrm>
          <a:prstGeom xmlns:a="http://schemas.openxmlformats.org/drawingml/2006/main" prst="roundRect">
            <a:avLst>
              <a:gd name="adj" fmla="val 517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1">
            <a:extLst xmlns:a="http://schemas.openxmlformats.org/drawingml/2006/main">
              <a:ext uri="{FF2B5EF4-FFF2-40B4-BE49-F238E27FC236}">
                <a16:creationId xmlns:a16="http://schemas.microsoft.com/office/drawing/2014/main" id="{24566D7C-0F12-43DA-BC45-FEA367D0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26664"/>
            <a:ext cx="50292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C1B0"/>
          </a:solidFill>
          <a:ln xmlns:a="http://schemas.openxmlformats.org/drawingml/2006/main" w="12700">
            <a:solidFill>
              <a:srgbClr val="59C1B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5573D17F-558A-447C-9C8C-FB11D428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999232"/>
            <a:ext cx="2935224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6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03  Robustheit</a:t>
            </a:r>
            <a:endParaRPr sz="1620"/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423DCDB-A801-4D18-8012-31784564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3511296"/>
            <a:ext cx="3063240" cy="14081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>
                <a:solidFill>
                  <a:srgbClr val="557087"/>
                </a:solidFill>
                <a:latin typeface="Inter"/>
                <a:ea typeface="Inter"/>
                <a:cs typeface="Inter"/>
              </a:rPr>
              <a:t>Ungültige Eingaben und geprüfte Schreibfehler werden kontrolliert abgefangen.</a:t>
            </a:r>
            <a:endParaRPr sz="1210"/>
          </a:p>
        </p:txBody>
      </p:sp>
      <p:sp>
        <p:nvSpPr>
          <p:cNvPr id="38" name="Shape 34">
            <a:extLst xmlns:a="http://schemas.openxmlformats.org/drawingml/2006/main">
              <a:ext uri="{FF2B5EF4-FFF2-40B4-BE49-F238E27FC236}">
                <a16:creationId xmlns:a16="http://schemas.microsoft.com/office/drawing/2014/main" id="{03FF170E-6A4F-4D4D-A560-016DBDD2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77840"/>
            <a:ext cx="10716768" cy="4572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12700">
            <a:solidFill>
              <a:srgbClr val="0A2544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074FB-EA36-4182-9B27-43992505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" y="5733288"/>
            <a:ext cx="1001268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250" b="1" spc="70">
                <a:solidFill>
                  <a:srgbClr val="FFFFFF"/>
                </a:solidFill>
                <a:latin typeface="Inter"/>
                <a:ea typeface="Inter"/>
                <a:cs typeface="Inter"/>
              </a:rPr>
              <a:t>NÄCHSTER SCHRITT  →  QUELLCODE LIVE IM EDITOR</a:t>
            </a:r>
            <a:endParaRPr sz="1250"/>
          </a:p>
        </p:txBody>
      </p:sp>
    </p:spTree>
    <p:extLst>
      <p:ext uri="{BB962C8B-B14F-4D97-AF65-F5344CB8AC3E}">
        <p14:creationId xmlns:p14="http://schemas.microsoft.com/office/powerpoint/2010/main" val="120028576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2FA966F4-A6C6-495A-B6BA-290110E6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3E848934-C522-41C7-9AD9-CBCF95F7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04C2E1E-673F-4F62-BA4E-58AE6253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3D7FE8AD-A80B-4D98-A27E-073A2598A6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5ef64963a4b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F1549A8-E96B-4C66-8C5B-5710F9C0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A7357A56-5854-4CFF-92ED-A667CE1B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EB8CCA33-9864-4181-8719-757955A3A31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940748ba064f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6070b4c3e62047f0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C5B14BB5-F0DB-432F-B8A8-57160ADE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5FAD76CD-7F38-44B2-A6DD-9AD67202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35C8EF"/>
                </a:solidFill>
                <a:latin typeface="Inter"/>
                <a:ea typeface="Inter"/>
                <a:cs typeface="Inter"/>
              </a:rPr>
              <a:t>14  /  LIVE-CODE / AGENDA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C7B91B3-A0D3-49BD-873C-00FD4BCA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Code und beide Spielversionen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89517178-8740-4BA4-A2AD-C9707B88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A7BDD0"/>
                </a:solidFill>
                <a:latin typeface="Inter"/>
                <a:ea typeface="Inter"/>
                <a:cs typeface="Inter"/>
              </a:rPr>
              <a:t>15 Minuten für Einstiegspunkte, Board, Gewinnlogik, Dateien und die kurze Vorführung.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8701FA9-97A8-402B-9DB4-938A2F950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23436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387D556-64CC-4F72-BDD0-4EA45D6F4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A7BDD0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19A6975F-800D-4AB2-BA35-B85486D55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A7BDD0"/>
                </a:solidFill>
                <a:latin typeface="Inter"/>
                <a:ea typeface="Inter"/>
                <a:cs typeface="Inter"/>
              </a:rPr>
              <a:t>14 / 14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9BA4CBB3-18B5-42C0-B96D-0379EA67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4640"/>
            <a:ext cx="2130552" cy="2267712"/>
          </a:xfrm>
          <a:prstGeom xmlns:a="http://schemas.openxmlformats.org/drawingml/2006/main" prst="roundRect">
            <a:avLst>
              <a:gd name="adj" fmla="val 557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8255">
            <a:solidFill>
              <a:srgbClr val="24507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378C250-351B-4A17-9B7E-CD58413D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163824"/>
            <a:ext cx="1783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1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00–02</a:t>
            </a:r>
            <a:endParaRPr sz="2100"/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0E16FEAD-91D3-4A7A-B32D-2D97159C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3776472"/>
            <a:ext cx="512064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DAC323DB-A555-40E0-9A79-B13D74B8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" y="4041648"/>
            <a:ext cx="1792224" cy="8412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1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main.cpp und gui/Main.cpp</a:t>
            </a:r>
            <a:endParaRPr sz="131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0FAE6BF0-0AC8-4D9D-BA22-AF33B852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2834640"/>
            <a:ext cx="2130552" cy="2267712"/>
          </a:xfrm>
          <a:prstGeom xmlns:a="http://schemas.openxmlformats.org/drawingml/2006/main" prst="roundRect">
            <a:avLst>
              <a:gd name="adj" fmla="val 557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8255">
            <a:solidFill>
              <a:srgbClr val="24507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A4A9AA58-2018-41D9-B187-274046516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163824"/>
            <a:ext cx="1783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1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02–05</a:t>
            </a:r>
            <a:endParaRPr sz="21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D161A09E-2F89-4B13-BC0A-A0EFA9E74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3776472"/>
            <a:ext cx="512064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5050DF3-5E48-497D-AAE0-FB37881F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041648"/>
            <a:ext cx="1792224" cy="8412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1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Board-Konstruktor &amp; Spielfeld</a:t>
            </a:r>
            <a:endParaRPr sz="131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BEB5F782-3E85-4C1A-87AE-372C1B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4376" y="2834640"/>
            <a:ext cx="2130552" cy="2267712"/>
          </a:xfrm>
          <a:prstGeom xmlns:a="http://schemas.openxmlformats.org/drawingml/2006/main" prst="roundRect">
            <a:avLst>
              <a:gd name="adj" fmla="val 557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8255">
            <a:solidFill>
              <a:srgbClr val="24507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958AFD6F-0240-4B94-A9AE-655BC2F5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3163824"/>
            <a:ext cx="1783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1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05–08</a:t>
            </a:r>
            <a:endParaRPr sz="2100"/>
          </a:p>
        </p:txBody>
      </p:sp>
      <p:sp>
        <p:nvSpPr>
          <p:cNvPr id="26" name="Shape 22">
            <a:extLst xmlns:a="http://schemas.openxmlformats.org/drawingml/2006/main">
              <a:ext uri="{FF2B5EF4-FFF2-40B4-BE49-F238E27FC236}">
                <a16:creationId xmlns:a16="http://schemas.microsoft.com/office/drawing/2014/main" id="{E1CEF0BC-9AE0-4E24-AECB-055AC2AE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3776472"/>
            <a:ext cx="512064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8ED30689-5E92-42DE-8979-7C4F7590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968" y="4041648"/>
            <a:ext cx="1792224" cy="8412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1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drop() &amp; hasWon()</a:t>
            </a:r>
            <a:endParaRPr sz="131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45153872-7B66-4B25-845A-9C4D0CFC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664" y="2834640"/>
            <a:ext cx="2130552" cy="2267712"/>
          </a:xfrm>
          <a:prstGeom xmlns:a="http://schemas.openxmlformats.org/drawingml/2006/main" prst="roundRect">
            <a:avLst>
              <a:gd name="adj" fmla="val 557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8255">
            <a:solidFill>
              <a:srgbClr val="24507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BE637A44-A39F-4A2A-8C1B-2097E21F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256" y="3163824"/>
            <a:ext cx="1783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1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08–11</a:t>
            </a:r>
            <a:endParaRPr sz="2100"/>
          </a:p>
        </p:txBody>
      </p:sp>
      <p:sp>
        <p:nvSpPr>
          <p:cNvPr id="30" name="Shape 26">
            <a:extLst xmlns:a="http://schemas.openxmlformats.org/drawingml/2006/main">
              <a:ext uri="{FF2B5EF4-FFF2-40B4-BE49-F238E27FC236}">
                <a16:creationId xmlns:a16="http://schemas.microsoft.com/office/drawing/2014/main" id="{A1A05B5E-51D5-4F12-8A60-F6FDE3216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256" y="3776472"/>
            <a:ext cx="512064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A8D20CE6-FDF8-4B31-B3A3-AB55A9DA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3256" y="4041648"/>
            <a:ext cx="1792224" cy="8412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1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MatchSession und Dateien</a:t>
            </a:r>
            <a:endParaRPr sz="1310"/>
          </a:p>
        </p:txBody>
      </p:sp>
      <p:sp>
        <p:nvSpPr>
          <p:cNvPr id="32" name="Shape 28">
            <a:extLst xmlns:a="http://schemas.openxmlformats.org/drawingml/2006/main">
              <a:ext uri="{FF2B5EF4-FFF2-40B4-BE49-F238E27FC236}">
                <a16:creationId xmlns:a16="http://schemas.microsoft.com/office/drawing/2014/main" id="{219006C5-E798-49F0-938B-B2599D7F9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2952" y="2834640"/>
            <a:ext cx="2130552" cy="2267712"/>
          </a:xfrm>
          <a:prstGeom xmlns:a="http://schemas.openxmlformats.org/drawingml/2006/main" prst="roundRect">
            <a:avLst>
              <a:gd name="adj" fmla="val 5579"/>
            </a:avLst>
          </a:prstGeom>
          <a:solidFill xmlns:a="http://schemas.openxmlformats.org/drawingml/2006/main">
            <a:srgbClr val="0A2544"/>
          </a:solidFill>
          <a:ln xmlns:a="http://schemas.openxmlformats.org/drawingml/2006/main" w="8255">
            <a:solidFill>
              <a:srgbClr val="24507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06404FA7-D679-44FB-BE80-86BA8E04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544" y="3163824"/>
            <a:ext cx="17830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100" b="1">
                <a:solidFill>
                  <a:srgbClr val="35C8EF"/>
                </a:solidFill>
                <a:latin typeface="Inter"/>
                <a:ea typeface="Inter"/>
                <a:cs typeface="Inter"/>
              </a:rPr>
              <a:t>11–15</a:t>
            </a:r>
            <a:endParaRPr sz="2100"/>
          </a:p>
        </p:txBody>
      </p:sp>
      <p:sp>
        <p:nvSpPr>
          <p:cNvPr id="34" name="Shape 30">
            <a:extLst xmlns:a="http://schemas.openxmlformats.org/drawingml/2006/main">
              <a:ext uri="{FF2B5EF4-FFF2-40B4-BE49-F238E27FC236}">
                <a16:creationId xmlns:a16="http://schemas.microsoft.com/office/drawing/2014/main" id="{F35BF65B-2AC2-48CF-A098-EA8F72692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544" y="3776472"/>
            <a:ext cx="512064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F2114798-D054-461D-A981-613DF34B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7544" y="4041648"/>
            <a:ext cx="1792224" cy="8412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10" b="1">
                <a:solidFill>
                  <a:srgbClr val="FFFFFF"/>
                </a:solidFill>
                <a:latin typeface="Inter"/>
                <a:ea typeface="Inter"/>
                <a:cs typeface="Inter"/>
              </a:rPr>
              <a:t>GUI und Konsole</a:t>
            </a:r>
            <a:endParaRPr sz="1310"/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73808861-EF63-461C-8110-9DF2B953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632704"/>
            <a:ext cx="1077163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buNone/>
            </a:pPr>
            <a:r>
              <a:rPr sz="1300">
                <a:solidFill>
                  <a:srgbClr val="A7BDD0"/>
                </a:solidFill>
                <a:latin typeface="Inter"/>
                <a:ea typeface="Inter"/>
                <a:cs typeface="Inter"/>
              </a:rPr>
              <a:t>Vorher fertig bauen. demo.ps1 startet zuerst das 2D-Fenster und nach dessen Ende die Konsole.</a:t>
            </a:r>
            <a:endParaRPr sz="1300"/>
          </a:p>
        </p:txBody>
      </p:sp>
    </p:spTree>
    <p:extLst>
      <p:ext uri="{BB962C8B-B14F-4D97-AF65-F5344CB8AC3E}">
        <p14:creationId xmlns:p14="http://schemas.microsoft.com/office/powerpoint/2010/main" val="12245812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F76FED3-F0E9-408D-8B8F-8CE24B9EF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404BDFDE-832E-4FB7-A634-DE05F50D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E6DBB17-068A-476B-B39F-A933DBDC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2A511763-7FEA-450B-BDD1-2D524FA98E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7227a65a1a412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3368D1EE-2846-4061-954F-2EF4F2424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35A1E3F-4C28-42C3-BEE6-E6D93349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7E7FC328-73AD-4615-89D0-3301474A3D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792a4c1de74e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cb72e8cd670149d5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8A671079-D68D-46BE-AED7-47166E068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66D55D69-2DCF-4782-ACC1-1A0C58BCB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15  /  RESERVE / RÜCKFRAGEN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1CA3EF1-4329-444D-82B2-F8051FD75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Code-Navigation auf einen Blick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CAEE9A84-D677-4DBF-B9F3-F91ECE94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Bei Detailfragen lassen sich die Funktionen in den zugehörigen Dateien direkt zeigen.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CFA3C17-21D0-4850-90C1-FBF42891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350D035-E00D-49C4-8AF7-A9F5364A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426D7FC-9FD5-4D94-838C-8CCD9D283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RESERVE 01/03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B8100E0C-83F3-4004-B7E1-8C837BE8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60904"/>
            <a:ext cx="10881360" cy="466344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9A719CEC-86BD-4B9F-BC8F-A6E974C62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770632"/>
            <a:ext cx="30632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 b="1">
                <a:solidFill>
                  <a:srgbClr val="2478F6"/>
                </a:solidFill>
                <a:latin typeface="Liberation Mono"/>
                <a:ea typeface="Liberation Mono"/>
                <a:cs typeface="Liberation Mono"/>
              </a:rPr>
              <a:t>main.cpp / gui/Main.cpp</a:t>
            </a:r>
            <a:endParaRPr sz="121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15202452-5C3E-4F78-B7F7-F6254DDF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770632"/>
            <a:ext cx="71048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>
                <a:solidFill>
                  <a:srgbClr val="10263D"/>
                </a:solidFill>
                <a:latin typeface="Inter"/>
                <a:ea typeface="Inter"/>
                <a:cs typeface="Inter"/>
              </a:rPr>
              <a:t>Zwei Programme: Game starten oder App mit SFML ausführen</a:t>
            </a:r>
            <a:endParaRPr sz="124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9028D0A8-CC30-4D72-BD4E-CDFFF371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200400"/>
            <a:ext cx="10881360" cy="466344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576D40C-4A1D-4E02-9D7F-287EB25D9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10128"/>
            <a:ext cx="30632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 b="1">
                <a:solidFill>
                  <a:srgbClr val="2478F6"/>
                </a:solidFill>
                <a:latin typeface="Liberation Mono"/>
                <a:ea typeface="Liberation Mono"/>
                <a:cs typeface="Liberation Mono"/>
              </a:rPr>
              <a:t>Game.h / MatchSession.h</a:t>
            </a:r>
            <a:endParaRPr sz="121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69C6FEE2-A6D4-4685-8C90-5463C6BC4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310128"/>
            <a:ext cx="71048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>
                <a:solidFill>
                  <a:srgbClr val="10263D"/>
                </a:solidFill>
                <a:latin typeface="Inter"/>
                <a:ea typeface="Inter"/>
                <a:cs typeface="Inter"/>
              </a:rPr>
              <a:t>Getrennte Controller, Partiedaten und Dateioperationen</a:t>
            </a:r>
            <a:endParaRPr sz="124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0461A79D-4491-4C9B-9FF9-54805748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39896"/>
            <a:ext cx="10881360" cy="466344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2AC41AD-E652-42AD-B727-0BECDAF0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849624"/>
            <a:ext cx="30632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 b="1">
                <a:solidFill>
                  <a:srgbClr val="2478F6"/>
                </a:solidFill>
                <a:latin typeface="Liberation Mono"/>
                <a:ea typeface="Liberation Mono"/>
                <a:cs typeface="Liberation Mono"/>
              </a:rPr>
              <a:t>Board.h / Board.cpp</a:t>
            </a:r>
            <a:endParaRPr sz="121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EDBD10A5-627A-49CC-9A61-7B0C55E4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3849624"/>
            <a:ext cx="71048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>
                <a:solidFill>
                  <a:srgbClr val="10263D"/>
                </a:solidFill>
                <a:latin typeface="Inter"/>
                <a:ea typeface="Inter"/>
                <a:cs typeface="Inter"/>
              </a:rPr>
              <a:t>Raster, nextFreeRow(), drop(), hasWon() und winningCells()</a:t>
            </a:r>
            <a:endParaRPr sz="124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8D69E75-364A-43CA-A7F5-5D653478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79392"/>
            <a:ext cx="10881360" cy="466344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23EDECF3-FA0A-4FB5-84D0-281C9CDC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389120"/>
            <a:ext cx="30632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 b="1">
                <a:solidFill>
                  <a:srgbClr val="2478F6"/>
                </a:solidFill>
                <a:latin typeface="Liberation Mono"/>
                <a:ea typeface="Liberation Mono"/>
                <a:cs typeface="Liberation Mono"/>
              </a:rPr>
              <a:t>src/ConsoleUI.cpp</a:t>
            </a:r>
            <a:endParaRPr sz="121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368DFE81-F1B6-4A1D-ABF6-99CD9F94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389120"/>
            <a:ext cx="71048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>
                <a:solidFill>
                  <a:srgbClr val="10263D"/>
                </a:solidFill>
                <a:latin typeface="Inter"/>
                <a:ea typeface="Inter"/>
                <a:cs typeface="Inter"/>
              </a:rPr>
              <a:t>Terminal-Arena und echte Animationsbilder</a:t>
            </a:r>
            <a:endParaRPr sz="1240"/>
          </a:p>
        </p:txBody>
      </p:sp>
      <p:sp>
        <p:nvSpPr>
          <p:cNvPr id="28" name="Shape 24">
            <a:extLst xmlns:a="http://schemas.openxmlformats.org/drawingml/2006/main">
              <a:ext uri="{FF2B5EF4-FFF2-40B4-BE49-F238E27FC236}">
                <a16:creationId xmlns:a16="http://schemas.microsoft.com/office/drawing/2014/main" id="{14031681-B870-47C1-B860-3AA95D77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18888"/>
            <a:ext cx="10881360" cy="466344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88C0F675-DB78-428B-86CE-098951B6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928616"/>
            <a:ext cx="30632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 b="1">
                <a:solidFill>
                  <a:srgbClr val="2478F6"/>
                </a:solidFill>
                <a:latin typeface="Liberation Mono"/>
                <a:ea typeface="Liberation Mono"/>
                <a:cs typeface="Liberation Mono"/>
              </a:rPr>
              <a:t>src/gui/GymBeat.h</a:t>
            </a:r>
            <a:endParaRPr sz="1210"/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B43A361B-2C85-4D93-9ADE-4273A2D9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4928616"/>
            <a:ext cx="71048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>
                <a:solidFill>
                  <a:srgbClr val="10263D"/>
                </a:solidFill>
                <a:latin typeface="Inter"/>
                <a:ea typeface="Inter"/>
                <a:cs typeface="Inter"/>
              </a:rPr>
              <a:t>Synthetischer 120-BPM-Loop und Wiedergabe</a:t>
            </a:r>
            <a:endParaRPr sz="1240"/>
          </a:p>
        </p:txBody>
      </p:sp>
      <p:sp>
        <p:nvSpPr>
          <p:cNvPr id="31" name="Shape 27">
            <a:extLst xmlns:a="http://schemas.openxmlformats.org/drawingml/2006/main">
              <a:ext uri="{FF2B5EF4-FFF2-40B4-BE49-F238E27FC236}">
                <a16:creationId xmlns:a16="http://schemas.microsoft.com/office/drawing/2014/main" id="{8F010D6B-2E9D-4585-9B0F-BF2A9C02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358384"/>
            <a:ext cx="10881360" cy="466344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EF4F9"/>
          </a:solidFill>
          <a:ln xmlns:a="http://schemas.openxmlformats.org/drawingml/2006/main" w="12700">
            <a:solidFill>
              <a:srgbClr val="EEF4F9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0130F74D-35F2-4C80-BFAF-9BCC9AF8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5468112"/>
            <a:ext cx="30632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10" b="1">
                <a:solidFill>
                  <a:srgbClr val="2478F6"/>
                </a:solidFill>
                <a:latin typeface="Liberation Mono"/>
                <a:ea typeface="Liberation Mono"/>
                <a:cs typeface="Liberation Mono"/>
              </a:rPr>
              <a:t>include/AtomicFile.h</a:t>
            </a:r>
            <a:endParaRPr sz="1210"/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BC9A1F8B-91EF-43A1-8B77-A7ACA7E3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5468112"/>
            <a:ext cx="7104888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>
                <a:solidFill>
                  <a:srgbClr val="10263D"/>
                </a:solidFill>
                <a:latin typeface="Inter"/>
                <a:ea typeface="Inter"/>
                <a:cs typeface="Inter"/>
              </a:rPr>
              <a:t>Temporär schreiben, prüfen und Zieldatei ersetzen</a:t>
            </a:r>
            <a:endParaRPr sz="1240"/>
          </a:p>
        </p:txBody>
      </p:sp>
    </p:spTree>
    <p:extLst>
      <p:ext uri="{BB962C8B-B14F-4D97-AF65-F5344CB8AC3E}">
        <p14:creationId xmlns:p14="http://schemas.microsoft.com/office/powerpoint/2010/main" val="4195148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071BA76-180F-4AAD-868F-594C0EC2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C8597586-8961-4898-B8D6-BC516F03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D2C34E8D-48FC-4417-88A3-700BC122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9992F15E-BC4B-440C-AF5A-F36BD8EEDD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2b636ba98e4c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150C15F-817A-431A-B5F1-03141F521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90E43C4-339C-420A-B511-5EF47EE98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0279D51F-AC27-4B02-B721-C9BC35ADE8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0a02d55d7a42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2b83fc89077a4144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3105856B-BB34-406D-8572-FC44E9D02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5C703AE4-A8AA-42DB-B6FB-76852662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16  /  RESERVE / FACHFRAGEN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67CC8F68-F8AD-4FED-A2C9-9400967A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Drei typische Fragen zur Implementierung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A3C2D3AC-EEBD-42BE-B64F-A3957021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Kurz, präzise und mit nachprüfbarem Codebezug antworten.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86DEBF17-EEEC-475A-B350-5BA8E61F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7C73410D-0FEB-4E8D-87B7-4708BA42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B2193D3A-D442-4CA3-BFCD-0F32CAB7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RESERVE 02/03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9E9BA057-E9B8-4CB4-BC7E-D3CD46396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79192"/>
            <a:ext cx="10853928" cy="1005840"/>
          </a:xfrm>
          <a:prstGeom xmlns:a="http://schemas.openxmlformats.org/drawingml/2006/main" prst="roundRect">
            <a:avLst>
              <a:gd name="adj" fmla="val 11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EE3AE9D-C820-4FFC-805E-1F30A78B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47549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86F7DCC3-0D89-482D-B90A-7558E74C8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2816352"/>
            <a:ext cx="988466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Warum vier Achsen?</a:t>
            </a:r>
            <a:endParaRPr sz="1420"/>
          </a:p>
        </p:txBody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A4010577-5B99-4913-90AF-D1DE08E34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182112"/>
            <a:ext cx="9966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30">
                <a:solidFill>
                  <a:srgbClr val="557087"/>
                </a:solidFill>
                <a:latin typeface="Inter"/>
                <a:ea typeface="Inter"/>
                <a:cs typeface="Inter"/>
              </a:rPr>
              <a:t>Jede Achse wird in beide Richtungen gezählt. Weitere Richtungen wären redundant.</a:t>
            </a:r>
            <a:endParaRPr sz="1230"/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8166637-4F34-4414-AB83-4312A557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03904"/>
            <a:ext cx="10853928" cy="1005840"/>
          </a:xfrm>
          <a:prstGeom xmlns:a="http://schemas.openxmlformats.org/drawingml/2006/main" prst="roundRect">
            <a:avLst>
              <a:gd name="adj" fmla="val 11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0C84FA2-BDD8-4EF0-9EAB-6574C4A9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005072"/>
            <a:ext cx="47549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80A70B7-CD84-48A3-B800-0185BF4C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3941064"/>
            <a:ext cx="988466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Warum eine temporäre Board-Instanz beim Laden?</a:t>
            </a:r>
            <a:endParaRPr sz="142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0D4E801-4B91-44F4-9511-CAB8D297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4306824"/>
            <a:ext cx="9966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30">
                <a:solidFill>
                  <a:srgbClr val="557087"/>
                </a:solidFill>
                <a:latin typeface="Inter"/>
                <a:ea typeface="Inter"/>
                <a:cs typeface="Inter"/>
              </a:rPr>
              <a:t>Fehlerhafte Dateien verändern so nicht den laufenden Spielzustand.</a:t>
            </a:r>
            <a:endParaRPr sz="1230"/>
          </a:p>
        </p:txBody>
      </p:sp>
      <p:sp>
        <p:nvSpPr>
          <p:cNvPr id="24" name="Shape 20">
            <a:extLst xmlns:a="http://schemas.openxmlformats.org/drawingml/2006/main">
              <a:ext uri="{FF2B5EF4-FFF2-40B4-BE49-F238E27FC236}">
                <a16:creationId xmlns:a16="http://schemas.microsoft.com/office/drawing/2014/main" id="{C9EFF956-9B66-40B0-B95C-44E0F785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28616"/>
            <a:ext cx="10853928" cy="1005840"/>
          </a:xfrm>
          <a:prstGeom xmlns:a="http://schemas.openxmlformats.org/drawingml/2006/main" prst="roundRect">
            <a:avLst>
              <a:gd name="adj" fmla="val 11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6C7D1BCA-F256-4692-B4B8-AF101C2D2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29784"/>
            <a:ext cx="47549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3AEDC5C-CF00-45B2-9E55-3DBDF488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065776"/>
            <a:ext cx="988466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42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Warum Game und MatchSession?</a:t>
            </a:r>
            <a:endParaRPr sz="142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DF3E0505-DA30-4D61-8877-F825A7082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992" y="5431536"/>
            <a:ext cx="99669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30">
                <a:solidFill>
                  <a:srgbClr val="557087"/>
                </a:solidFill>
                <a:latin typeface="Inter"/>
                <a:ea typeface="Inter"/>
                <a:cs typeface="Inter"/>
              </a:rPr>
              <a:t>Game steuert die Konsole. MatchSession hält den GUI-Spielzustand. Beide verwenden Board.</a:t>
            </a:r>
            <a:endParaRPr sz="1230"/>
          </a:p>
        </p:txBody>
      </p:sp>
    </p:spTree>
    <p:extLst>
      <p:ext uri="{BB962C8B-B14F-4D97-AF65-F5344CB8AC3E}">
        <p14:creationId xmlns:p14="http://schemas.microsoft.com/office/powerpoint/2010/main" val="26117353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9CDC6715-3895-4917-9EF4-798663B8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8FC"/>
          </a:solidFill>
          <a:ln xmlns:a="http://schemas.openxmlformats.org/drawingml/2006/main" w="12700">
            <a:solidFill>
              <a:srgbClr val="F5F8F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952DAE1-0381-478E-BE7E-20DB79AC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B30"/>
          </a:solidFill>
          <a:ln xmlns:a="http://schemas.openxmlformats.org/drawingml/2006/main" w="12700">
            <a:solidFill>
              <a:srgbClr val="071B3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2DBD33F-978C-40FA-B5B7-0E282D43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" cy="8321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8F6"/>
          </a:solidFill>
          <a:ln xmlns:a="http://schemas.openxmlformats.org/drawingml/2006/main" w="12700">
            <a:solidFill>
              <a:srgbClr val="2478F6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" name="Image 0">
            <a:extLst xmlns:a="http://schemas.openxmlformats.org/drawingml/2006/main">
              <a:ext uri="{FF2B5EF4-FFF2-40B4-BE49-F238E27FC236}">
                <a16:creationId xmlns:a16="http://schemas.microsoft.com/office/drawing/2014/main" id="{C69CBE7E-AD14-4487-BEA5-A53A624E41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920fef9e8942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0040" y="146304"/>
            <a:ext cx="466344" cy="466344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FC63C9D-DE0D-44A7-B852-1232DFFB8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164592"/>
            <a:ext cx="66751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60" b="1" spc="50">
                <a:solidFill>
                  <a:srgbClr val="FFFFFF"/>
                </a:solidFill>
                <a:latin typeface="Inter"/>
                <a:ea typeface="Inter"/>
                <a:cs typeface="Inter"/>
              </a:rPr>
              <a:t>JULIAN KRAUSS  /  PROGRAMMIERTECHNIK</a:t>
            </a:r>
            <a:endParaRPr sz="106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42002EC-A690-47CB-935E-FB03719A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38912"/>
            <a:ext cx="6583680" cy="13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860" spc="100">
                <a:solidFill>
                  <a:srgbClr val="A7BDD0"/>
                </a:solidFill>
                <a:latin typeface="Inter"/>
                <a:ea typeface="Inter"/>
                <a:cs typeface="Inter"/>
              </a:rPr>
              <a:t>VIER GEWINNT  ·  GYM EDITION</a:t>
            </a:r>
            <a:endParaRPr sz="860"/>
          </a:p>
        </p:txBody>
      </p:sp>
      <p:pic>
        <p:nvPicPr>
          <p:cNvPr id="8" name="Image 1">
            <a:extLst xmlns:a="http://schemas.openxmlformats.org/drawingml/2006/main">
              <a:ext uri="{FF2B5EF4-FFF2-40B4-BE49-F238E27FC236}">
                <a16:creationId xmlns:a16="http://schemas.microsoft.com/office/drawing/2014/main" id="{59CC569A-72F2-4B76-A791-587277AEE3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740afe6e546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84864" y="59436"/>
            <a:ext cx="320954" cy="710489"/>
          </a:xfrm>
          <a:prstGeom xmlns:a="http://schemas.openxmlformats.org/drawingml/2006/main" prst="rect">
            <a:avLst/>
          </a:prstGeom>
        </p:spPr>
      </p:pic>
      <p:sp>
        <p:nvSpPr>
          <p:cNvPr id="9" name="Text 5">
            <a:hlinkClick xmlns:r="http://schemas.openxmlformats.org/officeDocument/2006/relationships" xmlns:a="http://schemas.openxmlformats.org/drawingml/2006/main" r:id="R317d532060994345" action="ppaction://hlinksldjump"/>
            <a:extLst xmlns:a="http://schemas.openxmlformats.org/drawingml/2006/main">
              <a:ext uri="{FF2B5EF4-FFF2-40B4-BE49-F238E27FC236}">
                <a16:creationId xmlns:a16="http://schemas.microsoft.com/office/drawing/2014/main" id="{0B2CD8D1-7423-4695-BBD3-48E3383B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6688" y="603504"/>
            <a:ext cx="1161288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50" b="1" u="sng">
                <a:solidFill>
                  <a:srgbClr val="35C8EF"/>
                </a:solidFill>
                <a:latin typeface="Inter"/>
                <a:ea typeface="Inter"/>
                <a:cs typeface="Inter"/>
              </a:rPr>
              <a:t>AGENDA  ↑</a:t>
            </a:r>
            <a:endParaRPr sz="85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FBEB1E84-8325-417A-A9C0-837C4F8D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069848"/>
            <a:ext cx="914400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00" b="1" spc="120">
                <a:solidFill>
                  <a:srgbClr val="2478F6"/>
                </a:solidFill>
                <a:latin typeface="Inter"/>
                <a:ea typeface="Inter"/>
                <a:cs typeface="Inter"/>
              </a:rPr>
              <a:t>17  /  RESERVE / QUELLEN</a:t>
            </a:r>
            <a:endParaRPr sz="10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4ED0103A-D62B-453C-9FDD-7A072FD3D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9032"/>
            <a:ext cx="1120140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2900" b="1">
                <a:solidFill>
                  <a:srgbClr val="10263D"/>
                </a:solidFill>
                <a:latin typeface="Inter"/>
                <a:ea typeface="Inter"/>
                <a:cs typeface="Inter"/>
              </a:rPr>
              <a:t>Dokumentationsbasis und Status</a:t>
            </a:r>
            <a:endParaRPr sz="2900"/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D45FC2C2-B8D1-4F09-AECA-8374F16EB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961388"/>
            <a:ext cx="11201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557087"/>
                </a:solidFill>
                <a:latin typeface="Inter"/>
                <a:ea typeface="Inter"/>
                <a:cs typeface="Inter"/>
              </a:rPr>
              <a:t>Aktualisiert am 28.10.2026 anhand von Quellcode, Gesprächsauszug und GitHub-Prüfungen.</a:t>
            </a:r>
            <a:endParaRPr sz="1360"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C381B47-FD80-44B1-A309-71C422A0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483096"/>
            <a:ext cx="112745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CBB23BE2-BBBE-47D6-851A-C1A6B52B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6556248"/>
            <a:ext cx="982980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760">
                <a:solidFill>
                  <a:srgbClr val="557087"/>
                </a:solidFill>
                <a:latin typeface="Inter"/>
                <a:ea typeface="Inter"/>
                <a:cs typeface="Inter"/>
              </a:rPr>
              <a:t>© 2026 Julian Krauß  ·  JK AXIS | GOLD MASTER  ·  Bernd-Blindow-Schulen Ravensburg</a:t>
            </a:r>
            <a:endParaRPr sz="76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5713303-7F11-4446-AA58-339E67E45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488" y="6547104"/>
            <a:ext cx="9875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sz="810">
                <a:solidFill>
                  <a:srgbClr val="557087"/>
                </a:solidFill>
                <a:latin typeface="Inter"/>
                <a:ea typeface="Inter"/>
                <a:cs typeface="Inter"/>
              </a:rPr>
              <a:t>RESERVE 03/03</a:t>
            </a:r>
            <a:endParaRPr sz="81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6240E4D-20BE-4DF9-A57F-A0D9260C5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8920"/>
            <a:ext cx="10853928" cy="557784"/>
          </a:xfrm>
          <a:prstGeom xmlns:a="http://schemas.openxmlformats.org/drawingml/2006/main" prst="roundRect">
            <a:avLst>
              <a:gd name="adj" fmla="val 213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5583EA1-A579-4390-942A-C2A0EC8B3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62656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Gesamtdokumentation</a:t>
            </a:r>
            <a:endParaRPr sz="1240"/>
          </a:p>
        </p:txBody>
      </p:sp>
      <p:sp>
        <p:nvSpPr>
          <p:cNvPr id="18" name="Text 14">
            <a:extLst xmlns:a="http://schemas.openxmlformats.org/drawingml/2006/main">
              <a:ext uri="{FF2B5EF4-FFF2-40B4-BE49-F238E27FC236}">
                <a16:creationId xmlns:a16="http://schemas.microsoft.com/office/drawing/2014/main" id="{A2B01CE2-0D71-45A6-977E-858AAF79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944368"/>
            <a:ext cx="6867144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557087"/>
                </a:solidFill>
                <a:latin typeface="Inter"/>
                <a:ea typeface="Inter"/>
                <a:cs typeface="Inter"/>
              </a:rPr>
              <a:t>Aktueller Nachtrag mit ausdrücklich historischem Lern- und Mockup-Teil</a:t>
            </a:r>
            <a:endParaRPr sz="1200"/>
          </a:p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D831759-1A0E-4E0D-8650-71302EBB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4720"/>
            <a:ext cx="10853928" cy="557784"/>
          </a:xfrm>
          <a:prstGeom xmlns:a="http://schemas.openxmlformats.org/drawingml/2006/main" prst="roundRect">
            <a:avLst>
              <a:gd name="adj" fmla="val 213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98C5D1B1-70A4-49DE-870C-A238D4A3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48456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Anforderungsanalyse</a:t>
            </a:r>
            <a:endParaRPr sz="1240"/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C5A9A8DA-2857-45FC-8135-B83164C8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630168"/>
            <a:ext cx="6867144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557087"/>
                </a:solidFill>
                <a:latin typeface="Inter"/>
                <a:ea typeface="Inter"/>
                <a:cs typeface="Inter"/>
              </a:rPr>
              <a:t>Pflichtfunktionen, Abnahmekriterien und Projektgrenzen</a:t>
            </a:r>
            <a:endParaRPr sz="1200"/>
          </a:p>
        </p:txBody>
      </p:sp>
      <p:sp>
        <p:nvSpPr>
          <p:cNvPr id="22" name="Shape 18">
            <a:extLst xmlns:a="http://schemas.openxmlformats.org/drawingml/2006/main">
              <a:ext uri="{FF2B5EF4-FFF2-40B4-BE49-F238E27FC236}">
                <a16:creationId xmlns:a16="http://schemas.microsoft.com/office/drawing/2014/main" id="{7DBCCAD2-A4EF-4AF5-95EA-6D2851F9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0520"/>
            <a:ext cx="10853928" cy="557784"/>
          </a:xfrm>
          <a:prstGeom xmlns:a="http://schemas.openxmlformats.org/drawingml/2006/main" prst="roundRect">
            <a:avLst>
              <a:gd name="adj" fmla="val 213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249B6FB9-4078-4DF4-BC94-C9993533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4256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UML-Klassendiagramm</a:t>
            </a:r>
            <a:endParaRPr sz="1240"/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F2B312B7-1D4B-42DF-A267-1D243B449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4315968"/>
            <a:ext cx="6867144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557087"/>
                </a:solidFill>
                <a:latin typeface="Inter"/>
                <a:ea typeface="Inter"/>
                <a:cs typeface="Inter"/>
              </a:rPr>
              <a:t>Gemeinsames Board, Game, MatchSession, App und Datei-Helfer</a:t>
            </a:r>
            <a:endParaRPr sz="1200"/>
          </a:p>
        </p:txBody>
      </p:sp>
      <p:sp>
        <p:nvSpPr>
          <p:cNvPr id="25" name="Shape 21">
            <a:extLst xmlns:a="http://schemas.openxmlformats.org/drawingml/2006/main">
              <a:ext uri="{FF2B5EF4-FFF2-40B4-BE49-F238E27FC236}">
                <a16:creationId xmlns:a16="http://schemas.microsoft.com/office/drawing/2014/main" id="{9F616707-F778-4597-8204-D78F36895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6320"/>
            <a:ext cx="10853928" cy="557784"/>
          </a:xfrm>
          <a:prstGeom xmlns:a="http://schemas.openxmlformats.org/drawingml/2006/main" prst="roundRect">
            <a:avLst>
              <a:gd name="adj" fmla="val 213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8255">
            <a:solidFill>
              <a:srgbClr val="D8E3E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4E5C1472-CF99-47E8-8CCC-4963EB09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0056"/>
            <a:ext cx="3090672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40" b="1">
                <a:solidFill>
                  <a:srgbClr val="2478F6"/>
                </a:solidFill>
                <a:latin typeface="Inter"/>
                <a:ea typeface="Inter"/>
                <a:cs typeface="Inter"/>
              </a:rPr>
              <a:t>Quellcode und KI-Protokoll</a:t>
            </a:r>
            <a:endParaRPr sz="1240"/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140FAD09-9E01-4065-8C29-75DFC750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5001768"/>
            <a:ext cx="6867144" cy="3017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200">
                <a:solidFill>
                  <a:srgbClr val="557087"/>
                </a:solidFill>
                <a:latin typeface="Inter"/>
                <a:ea typeface="Inter"/>
                <a:cs typeface="Inter"/>
              </a:rPr>
              <a:t>src/, include/, tests/ sowie Promptregister P-01 bis P-34</a:t>
            </a:r>
            <a:endParaRPr sz="1200"/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7612C601-F6CB-4DF6-ADDB-1929F9DB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044184"/>
            <a:ext cx="10515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buNone/>
            </a:pPr>
            <a:r>
              <a:rPr sz="1050">
                <a:solidFill>
                  <a:srgbClr val="557087"/>
                </a:solidFill>
                <a:latin typeface="Inter"/>
                <a:ea typeface="Inter"/>
                <a:cs typeface="Inter"/>
              </a:rPr>
              <a:t>KI-Unterstützung offen dokumentiert. CI am Commit 02eb79f8 erfolgreich. Zielgeräteprüfung bleibt offen.</a:t>
            </a:r>
            <a:endParaRPr sz="1050"/>
          </a:p>
        </p:txBody>
      </p:sp>
    </p:spTree>
    <p:extLst>
      <p:ext uri="{BB962C8B-B14F-4D97-AF65-F5344CB8AC3E}">
        <p14:creationId xmlns:p14="http://schemas.microsoft.com/office/powerpoint/2010/main" val="3105310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2026-10-28T22:51:19.9320000Z</dcterms:created>
  <dcterms:modified xsi:type="dcterms:W3CDTF">2026-10-28T22:51:19.9330000Z</dcterms:modified>
</coreProperties>
</file>