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 Begrüßung. Ich stelle heute mein C++17-Projekt „Vier gewinnt – Gym Edition“ vor. Die Besonderheit ist die Kombination aus klassischer Vier-gewinnt-Logik, objektorientierter Architektur und einer Gym-Darstellung mit Kurzhanteln. Zuerst etwa 15 Minuten Architektur, Algorithmen und Tests, danach erläutere ich ungefähr 15 Minuten die tatsächlichen Quelldateien live in Visual Studio Code. Wichtig: Das gezeigte 3D-Bild ist eine Designvisualisierung, nicht die laufende Oberfläche.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0:40–1:35 | Agenda: In Teil A wird zuerst der Zweck vorgestellt, danach der konkrete Spielablauf, die Klassenstruktur, die Algorithmen und das Speichern, schließlich Tests und Projektstand. Im zweiten Teil folgen 15 Minuten in Visual Studio Code. Die Kapitelblöcke werden auf den Folien oben als Orientierung wiederholt. Die Nummern rechts zeigen die zugehörigen Folien.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1:35–2:35 | Projektziel. Die Kernidee folgt Aufgabenblatt 51: ein funktionsfähiges objektorientiertes C++-Konsolenspiel für zwei bis vier Personen. Die Kurzhanteln sind eine optische Variation der klassischen Steine. Der Screenshot zeigt eine Idee für eine spätere Benutzeroberfläche, aber kein im Programm integriertes 3D-Spiel. Der Spielablauf, das Einwerfen, die Siegprüfung und das Speichern sind die eigentlichen technischen Aufgaben.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2:35–3:55 | Die Spielgröße hängt nur von der Spielerzahl ab: zwei Spieler 7×6, drei Spieler 9×8, vier Spieler 11×10. Im Code steht dafür die Formel Spalten=7+2*(n-2), Zeilen=6+2*(n-2). Jeder Stein fällt an die unterste freie Stelle seiner Spalte. Übervolle oder ungültige Spalten dürfen den Spielzustand nicht ändern, insbesondere nicht den aktiven Spieler. Trotz größerer Felder bleiben stets vier eigene Symbole in Folge das Gewinnkriterium.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3:55–5:10 | Der Ablauf ist logisch unterteilt: Erst wählen die Spielenden ihre Konfiguration. Beim Zug prüft Game, ob eine gültige Spaltennummer und Platz vorhanden sind. Board legt genau einen Stein ab. Anschließend wird vom gerade gesetzten Stein aus geprüft, ob die Partie gewonnen ist. Wenn nicht, wird ein volles Feld als Remis behandelt, sonst folgt der nächste Spieler. Bei falscher Eingabe bleibt dieselbe Person am Zug.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5:10–6:40 | Architektur aus der UML: Game ist der Koordinator. Er besitzt ein Board, zwei bis vier Player-Einträge und eine beliebige Anzahl Move-Einträge in seiner Historie. Board enthält das zweidimensionale Raster sowie die Methoden zum Einwerfen, Rückgängigmachen und Prüfen. Player ist bewusst klein: Name und Zeichen. Move ist ein struct mit Zeile, Spalte und Spielerindex. Private Attribute schützen den Zustand; public-Methoden bilden definierte Schnittstellen. Das Klassenmodell basiert auf den vorhandenen Headern, nicht auf einer erdachten GUI-Architektur.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6:40–7:40 | Wir haben eine klassische Trennung in Header unter include/ und Implementierungen unter src/. main.cpp startet eine Game-Instanz und ruft run() auf. Der Board-Konstruktor berechnet die Felddimensionen in Abhängigkeit von der Zahl der Personen. Die Feldmatrix wird mit einem Punkt für jedes freie Feld initialisiert. Genau diese Stellen werde ich gleich im Editor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7:40–9:20 | Das wichtigste Stück Spiellogik ist Board::hasWon. Die Prüfung startet an der Position des gerade gesetzten Steins. Für jede der vier Achsen wird nach vorne und hinten gezählt. Der neue Stein wird einmal dazuaddiert. Wenn insgesamt mindestens vier gleiche Symbole direkt aneinanderliegen, gewinnt dieser Spieler. Warum nur vier Achsen? Weil die jeweils umgekehrte Richtung mitgeprüft wird. In der Präsentation ist die Diagonale beispielhaft eingezeichnet. Der getestete Board-Code deckt waagerecht, senkrecht und beide Diagonalen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9:20–10:40 | Die Spielstände liegen lokal im Ordner data. Am Anfang steht die Formatkennung GYM1; gespeichert sind u. a. Anzahl der Spieler, aktueller Spieler, Dimensionen, Namen, Zugverlauf und der belegte Rasterzustand. Das Laden ist defensiv: Es wird zunächst in eine temporäre Board-Instanz geladen und der Inhalt validiert. Erst wenn die vollständige Datei konsistent ist, ersetzt diese Kopie den aktiven Zustand. Der Highscore wird unabhängig in data/highscore.txt gespeichert.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10:40–11:50 | Zusätzlich zu den Pflichtfunktionen existieren mehrere Bedienhilfen direkt in Game::play: Vorschau über V und eine Spaltennummer, Undo über U, Speichern über S, Hilfe H, Informationen I und Animation A. Die Vorschau darf den Spielzustand nicht verändern; Undo arbeitet auf der Move-Historie. ANSI-Codes sorgen für eine einfache Terminal-Animation, können aber je nach Konsole unterschiedlich aussehen. Das sind echte Terminalfunktionen, keine Maus-Buttons.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11:50–13:00 | Die vorliegende Codebasis ließ sich für die Präsentationsvorbereitung ohne Compilerwarnungen mit g++ -std=c++17 -Wall -Wextra -pedantic übersetzen. Der automatisierte Test in tests/board_tests.cpp ist durchgelaufen. Er prüft die drei Größen, ungültige Spalten, waagerechte, senkrechte sowie beide diagonalen Gewinne und Rücknahme. Das ist kein Nachweis für sämtliche End-to-End-Szenarien. Der manuelle Testplan ist noch nicht mit Ergebnissen ausgefüllt; beschädigte Dateien, Highscore-Persistenz und Repository-Nachweise müssen vor Abgabe separat dokumentiert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13:00–13:55 | Ein realistischer Entwicklungsstand ist wichtig: Die Klassen und die Konsolenfunktionen existieren in den Dateien. Die blaue Oberfläche ist eine visuelle Idee für einen späteren Schritt. Für deren Realisierung wären eine Fensterbibliothek und ein eigenständiges Rendering erforderlich. Auch eine offizielle schulische Abnahme wurde hier nicht nachgewiesen. Bei der Bewertung zählt zuerst eine funktionsfähige, gut erklärbare C++-Anwendung, nicht die reine Optik.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13:55–14:40 | Das Fazit in drei Punkten: saubere OOP-Aufteilung, nachvollziehbare Gewinnprüfung und Dateiverarbeitung mit Validierung vor Zustandsübernahme. Die visuelle Idee kann später auf die stabile Basis gesetzt werden. Für die nächste Hälfte öffne ich das Projekt im Code-Editor und zeige, welche Funktionen sich hinter den Folien wirklich verbergen.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14:40–15:00 | Jetzt wechsle ich zum tatsächlichen Quelltext in VS Code. Vorher vorbereiten: richtigen Projekt-Stammordner öffnen, Terminal und Ordner data prüfen, Schriftgröße erhöhen. Live-Timer für die folgenden 15 Minuten: 00–02 Startpunkt main.cpp / Schnittstelle Game.h; 02–05 Board-Konstruktor und Raster; 05–09 drop() und hasWon() inklusive Richtungsvektoren; 09–12 Game::play, saveGame/loadGame und temporäre Validierung; 12–15 Testlauf und Mini-Demo. Dann Rückfragen.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Reserveseite, nicht in die 15 Minuten einrechnen. Hier sind die zentralen Dateien und die Stellen für Rückfragen. Bei der Lehrkraft nicht nur auf die Dokumentation zeigen, sondern die konkrete Methode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Reserveseite, nicht in die 15 Minuten einrechnen. Drei fachliche Kurzantworten sind unmittelbar in Board.cpp, Game.cpp und Game.h nachvollziehbar.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Reserveseite. Genau vier bereitgestellte Dateien als Grundlage. Automatisierte Board-Tests wurden zur Vorbereitung im Linux-Container kompiliert und ausgeführt; das ersetzt keine schulische Gesamtprüfung des Projekts auf dem Zielsystem.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5.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9.xml"/><Relationship Id="rId11" Type="http://schemas.openxmlformats.org/officeDocument/2006/relationships/slide" Target="slide11.xml"/><Relationship Id="rId12" Type="http://schemas.openxmlformats.org/officeDocument/2006/relationships/slide" Target="slide11.xml"/><Relationship Id="rId13" Type="http://schemas.openxmlformats.org/officeDocument/2006/relationships/slide" Target="slide14.xml"/><Relationship Id="rId14" Type="http://schemas.openxmlformats.org/officeDocument/2006/relationships/slide" Target="slide14.xml"/><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 Target="slide2.xml"/><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B3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71B30"/>
          </a:solidFill>
          <a:ln w="12700">
            <a:solidFill>
              <a:srgbClr val="071B30">
                <a:alpha val="0"/>
              </a:srgbClr>
            </a:solidFill>
            <a:prstDash val="solid"/>
          </a:ln>
        </p:spPr>
        <p:txBody>
          <a:bodyPr/>
          <a:p/>
        </p:txBody>
      </p:sp>
      <p:sp>
        <p:nvSpPr>
          <p:cNvPr id="3" name="Shape 1"/>
          <p:cNvSpPr/>
          <p:nvPr/>
        </p:nvSpPr>
        <p:spPr>
          <a:xfrm>
            <a:off x="0" y="0"/>
            <a:ext cx="91440" cy="6858000"/>
          </a:xfrm>
          <a:prstGeom prst="rect">
            <a:avLst/>
          </a:prstGeom>
          <a:solidFill>
            <a:srgbClr val="2478F6"/>
          </a:solidFill>
          <a:ln w="12700">
            <a:solidFill>
              <a:srgbClr val="2478F6">
                <a:alpha val="0"/>
              </a:srgbClr>
            </a:solidFill>
            <a:prstDash val="solid"/>
          </a:ln>
        </p:spPr>
        <p:txBody>
          <a:bodyPr/>
          <a:p/>
        </p:txBody>
      </p:sp>
      <p:pic>
        <p:nvPicPr>
          <p:cNvPr id="4" name="Image 0" descr="/mnt/data/_work_vier/assets/hero_board.png">    </p:cNvPr>
          <p:cNvPicPr>
            <a:picLocks noChangeAspect="1"/>
          </p:cNvPicPr>
          <p:nvPr/>
        </p:nvPicPr>
        <p:blipFill>
          <a:blip r:embed="rId1"/>
          <a:stretch>
            <a:fillRect/>
          </a:stretch>
        </p:blipFill>
        <p:spPr>
          <a:xfrm>
            <a:off x="5715000" y="0"/>
            <a:ext cx="6473952" cy="6858000"/>
          </a:xfrm>
          <a:prstGeom prst="rect">
            <a:avLst/>
          </a:prstGeom>
        </p:spPr>
      </p:pic>
      <p:sp>
        <p:nvSpPr>
          <p:cNvPr id="5" name="Shape 2"/>
          <p:cNvSpPr/>
          <p:nvPr/>
        </p:nvSpPr>
        <p:spPr>
          <a:xfrm>
            <a:off x="5687568" y="0"/>
            <a:ext cx="182880" cy="6858000"/>
          </a:xfrm>
          <a:prstGeom prst="rect">
            <a:avLst/>
          </a:prstGeom>
          <a:solidFill>
            <a:srgbClr val="071B30"/>
          </a:solidFill>
          <a:ln w="12700">
            <a:solidFill>
              <a:srgbClr val="071B30">
                <a:alpha val="0"/>
              </a:srgbClr>
            </a:solidFill>
            <a:prstDash val="solid"/>
          </a:ln>
        </p:spPr>
        <p:txBody>
          <a:bodyPr/>
          <a:p/>
        </p:txBody>
      </p:sp>
      <p:sp>
        <p:nvSpPr>
          <p:cNvPr id="6" name="Shape 3"/>
          <p:cNvSpPr/>
          <p:nvPr/>
        </p:nvSpPr>
        <p:spPr>
          <a:xfrm>
            <a:off x="0" y="0"/>
            <a:ext cx="5760720" cy="6858000"/>
          </a:xfrm>
          <a:prstGeom prst="rect">
            <a:avLst/>
          </a:prstGeom>
          <a:solidFill>
            <a:srgbClr val="071B30"/>
          </a:solidFill>
          <a:ln w="12700">
            <a:solidFill>
              <a:srgbClr val="071B30">
                <a:alpha val="0"/>
              </a:srgbClr>
            </a:solidFill>
            <a:prstDash val="solid"/>
          </a:ln>
        </p:spPr>
        <p:txBody>
          <a:bodyPr/>
          <a:p/>
        </p:txBody>
      </p:sp>
      <p:pic>
        <p:nvPicPr>
          <p:cNvPr id="7" name="Image 1" descr="/mnt/data/_work_vier/assets/img_3.png">    </p:cNvPr>
          <p:cNvPicPr>
            <a:picLocks noChangeAspect="1"/>
          </p:cNvPicPr>
          <p:nvPr/>
        </p:nvPicPr>
        <p:blipFill>
          <a:blip r:embed="rId2"/>
          <a:stretch>
            <a:fillRect/>
          </a:stretch>
        </p:blipFill>
        <p:spPr>
          <a:xfrm>
            <a:off x="603504" y="539496"/>
            <a:ext cx="612648" cy="612648"/>
          </a:xfrm>
          <a:prstGeom prst="rect">
            <a:avLst/>
          </a:prstGeom>
        </p:spPr>
      </p:pic>
      <p:sp>
        <p:nvSpPr>
          <p:cNvPr id="8" name="Text 4"/>
          <p:cNvSpPr/>
          <p:nvPr/>
        </p:nvSpPr>
        <p:spPr>
          <a:xfrm>
            <a:off x="1408176" y="640080"/>
            <a:ext cx="4114800" cy="210312"/>
          </a:xfrm>
          <a:prstGeom prst="rect">
            <a:avLst/>
          </a:prstGeom>
          <a:noFill/>
          <a:ln/>
        </p:spPr>
        <p:txBody>
          <a:bodyPr wrap="square" lIns="0" tIns="0" rIns="0" bIns="0" rtlCol="0" anchor="ctr">
            <a:normAutofit/>
          </a:bodyPr>
          <a:lstStyle/>
          <a:p>
            <a:pPr algn="l" indent="0" marL="0">
              <a:lnSpc>
                <a:spcPct val="100000"/>
              </a:lnSpc>
              <a:buNone/>
            </a:pPr>
            <a:r>
              <a:rPr lang="en-US" sz="1250" b="1" spc="110" kern="0" dirty="0">
                <a:solidFill>
                  <a:srgbClr val="FFFFFF"/>
                </a:solidFill>
                <a:latin typeface="Inter" pitchFamily="34" charset="0"/>
                <a:ea typeface="Inter" pitchFamily="34" charset="-122"/>
                <a:cs typeface="Inter" pitchFamily="34" charset="-120"/>
              </a:rPr>
              <a:t>JULIAN KRAUSS</a:t>
            </a:r>
            <a:endParaRPr lang="en-US" sz="1250" dirty="0"/>
          </a:p>
        </p:txBody>
      </p:sp>
      <p:sp>
        <p:nvSpPr>
          <p:cNvPr id="9" name="Text 5"/>
          <p:cNvSpPr/>
          <p:nvPr/>
        </p:nvSpPr>
        <p:spPr>
          <a:xfrm>
            <a:off x="1417320" y="932688"/>
            <a:ext cx="4023360" cy="164592"/>
          </a:xfrm>
          <a:prstGeom prst="rect">
            <a:avLst/>
          </a:prstGeom>
          <a:noFill/>
          <a:ln/>
        </p:spPr>
        <p:txBody>
          <a:bodyPr wrap="square" lIns="0" tIns="0" rIns="0" bIns="0" rtlCol="0" anchor="ctr">
            <a:normAutofit/>
          </a:bodyPr>
          <a:lstStyle/>
          <a:p>
            <a:pPr algn="l" indent="0" marL="0">
              <a:lnSpc>
                <a:spcPct val="100000"/>
              </a:lnSpc>
              <a:buNone/>
            </a:pPr>
            <a:r>
              <a:rPr lang="en-US" sz="930" spc="100" kern="0" dirty="0">
                <a:solidFill>
                  <a:srgbClr val="A7BDD0"/>
                </a:solidFill>
                <a:latin typeface="Inter" pitchFamily="34" charset="0"/>
                <a:ea typeface="Inter" pitchFamily="34" charset="-122"/>
                <a:cs typeface="Inter" pitchFamily="34" charset="-120"/>
              </a:rPr>
              <a:t>ITA-09/25   ·   PROGRAMMIERTECHNIK</a:t>
            </a:r>
            <a:endParaRPr lang="en-US" sz="930" dirty="0"/>
          </a:p>
        </p:txBody>
      </p:sp>
      <p:sp>
        <p:nvSpPr>
          <p:cNvPr id="10" name="Text 6"/>
          <p:cNvSpPr/>
          <p:nvPr/>
        </p:nvSpPr>
        <p:spPr>
          <a:xfrm>
            <a:off x="594360" y="1901952"/>
            <a:ext cx="5120640" cy="585216"/>
          </a:xfrm>
          <a:prstGeom prst="rect">
            <a:avLst/>
          </a:prstGeom>
          <a:noFill/>
          <a:ln/>
        </p:spPr>
        <p:txBody>
          <a:bodyPr wrap="square" lIns="0" tIns="0" rIns="0" bIns="0" rtlCol="0" anchor="ctr">
            <a:normAutofit/>
          </a:bodyPr>
          <a:lstStyle/>
          <a:p>
            <a:pPr algn="l" indent="0" marL="0">
              <a:lnSpc>
                <a:spcPct val="100000"/>
              </a:lnSpc>
              <a:buNone/>
            </a:pPr>
            <a:r>
              <a:rPr lang="en-US" sz="3500" b="1" spc="20" kern="0" dirty="0">
                <a:solidFill>
                  <a:srgbClr val="FFFFFF"/>
                </a:solidFill>
                <a:latin typeface="Inter" pitchFamily="34" charset="0"/>
                <a:ea typeface="Inter" pitchFamily="34" charset="-122"/>
                <a:cs typeface="Inter" pitchFamily="34" charset="-120"/>
              </a:rPr>
              <a:t>VIER GEWINNT</a:t>
            </a:r>
            <a:endParaRPr lang="en-US" sz="3500" dirty="0"/>
          </a:p>
        </p:txBody>
      </p:sp>
      <p:sp>
        <p:nvSpPr>
          <p:cNvPr id="11" name="Text 7"/>
          <p:cNvSpPr/>
          <p:nvPr/>
        </p:nvSpPr>
        <p:spPr>
          <a:xfrm>
            <a:off x="612648" y="2660904"/>
            <a:ext cx="5029200" cy="457200"/>
          </a:xfrm>
          <a:prstGeom prst="rect">
            <a:avLst/>
          </a:prstGeom>
          <a:noFill/>
          <a:ln/>
        </p:spPr>
        <p:txBody>
          <a:bodyPr wrap="square" lIns="0" tIns="0" rIns="0" bIns="0" rtlCol="0" anchor="ctr">
            <a:normAutofit/>
          </a:bodyPr>
          <a:lstStyle/>
          <a:p>
            <a:pPr algn="l" indent="0" marL="0">
              <a:lnSpc>
                <a:spcPct val="100000"/>
              </a:lnSpc>
              <a:buNone/>
            </a:pPr>
            <a:r>
              <a:rPr lang="en-US" sz="2600" b="1" spc="140" kern="0" dirty="0">
                <a:solidFill>
                  <a:srgbClr val="35C8EF"/>
                </a:solidFill>
                <a:latin typeface="Inter" pitchFamily="34" charset="0"/>
                <a:ea typeface="Inter" pitchFamily="34" charset="-122"/>
                <a:cs typeface="Inter" pitchFamily="34" charset="-120"/>
              </a:rPr>
              <a:t>GYM EDITION</a:t>
            </a:r>
            <a:endParaRPr lang="en-US" sz="2600" dirty="0"/>
          </a:p>
        </p:txBody>
      </p:sp>
      <p:sp>
        <p:nvSpPr>
          <p:cNvPr id="12" name="Shape 8"/>
          <p:cNvSpPr/>
          <p:nvPr/>
        </p:nvSpPr>
        <p:spPr>
          <a:xfrm>
            <a:off x="603504" y="3310128"/>
            <a:ext cx="758952" cy="59436"/>
          </a:xfrm>
          <a:prstGeom prst="rect">
            <a:avLst/>
          </a:prstGeom>
          <a:solidFill>
            <a:srgbClr val="2478F6"/>
          </a:solidFill>
          <a:ln w="12700">
            <a:solidFill>
              <a:srgbClr val="2478F6">
                <a:alpha val="0"/>
              </a:srgbClr>
            </a:solidFill>
            <a:prstDash val="solid"/>
          </a:ln>
        </p:spPr>
        <p:txBody>
          <a:bodyPr/>
          <a:p/>
        </p:txBody>
      </p:sp>
      <p:sp>
        <p:nvSpPr>
          <p:cNvPr id="13" name="Text 9"/>
          <p:cNvSpPr/>
          <p:nvPr/>
        </p:nvSpPr>
        <p:spPr>
          <a:xfrm>
            <a:off x="603504" y="3593592"/>
            <a:ext cx="4846320" cy="356616"/>
          </a:xfrm>
          <a:prstGeom prst="rect">
            <a:avLst/>
          </a:prstGeom>
          <a:noFill/>
          <a:ln/>
        </p:spPr>
        <p:txBody>
          <a:bodyPr wrap="square" lIns="0" tIns="0" rIns="0" bIns="0" rtlCol="0" anchor="ctr">
            <a:normAutofit/>
          </a:bodyPr>
          <a:lstStyle/>
          <a:p>
            <a:pPr algn="l" indent="0" marL="0">
              <a:lnSpc>
                <a:spcPct val="100000"/>
              </a:lnSpc>
              <a:buNone/>
            </a:pPr>
            <a:r>
              <a:rPr lang="en-US" sz="1630" dirty="0">
                <a:solidFill>
                  <a:srgbClr val="FFFFFF"/>
                </a:solidFill>
                <a:latin typeface="Inter" pitchFamily="34" charset="0"/>
                <a:ea typeface="Inter" pitchFamily="34" charset="-122"/>
                <a:cs typeface="Inter" pitchFamily="34" charset="-120"/>
              </a:rPr>
              <a:t>Objektorientiertes C++17-Konsolenspiel</a:t>
            </a:r>
            <a:endParaRPr lang="en-US" sz="1630" dirty="0"/>
          </a:p>
        </p:txBody>
      </p:sp>
      <p:sp>
        <p:nvSpPr>
          <p:cNvPr id="14" name="Text 10"/>
          <p:cNvSpPr/>
          <p:nvPr/>
        </p:nvSpPr>
        <p:spPr>
          <a:xfrm>
            <a:off x="603504" y="4032504"/>
            <a:ext cx="4663440" cy="704088"/>
          </a:xfrm>
          <a:prstGeom prst="rect">
            <a:avLst/>
          </a:prstGeom>
          <a:noFill/>
          <a:ln/>
        </p:spPr>
        <p:txBody>
          <a:bodyPr wrap="square" lIns="0" tIns="0" rIns="0" bIns="0" rtlCol="0" anchor="t">
            <a:normAutofit/>
          </a:bodyPr>
          <a:lstStyle/>
          <a:p>
            <a:pPr algn="l" indent="0" marL="0">
              <a:lnSpc>
                <a:spcPct val="100000"/>
              </a:lnSpc>
              <a:buNone/>
            </a:pPr>
            <a:r>
              <a:rPr lang="en-US" sz="1300" dirty="0">
                <a:solidFill>
                  <a:srgbClr val="A7BDD0"/>
                </a:solidFill>
                <a:latin typeface="Inter" pitchFamily="34" charset="0"/>
                <a:ea typeface="Inter" pitchFamily="34" charset="-122"/>
                <a:cs typeface="Inter" pitchFamily="34" charset="-120"/>
              </a:rPr>
              <a:t>Projektvorstellung und Live-Code in Visual Studio Code</a:t>
            </a:r>
            <a:endParaRPr lang="en-US" sz="1300" dirty="0"/>
          </a:p>
        </p:txBody>
      </p:sp>
      <p:sp>
        <p:nvSpPr>
          <p:cNvPr id="15" name="Shape 11"/>
          <p:cNvSpPr/>
          <p:nvPr/>
        </p:nvSpPr>
        <p:spPr>
          <a:xfrm>
            <a:off x="603504" y="5102352"/>
            <a:ext cx="4425696" cy="548640"/>
          </a:xfrm>
          <a:prstGeom prst="roundRect">
            <a:avLst>
              <a:gd name="adj" fmla="val 23333"/>
            </a:avLst>
          </a:prstGeom>
          <a:solidFill>
            <a:srgbClr val="102D4A"/>
          </a:solidFill>
          <a:ln w="12700">
            <a:solidFill>
              <a:srgbClr val="102D4A">
                <a:alpha val="0"/>
              </a:srgbClr>
            </a:solidFill>
            <a:prstDash val="solid"/>
          </a:ln>
        </p:spPr>
        <p:txBody>
          <a:bodyPr/>
          <a:p/>
        </p:txBody>
      </p:sp>
      <p:sp>
        <p:nvSpPr>
          <p:cNvPr id="16" name="Text 12"/>
          <p:cNvSpPr/>
          <p:nvPr/>
        </p:nvSpPr>
        <p:spPr>
          <a:xfrm>
            <a:off x="804672" y="5257800"/>
            <a:ext cx="2011680" cy="18288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FFFFFF"/>
                </a:solidFill>
                <a:latin typeface="Inter" pitchFamily="34" charset="0"/>
                <a:ea typeface="Inter" pitchFamily="34" charset="-122"/>
                <a:cs typeface="Inter" pitchFamily="34" charset="-120"/>
              </a:rPr>
              <a:t>15 MIN  PRÄSENTATION</a:t>
            </a:r>
            <a:endParaRPr lang="en-US" sz="1040" dirty="0"/>
          </a:p>
        </p:txBody>
      </p:sp>
      <p:sp>
        <p:nvSpPr>
          <p:cNvPr id="17" name="Shape 13"/>
          <p:cNvSpPr/>
          <p:nvPr/>
        </p:nvSpPr>
        <p:spPr>
          <a:xfrm>
            <a:off x="2871216" y="5248656"/>
            <a:ext cx="0" cy="246888"/>
          </a:xfrm>
          <a:prstGeom prst="line">
            <a:avLst/>
          </a:prstGeom>
          <a:noFill/>
          <a:ln w="12700">
            <a:solidFill>
              <a:srgbClr val="557087"/>
            </a:solidFill>
            <a:prstDash val="solid"/>
          </a:ln>
        </p:spPr>
        <p:txBody>
          <a:bodyPr/>
          <a:p/>
        </p:txBody>
      </p:sp>
      <p:sp>
        <p:nvSpPr>
          <p:cNvPr id="18" name="Text 14"/>
          <p:cNvSpPr/>
          <p:nvPr/>
        </p:nvSpPr>
        <p:spPr>
          <a:xfrm>
            <a:off x="3099816" y="5257800"/>
            <a:ext cx="1783080" cy="18288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35C8EF"/>
                </a:solidFill>
                <a:latin typeface="Inter" pitchFamily="34" charset="0"/>
                <a:ea typeface="Inter" pitchFamily="34" charset="-122"/>
                <a:cs typeface="Inter" pitchFamily="34" charset="-120"/>
              </a:rPr>
              <a:t>15 MIN  CODE-DEMO</a:t>
            </a:r>
            <a:endParaRPr lang="en-US" sz="1040" dirty="0"/>
          </a:p>
        </p:txBody>
      </p:sp>
      <p:sp>
        <p:nvSpPr>
          <p:cNvPr id="19" name="Text 15"/>
          <p:cNvSpPr/>
          <p:nvPr/>
        </p:nvSpPr>
        <p:spPr>
          <a:xfrm>
            <a:off x="603504" y="6519672"/>
            <a:ext cx="5029200" cy="146304"/>
          </a:xfrm>
          <a:prstGeom prst="rect">
            <a:avLst/>
          </a:prstGeom>
          <a:noFill/>
          <a:ln/>
        </p:spPr>
        <p:txBody>
          <a:bodyPr wrap="square" lIns="0" tIns="0" rIns="0" bIns="0" rtlCol="0" anchor="ctr">
            <a:normAutofit/>
          </a:bodyPr>
          <a:lstStyle/>
          <a:p>
            <a:pPr algn="l" indent="0" marL="0">
              <a:lnSpc>
                <a:spcPct val="100000"/>
              </a:lnSpc>
              <a:buNone/>
            </a:pPr>
            <a:r>
              <a:rPr lang="en-US" sz="820" dirty="0">
                <a:solidFill>
                  <a:srgbClr val="A7BDD0"/>
                </a:solidFill>
                <a:latin typeface="Inter" pitchFamily="34" charset="0"/>
                <a:ea typeface="Inter" pitchFamily="34" charset="-122"/>
                <a:cs typeface="Inter" pitchFamily="34" charset="-120"/>
              </a:rPr>
              <a:t>© 2026 Julian Krauß  ·  JK AXIS | GOLD MASTER</a:t>
            </a:r>
            <a:endParaRPr lang="en-US" sz="820" dirty="0"/>
          </a:p>
        </p:txBody>
      </p:sp>
      <p:pic>
        <p:nvPicPr>
          <p:cNvPr id="20" name="Image 2" descr="/mnt/data/_work_vier/assets/img_5.png">    </p:cNvPr>
          <p:cNvPicPr>
            <a:picLocks noChangeAspect="1"/>
          </p:cNvPicPr>
          <p:nvPr/>
        </p:nvPicPr>
        <p:blipFill>
          <a:blip r:embed="rId3"/>
          <a:stretch>
            <a:fillRect/>
          </a:stretch>
        </p:blipFill>
        <p:spPr>
          <a:xfrm>
            <a:off x="11201400" y="338328"/>
            <a:ext cx="578815"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02  /  AGENDA / INHALTSVERZEICHNIS</a:t>
            </a:r>
            <a:endParaRPr lang="en-US" sz="1000" dirty="0"/>
          </a:p>
        </p:txBody>
      </p:sp>
      <p:sp>
        <p:nvSpPr>
          <p:cNvPr id="10" name="Text 6"/>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Was Sie heute erwartet</a:t>
            </a:r>
            <a:endParaRPr lang="en-US" sz="2900" dirty="0"/>
          </a:p>
        </p:txBody>
      </p:sp>
      <p:sp>
        <p:nvSpPr>
          <p:cNvPr id="11" name="Text 7"/>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Eine strukturierte Projektvorstellung und anschließend die Demonstration direkt im Quellcode.</a:t>
            </a:r>
            <a:endParaRPr lang="en-US" sz="1360" dirty="0"/>
          </a:p>
        </p:txBody>
      </p:sp>
      <p:sp>
        <p:nvSpPr>
          <p:cNvPr id="12" name="Shape 8"/>
          <p:cNvSpPr/>
          <p:nvPr/>
        </p:nvSpPr>
        <p:spPr>
          <a:xfrm>
            <a:off x="475488" y="6483096"/>
            <a:ext cx="11274552" cy="0"/>
          </a:xfrm>
          <a:prstGeom prst="line">
            <a:avLst/>
          </a:prstGeom>
          <a:noFill/>
          <a:ln w="8255">
            <a:solidFill>
              <a:srgbClr val="D8E3EE"/>
            </a:solidFill>
            <a:prstDash val="solid"/>
          </a:ln>
        </p:spPr>
        <p:txBody>
          <a:bodyPr/>
          <a:p/>
        </p:txBody>
      </p:sp>
      <p:sp>
        <p:nvSpPr>
          <p:cNvPr id="13" name="Text 9"/>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4" name="Text 10"/>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02 / 14</a:t>
            </a:r>
            <a:endParaRPr lang="en-US" sz="810" dirty="0"/>
          </a:p>
        </p:txBody>
      </p:sp>
      <p:sp>
        <p:nvSpPr>
          <p:cNvPr id="15" name="Shape 11"/>
          <p:cNvSpPr/>
          <p:nvPr/>
        </p:nvSpPr>
        <p:spPr>
          <a:xfrm>
            <a:off x="658368" y="2542032"/>
            <a:ext cx="5367528" cy="804672"/>
          </a:xfrm>
          <a:prstGeom prst="roundRect">
            <a:avLst>
              <a:gd name="adj" fmla="val 14773"/>
            </a:avLst>
          </a:prstGeom>
          <a:solidFill>
            <a:srgbClr val="FFFFFF"/>
          </a:solidFill>
          <a:ln w="8255">
            <a:solidFill>
              <a:srgbClr val="D8E3EE"/>
            </a:solidFill>
            <a:prstDash val="solid"/>
          </a:ln>
        </p:spPr>
        <p:txBody>
          <a:bodyPr/>
          <a:p/>
        </p:txBody>
      </p:sp>
      <p:sp>
        <p:nvSpPr>
          <p:cNvPr id="16" name="Shape 12"/>
          <p:cNvSpPr/>
          <p:nvPr/>
        </p:nvSpPr>
        <p:spPr>
          <a:xfrm>
            <a:off x="786384" y="2688336"/>
            <a:ext cx="475488" cy="484632"/>
          </a:xfrm>
          <a:prstGeom prst="roundRect">
            <a:avLst>
              <a:gd name="adj" fmla="val 15385"/>
            </a:avLst>
          </a:prstGeom>
          <a:solidFill>
            <a:srgbClr val="2478F6"/>
          </a:solidFill>
          <a:ln w="12700">
            <a:solidFill>
              <a:srgbClr val="2478F6">
                <a:alpha val="0"/>
              </a:srgbClr>
            </a:solidFill>
            <a:prstDash val="solid"/>
          </a:ln>
        </p:spPr>
        <p:txBody>
          <a:bodyPr/>
          <a:p/>
        </p:txBody>
      </p:sp>
      <p:sp>
        <p:nvSpPr>
          <p:cNvPr id="17" name="Text 13"/>
          <p:cNvSpPr/>
          <p:nvPr/>
        </p:nvSpPr>
        <p:spPr>
          <a:xfrm>
            <a:off x="813816" y="2825496"/>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01</a:t>
            </a:r>
            <a:endParaRPr lang="en-US" sz="1180" dirty="0"/>
          </a:p>
        </p:txBody>
      </p:sp>
      <p:sp>
        <p:nvSpPr>
          <p:cNvPr id="18" name="Text 14">
            <a:hlinkClick r:id="rId3" tooltip="Zu Folie 3" action="ppaction://hlinksldjump"/>
          </p:cNvPr>
          <p:cNvSpPr/>
          <p:nvPr/>
        </p:nvSpPr>
        <p:spPr>
          <a:xfrm>
            <a:off x="1408176" y="2660904"/>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3" action="ppaction://hlinksldjump" tooltip="Zu Folie 3">
                  <a:extLst>
                    <a:ext uri="{A12FA001-AC4F-418D-AE19-62706E023703}">
                      <ahyp:hlinkClr xmlns:ahyp="http://schemas.microsoft.com/office/drawing/2018/hyperlinkcolor" val="tx"/>
                    </a:ext>
                  </a:extLst>
                </a:hlinkClick>
              </a:rPr>
              <a:t>Projektidee &amp; Anforderungen</a:t>
            </a:r>
            <a:endParaRPr lang="en-US" sz="1400" dirty="0"/>
          </a:p>
        </p:txBody>
      </p:sp>
      <p:sp>
        <p:nvSpPr>
          <p:cNvPr id="19" name="Text 15"/>
          <p:cNvSpPr/>
          <p:nvPr/>
        </p:nvSpPr>
        <p:spPr>
          <a:xfrm>
            <a:off x="1408176" y="2990088"/>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Ziel, Spielregeln, flexible Feldgrößen</a:t>
            </a:r>
            <a:endParaRPr lang="en-US" sz="990" dirty="0"/>
          </a:p>
        </p:txBody>
      </p:sp>
      <p:sp>
        <p:nvSpPr>
          <p:cNvPr id="20" name="Text 16"/>
          <p:cNvSpPr/>
          <p:nvPr/>
        </p:nvSpPr>
        <p:spPr>
          <a:xfrm>
            <a:off x="4754880" y="3182112"/>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Folien 03–04</a:t>
            </a:r>
            <a:endParaRPr lang="en-US" sz="770" dirty="0"/>
          </a:p>
        </p:txBody>
      </p:sp>
      <p:sp>
        <p:nvSpPr>
          <p:cNvPr id="21" name="Shape 17">
            <a:hlinkClick r:id="rId4" tooltip="Öffnet Projektidee &amp; Anforderungen" action="ppaction://hlinksldjump"/>
          </p:cNvPr>
          <p:cNvSpPr/>
          <p:nvPr/>
        </p:nvSpPr>
        <p:spPr>
          <a:xfrm>
            <a:off x="658368" y="2542032"/>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22" name="Shape 18"/>
          <p:cNvSpPr/>
          <p:nvPr/>
        </p:nvSpPr>
        <p:spPr>
          <a:xfrm>
            <a:off x="6263640" y="2542032"/>
            <a:ext cx="5367528" cy="804672"/>
          </a:xfrm>
          <a:prstGeom prst="roundRect">
            <a:avLst>
              <a:gd name="adj" fmla="val 14773"/>
            </a:avLst>
          </a:prstGeom>
          <a:solidFill>
            <a:srgbClr val="FFFFFF"/>
          </a:solidFill>
          <a:ln w="8255">
            <a:solidFill>
              <a:srgbClr val="D8E3EE"/>
            </a:solidFill>
            <a:prstDash val="solid"/>
          </a:ln>
        </p:spPr>
        <p:txBody>
          <a:bodyPr/>
          <a:p/>
        </p:txBody>
      </p:sp>
      <p:sp>
        <p:nvSpPr>
          <p:cNvPr id="23" name="Shape 19"/>
          <p:cNvSpPr/>
          <p:nvPr/>
        </p:nvSpPr>
        <p:spPr>
          <a:xfrm>
            <a:off x="6391656" y="2688336"/>
            <a:ext cx="475488" cy="484632"/>
          </a:xfrm>
          <a:prstGeom prst="roundRect">
            <a:avLst>
              <a:gd name="adj" fmla="val 15385"/>
            </a:avLst>
          </a:prstGeom>
          <a:solidFill>
            <a:srgbClr val="2478F6"/>
          </a:solidFill>
          <a:ln w="12700">
            <a:solidFill>
              <a:srgbClr val="2478F6">
                <a:alpha val="0"/>
              </a:srgbClr>
            </a:solidFill>
            <a:prstDash val="solid"/>
          </a:ln>
        </p:spPr>
        <p:txBody>
          <a:bodyPr/>
          <a:p/>
        </p:txBody>
      </p:sp>
      <p:sp>
        <p:nvSpPr>
          <p:cNvPr id="24" name="Text 20"/>
          <p:cNvSpPr/>
          <p:nvPr/>
        </p:nvSpPr>
        <p:spPr>
          <a:xfrm>
            <a:off x="6419088" y="2825496"/>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02</a:t>
            </a:r>
            <a:endParaRPr lang="en-US" sz="1180" dirty="0"/>
          </a:p>
        </p:txBody>
      </p:sp>
      <p:sp>
        <p:nvSpPr>
          <p:cNvPr id="25" name="Text 21">
            <a:hlinkClick r:id="rId5" tooltip="Zu Folie 5" action="ppaction://hlinksldjump"/>
          </p:cNvPr>
          <p:cNvSpPr/>
          <p:nvPr/>
        </p:nvSpPr>
        <p:spPr>
          <a:xfrm>
            <a:off x="7013448" y="2660904"/>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5" action="ppaction://hlinksldjump" tooltip="Zu Folie 5">
                  <a:extLst>
                    <a:ext uri="{A12FA001-AC4F-418D-AE19-62706E023703}">
                      <ahyp:hlinkClr xmlns:ahyp="http://schemas.microsoft.com/office/drawing/2018/hyperlinkcolor" val="tx"/>
                    </a:ext>
                  </a:extLst>
                </a:hlinkClick>
              </a:rPr>
              <a:t>Spielablauf &amp; Objektmodell</a:t>
            </a:r>
            <a:endParaRPr lang="en-US" sz="1400" dirty="0"/>
          </a:p>
        </p:txBody>
      </p:sp>
      <p:sp>
        <p:nvSpPr>
          <p:cNvPr id="26" name="Text 22"/>
          <p:cNvSpPr/>
          <p:nvPr/>
        </p:nvSpPr>
        <p:spPr>
          <a:xfrm>
            <a:off x="7013448" y="2990088"/>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Zustände, Game, Board, Player und Move</a:t>
            </a:r>
            <a:endParaRPr lang="en-US" sz="990" dirty="0"/>
          </a:p>
        </p:txBody>
      </p:sp>
      <p:sp>
        <p:nvSpPr>
          <p:cNvPr id="27" name="Text 23"/>
          <p:cNvSpPr/>
          <p:nvPr/>
        </p:nvSpPr>
        <p:spPr>
          <a:xfrm>
            <a:off x="10360152" y="3182112"/>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Folien 05–06</a:t>
            </a:r>
            <a:endParaRPr lang="en-US" sz="770" dirty="0"/>
          </a:p>
        </p:txBody>
      </p:sp>
      <p:sp>
        <p:nvSpPr>
          <p:cNvPr id="28" name="Shape 24">
            <a:hlinkClick r:id="rId6" tooltip="Öffnet Spielablauf &amp; Objektmodell" action="ppaction://hlinksldjump"/>
          </p:cNvPr>
          <p:cNvSpPr/>
          <p:nvPr/>
        </p:nvSpPr>
        <p:spPr>
          <a:xfrm>
            <a:off x="6263640" y="2542032"/>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29" name="Shape 25"/>
          <p:cNvSpPr/>
          <p:nvPr/>
        </p:nvSpPr>
        <p:spPr>
          <a:xfrm>
            <a:off x="658368" y="3493008"/>
            <a:ext cx="5367528" cy="804672"/>
          </a:xfrm>
          <a:prstGeom prst="roundRect">
            <a:avLst>
              <a:gd name="adj" fmla="val 14773"/>
            </a:avLst>
          </a:prstGeom>
          <a:solidFill>
            <a:srgbClr val="FFFFFF"/>
          </a:solidFill>
          <a:ln w="8255">
            <a:solidFill>
              <a:srgbClr val="D8E3EE"/>
            </a:solidFill>
            <a:prstDash val="solid"/>
          </a:ln>
        </p:spPr>
        <p:txBody>
          <a:bodyPr/>
          <a:p/>
        </p:txBody>
      </p:sp>
      <p:sp>
        <p:nvSpPr>
          <p:cNvPr id="30" name="Shape 26"/>
          <p:cNvSpPr/>
          <p:nvPr/>
        </p:nvSpPr>
        <p:spPr>
          <a:xfrm>
            <a:off x="786384" y="3639312"/>
            <a:ext cx="475488" cy="484632"/>
          </a:xfrm>
          <a:prstGeom prst="roundRect">
            <a:avLst>
              <a:gd name="adj" fmla="val 15385"/>
            </a:avLst>
          </a:prstGeom>
          <a:solidFill>
            <a:srgbClr val="2478F6"/>
          </a:solidFill>
          <a:ln w="12700">
            <a:solidFill>
              <a:srgbClr val="2478F6">
                <a:alpha val="0"/>
              </a:srgbClr>
            </a:solidFill>
            <a:prstDash val="solid"/>
          </a:ln>
        </p:spPr>
        <p:txBody>
          <a:bodyPr/>
          <a:p/>
        </p:txBody>
      </p:sp>
      <p:sp>
        <p:nvSpPr>
          <p:cNvPr id="31" name="Text 27"/>
          <p:cNvSpPr/>
          <p:nvPr/>
        </p:nvSpPr>
        <p:spPr>
          <a:xfrm>
            <a:off x="813816" y="3776472"/>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03</a:t>
            </a:r>
            <a:endParaRPr lang="en-US" sz="1180" dirty="0"/>
          </a:p>
        </p:txBody>
      </p:sp>
      <p:sp>
        <p:nvSpPr>
          <p:cNvPr id="32" name="Text 28">
            <a:hlinkClick r:id="rId7" tooltip="Zu Folie 7" action="ppaction://hlinksldjump"/>
          </p:cNvPr>
          <p:cNvSpPr/>
          <p:nvPr/>
        </p:nvSpPr>
        <p:spPr>
          <a:xfrm>
            <a:off x="1408176" y="3611880"/>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7" action="ppaction://hlinksldjump" tooltip="Zu Folie 7">
                  <a:extLst>
                    <a:ext uri="{A12FA001-AC4F-418D-AE19-62706E023703}">
                      <ahyp:hlinkClr xmlns:ahyp="http://schemas.microsoft.com/office/drawing/2018/hyperlinkcolor" val="tx"/>
                    </a:ext>
                  </a:extLst>
                </a:hlinkClick>
              </a:rPr>
              <a:t>Codeaufbau &amp; Sieglogik</a:t>
            </a:r>
            <a:endParaRPr lang="en-US" sz="1400" dirty="0"/>
          </a:p>
        </p:txBody>
      </p:sp>
      <p:sp>
        <p:nvSpPr>
          <p:cNvPr id="33" name="Text 29"/>
          <p:cNvSpPr/>
          <p:nvPr/>
        </p:nvSpPr>
        <p:spPr>
          <a:xfrm>
            <a:off x="1408176" y="3941064"/>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Header/CPP und vier Prüfungsachsen</a:t>
            </a:r>
            <a:endParaRPr lang="en-US" sz="990" dirty="0"/>
          </a:p>
        </p:txBody>
      </p:sp>
      <p:sp>
        <p:nvSpPr>
          <p:cNvPr id="34" name="Text 30"/>
          <p:cNvSpPr/>
          <p:nvPr/>
        </p:nvSpPr>
        <p:spPr>
          <a:xfrm>
            <a:off x="4754880" y="4133088"/>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Folien 07–08</a:t>
            </a:r>
            <a:endParaRPr lang="en-US" sz="770" dirty="0"/>
          </a:p>
        </p:txBody>
      </p:sp>
      <p:sp>
        <p:nvSpPr>
          <p:cNvPr id="35" name="Shape 31">
            <a:hlinkClick r:id="rId8" tooltip="Öffnet Codeaufbau &amp; Sieglogik" action="ppaction://hlinksldjump"/>
          </p:cNvPr>
          <p:cNvSpPr/>
          <p:nvPr/>
        </p:nvSpPr>
        <p:spPr>
          <a:xfrm>
            <a:off x="658368" y="3493008"/>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36" name="Shape 32"/>
          <p:cNvSpPr/>
          <p:nvPr/>
        </p:nvSpPr>
        <p:spPr>
          <a:xfrm>
            <a:off x="6263640" y="3493008"/>
            <a:ext cx="5367528" cy="804672"/>
          </a:xfrm>
          <a:prstGeom prst="roundRect">
            <a:avLst>
              <a:gd name="adj" fmla="val 14773"/>
            </a:avLst>
          </a:prstGeom>
          <a:solidFill>
            <a:srgbClr val="FFFFFF"/>
          </a:solidFill>
          <a:ln w="8255">
            <a:solidFill>
              <a:srgbClr val="D8E3EE"/>
            </a:solidFill>
            <a:prstDash val="solid"/>
          </a:ln>
        </p:spPr>
        <p:txBody>
          <a:bodyPr/>
          <a:p/>
        </p:txBody>
      </p:sp>
      <p:sp>
        <p:nvSpPr>
          <p:cNvPr id="37" name="Shape 33"/>
          <p:cNvSpPr/>
          <p:nvPr/>
        </p:nvSpPr>
        <p:spPr>
          <a:xfrm>
            <a:off x="6391656" y="3639312"/>
            <a:ext cx="475488" cy="484632"/>
          </a:xfrm>
          <a:prstGeom prst="roundRect">
            <a:avLst>
              <a:gd name="adj" fmla="val 15385"/>
            </a:avLst>
          </a:prstGeom>
          <a:solidFill>
            <a:srgbClr val="2478F6"/>
          </a:solidFill>
          <a:ln w="12700">
            <a:solidFill>
              <a:srgbClr val="2478F6">
                <a:alpha val="0"/>
              </a:srgbClr>
            </a:solidFill>
            <a:prstDash val="solid"/>
          </a:ln>
        </p:spPr>
        <p:txBody>
          <a:bodyPr/>
          <a:p/>
        </p:txBody>
      </p:sp>
      <p:sp>
        <p:nvSpPr>
          <p:cNvPr id="38" name="Text 34"/>
          <p:cNvSpPr/>
          <p:nvPr/>
        </p:nvSpPr>
        <p:spPr>
          <a:xfrm>
            <a:off x="6419088" y="3776472"/>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04</a:t>
            </a:r>
            <a:endParaRPr lang="en-US" sz="1180" dirty="0"/>
          </a:p>
        </p:txBody>
      </p:sp>
      <p:sp>
        <p:nvSpPr>
          <p:cNvPr id="39" name="Text 35">
            <a:hlinkClick r:id="rId9" tooltip="Zu Folie 9" action="ppaction://hlinksldjump"/>
          </p:cNvPr>
          <p:cNvSpPr/>
          <p:nvPr/>
        </p:nvSpPr>
        <p:spPr>
          <a:xfrm>
            <a:off x="7013448" y="3611880"/>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9" action="ppaction://hlinksldjump" tooltip="Zu Folie 9">
                  <a:extLst>
                    <a:ext uri="{A12FA001-AC4F-418D-AE19-62706E023703}">
                      <ahyp:hlinkClr xmlns:ahyp="http://schemas.microsoft.com/office/drawing/2018/hyperlinkcolor" val="tx"/>
                    </a:ext>
                  </a:extLst>
                </a:hlinkClick>
              </a:rPr>
              <a:t>Persistenz &amp; Komfortbefehle</a:t>
            </a:r>
            <a:endParaRPr lang="en-US" sz="1400" dirty="0"/>
          </a:p>
        </p:txBody>
      </p:sp>
      <p:sp>
        <p:nvSpPr>
          <p:cNvPr id="40" name="Text 36"/>
          <p:cNvSpPr/>
          <p:nvPr/>
        </p:nvSpPr>
        <p:spPr>
          <a:xfrm>
            <a:off x="7013448" y="3941064"/>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Speichern, Laden, Sonderbefehle</a:t>
            </a:r>
            <a:endParaRPr lang="en-US" sz="990" dirty="0"/>
          </a:p>
        </p:txBody>
      </p:sp>
      <p:sp>
        <p:nvSpPr>
          <p:cNvPr id="41" name="Text 37"/>
          <p:cNvSpPr/>
          <p:nvPr/>
        </p:nvSpPr>
        <p:spPr>
          <a:xfrm>
            <a:off x="10360152" y="4133088"/>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Folien 09–10</a:t>
            </a:r>
            <a:endParaRPr lang="en-US" sz="770" dirty="0"/>
          </a:p>
        </p:txBody>
      </p:sp>
      <p:sp>
        <p:nvSpPr>
          <p:cNvPr id="42" name="Shape 38">
            <a:hlinkClick r:id="rId10" tooltip="Öffnet Persistenz &amp; Komfortbefehle" action="ppaction://hlinksldjump"/>
          </p:cNvPr>
          <p:cNvSpPr/>
          <p:nvPr/>
        </p:nvSpPr>
        <p:spPr>
          <a:xfrm>
            <a:off x="6263640" y="3493008"/>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43" name="Shape 39"/>
          <p:cNvSpPr/>
          <p:nvPr/>
        </p:nvSpPr>
        <p:spPr>
          <a:xfrm>
            <a:off x="658368" y="4443984"/>
            <a:ext cx="5367528" cy="804672"/>
          </a:xfrm>
          <a:prstGeom prst="roundRect">
            <a:avLst>
              <a:gd name="adj" fmla="val 14773"/>
            </a:avLst>
          </a:prstGeom>
          <a:solidFill>
            <a:srgbClr val="FFFFFF"/>
          </a:solidFill>
          <a:ln w="8255">
            <a:solidFill>
              <a:srgbClr val="D8E3EE"/>
            </a:solidFill>
            <a:prstDash val="solid"/>
          </a:ln>
        </p:spPr>
        <p:txBody>
          <a:bodyPr/>
          <a:p/>
        </p:txBody>
      </p:sp>
      <p:sp>
        <p:nvSpPr>
          <p:cNvPr id="44" name="Shape 40"/>
          <p:cNvSpPr/>
          <p:nvPr/>
        </p:nvSpPr>
        <p:spPr>
          <a:xfrm>
            <a:off x="786384" y="4590288"/>
            <a:ext cx="475488" cy="484632"/>
          </a:xfrm>
          <a:prstGeom prst="roundRect">
            <a:avLst>
              <a:gd name="adj" fmla="val 15385"/>
            </a:avLst>
          </a:prstGeom>
          <a:solidFill>
            <a:srgbClr val="2478F6"/>
          </a:solidFill>
          <a:ln w="12700">
            <a:solidFill>
              <a:srgbClr val="2478F6">
                <a:alpha val="0"/>
              </a:srgbClr>
            </a:solidFill>
            <a:prstDash val="solid"/>
          </a:ln>
        </p:spPr>
        <p:txBody>
          <a:bodyPr/>
          <a:p/>
        </p:txBody>
      </p:sp>
      <p:sp>
        <p:nvSpPr>
          <p:cNvPr id="45" name="Text 41"/>
          <p:cNvSpPr/>
          <p:nvPr/>
        </p:nvSpPr>
        <p:spPr>
          <a:xfrm>
            <a:off x="813816" y="4727448"/>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05</a:t>
            </a:r>
            <a:endParaRPr lang="en-US" sz="1180" dirty="0"/>
          </a:p>
        </p:txBody>
      </p:sp>
      <p:sp>
        <p:nvSpPr>
          <p:cNvPr id="46" name="Text 42">
            <a:hlinkClick r:id="rId11" tooltip="Zu Folie 11" action="ppaction://hlinksldjump"/>
          </p:cNvPr>
          <p:cNvSpPr/>
          <p:nvPr/>
        </p:nvSpPr>
        <p:spPr>
          <a:xfrm>
            <a:off x="1408176" y="4562856"/>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11" action="ppaction://hlinksldjump" tooltip="Zu Folie 11">
                  <a:extLst>
                    <a:ext uri="{A12FA001-AC4F-418D-AE19-62706E023703}">
                      <ahyp:hlinkClr xmlns:ahyp="http://schemas.microsoft.com/office/drawing/2018/hyperlinkcolor" val="tx"/>
                    </a:ext>
                  </a:extLst>
                </a:hlinkClick>
              </a:rPr>
              <a:t>Tests, Projektstand &amp; Fazit</a:t>
            </a:r>
            <a:endParaRPr lang="en-US" sz="1400" dirty="0"/>
          </a:p>
        </p:txBody>
      </p:sp>
      <p:sp>
        <p:nvSpPr>
          <p:cNvPr id="47" name="Text 43"/>
          <p:cNvSpPr/>
          <p:nvPr/>
        </p:nvSpPr>
        <p:spPr>
          <a:xfrm>
            <a:off x="1408176" y="4892040"/>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Erreichte Funktionen, offene Nachweise</a:t>
            </a:r>
            <a:endParaRPr lang="en-US" sz="990" dirty="0"/>
          </a:p>
        </p:txBody>
      </p:sp>
      <p:sp>
        <p:nvSpPr>
          <p:cNvPr id="48" name="Text 44"/>
          <p:cNvSpPr/>
          <p:nvPr/>
        </p:nvSpPr>
        <p:spPr>
          <a:xfrm>
            <a:off x="4754880" y="5084064"/>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Folien 11–13</a:t>
            </a:r>
            <a:endParaRPr lang="en-US" sz="770" dirty="0"/>
          </a:p>
        </p:txBody>
      </p:sp>
      <p:sp>
        <p:nvSpPr>
          <p:cNvPr id="49" name="Shape 45">
            <a:hlinkClick r:id="rId12" tooltip="Öffnet Tests, Projektstand &amp; Fazit" action="ppaction://hlinksldjump"/>
          </p:cNvPr>
          <p:cNvSpPr/>
          <p:nvPr/>
        </p:nvSpPr>
        <p:spPr>
          <a:xfrm>
            <a:off x="658368" y="4443984"/>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50" name="Shape 46"/>
          <p:cNvSpPr/>
          <p:nvPr/>
        </p:nvSpPr>
        <p:spPr>
          <a:xfrm>
            <a:off x="6263640" y="4443984"/>
            <a:ext cx="5367528" cy="804672"/>
          </a:xfrm>
          <a:prstGeom prst="roundRect">
            <a:avLst>
              <a:gd name="adj" fmla="val 14773"/>
            </a:avLst>
          </a:prstGeom>
          <a:solidFill>
            <a:srgbClr val="FFFFFF"/>
          </a:solidFill>
          <a:ln w="8255">
            <a:solidFill>
              <a:srgbClr val="D8E3EE"/>
            </a:solidFill>
            <a:prstDash val="solid"/>
          </a:ln>
        </p:spPr>
        <p:txBody>
          <a:bodyPr/>
          <a:p/>
        </p:txBody>
      </p:sp>
      <p:sp>
        <p:nvSpPr>
          <p:cNvPr id="51" name="Shape 47"/>
          <p:cNvSpPr/>
          <p:nvPr/>
        </p:nvSpPr>
        <p:spPr>
          <a:xfrm>
            <a:off x="6391656" y="4590288"/>
            <a:ext cx="475488" cy="484632"/>
          </a:xfrm>
          <a:prstGeom prst="roundRect">
            <a:avLst>
              <a:gd name="adj" fmla="val 15385"/>
            </a:avLst>
          </a:prstGeom>
          <a:solidFill>
            <a:srgbClr val="0A2544"/>
          </a:solidFill>
          <a:ln w="12700">
            <a:solidFill>
              <a:srgbClr val="0A2544">
                <a:alpha val="0"/>
              </a:srgbClr>
            </a:solidFill>
            <a:prstDash val="solid"/>
          </a:ln>
        </p:spPr>
        <p:txBody>
          <a:bodyPr/>
          <a:p/>
        </p:txBody>
      </p:sp>
      <p:sp>
        <p:nvSpPr>
          <p:cNvPr id="52" name="Text 48"/>
          <p:cNvSpPr/>
          <p:nvPr/>
        </p:nvSpPr>
        <p:spPr>
          <a:xfrm>
            <a:off x="6419088" y="4727448"/>
            <a:ext cx="429768" cy="192024"/>
          </a:xfrm>
          <a:prstGeom prst="rect">
            <a:avLst/>
          </a:prstGeom>
          <a:noFill/>
          <a:ln/>
        </p:spPr>
        <p:txBody>
          <a:bodyPr wrap="square" lIns="0" tIns="0" rIns="0" bIns="0" rtlCol="0" anchor="ctr">
            <a:normAutofit/>
          </a:bodyPr>
          <a:lstStyle/>
          <a:p>
            <a:pPr algn="ctr" indent="0" marL="0">
              <a:lnSpc>
                <a:spcPct val="100000"/>
              </a:lnSpc>
              <a:buNone/>
            </a:pPr>
            <a:r>
              <a:rPr lang="en-US" sz="1180" b="1" dirty="0">
                <a:solidFill>
                  <a:srgbClr val="FFFFFF"/>
                </a:solidFill>
                <a:latin typeface="Inter" pitchFamily="34" charset="0"/>
                <a:ea typeface="Inter" pitchFamily="34" charset="-122"/>
                <a:cs typeface="Inter" pitchFamily="34" charset="-120"/>
              </a:rPr>
              <a:t>06</a:t>
            </a:r>
            <a:endParaRPr lang="en-US" sz="1180" dirty="0"/>
          </a:p>
        </p:txBody>
      </p:sp>
      <p:sp>
        <p:nvSpPr>
          <p:cNvPr id="53" name="Text 49">
            <a:hlinkClick r:id="rId13" tooltip="Zu Folie 14" action="ppaction://hlinksldjump"/>
          </p:cNvPr>
          <p:cNvSpPr/>
          <p:nvPr/>
        </p:nvSpPr>
        <p:spPr>
          <a:xfrm>
            <a:off x="7013448" y="4562856"/>
            <a:ext cx="4416552" cy="246888"/>
          </a:xfrm>
          <a:prstGeom prst="rect">
            <a:avLst/>
          </a:prstGeom>
          <a:noFill/>
          <a:ln/>
        </p:spPr>
        <p:txBody>
          <a:bodyPr wrap="square" lIns="0" tIns="0" rIns="0" bIns="0" rtlCol="0" anchor="ctr">
            <a:normAutofit/>
          </a:bodyPr>
          <a:lstStyle/>
          <a:p>
            <a:pPr algn="l" indent="0" marL="0">
              <a:lnSpc>
                <a:spcPct val="100000"/>
              </a:lnSpc>
              <a:buNone/>
            </a:pPr>
            <a:r>
              <a:rPr lang="en-US" sz="1400" b="1" u="sng" dirty="0">
                <a:solidFill>
                  <a:srgbClr val="10263D"/>
                </a:solidFill>
                <a:latin typeface="Inter" pitchFamily="34" charset="0"/>
                <a:ea typeface="Inter" pitchFamily="34" charset="-122"/>
                <a:cs typeface="Inter" pitchFamily="34" charset="-120"/>
                <a:hlinkClick r:id="rId13" action="ppaction://hlinksldjump" tooltip="Zu Folie 14">
                  <a:extLst>
                    <a:ext uri="{A12FA001-AC4F-418D-AE19-62706E023703}">
                      <ahyp:hlinkClr xmlns:ahyp="http://schemas.microsoft.com/office/drawing/2018/hyperlinkcolor" val="tx"/>
                    </a:ext>
                  </a:extLst>
                </a:hlinkClick>
              </a:rPr>
              <a:t>Live-Code in Visual Studio Code</a:t>
            </a:r>
            <a:endParaRPr lang="en-US" sz="1400" dirty="0"/>
          </a:p>
        </p:txBody>
      </p:sp>
      <p:sp>
        <p:nvSpPr>
          <p:cNvPr id="54" name="Text 50"/>
          <p:cNvSpPr/>
          <p:nvPr/>
        </p:nvSpPr>
        <p:spPr>
          <a:xfrm>
            <a:off x="7013448" y="4892040"/>
            <a:ext cx="4078224" cy="164592"/>
          </a:xfrm>
          <a:prstGeom prst="rect">
            <a:avLst/>
          </a:prstGeom>
          <a:noFill/>
          <a:ln/>
        </p:spPr>
        <p:txBody>
          <a:bodyPr wrap="square" lIns="0" tIns="0" rIns="0" bIns="0" rtlCol="0" anchor="ctr">
            <a:normAutofit/>
          </a:bodyPr>
          <a:lstStyle/>
          <a:p>
            <a:pPr algn="l" indent="0" marL="0">
              <a:lnSpc>
                <a:spcPct val="100000"/>
              </a:lnSpc>
              <a:buNone/>
            </a:pPr>
            <a:r>
              <a:rPr lang="en-US" sz="990" dirty="0">
                <a:solidFill>
                  <a:srgbClr val="557087"/>
                </a:solidFill>
                <a:latin typeface="Inter" pitchFamily="34" charset="0"/>
                <a:ea typeface="Inter" pitchFamily="34" charset="-122"/>
                <a:cs typeface="Inter" pitchFamily="34" charset="-120"/>
              </a:rPr>
              <a:t>Anschließend 15 Minuten ausführbarer Code</a:t>
            </a:r>
            <a:endParaRPr lang="en-US" sz="990" dirty="0"/>
          </a:p>
        </p:txBody>
      </p:sp>
      <p:sp>
        <p:nvSpPr>
          <p:cNvPr id="55" name="Text 51"/>
          <p:cNvSpPr/>
          <p:nvPr/>
        </p:nvSpPr>
        <p:spPr>
          <a:xfrm>
            <a:off x="10360152" y="5084064"/>
            <a:ext cx="1060704" cy="109728"/>
          </a:xfrm>
          <a:prstGeom prst="rect">
            <a:avLst/>
          </a:prstGeom>
          <a:noFill/>
          <a:ln/>
        </p:spPr>
        <p:txBody>
          <a:bodyPr wrap="square" lIns="0" tIns="0" rIns="0" bIns="0" rtlCol="0" anchor="ctr">
            <a:normAutofit/>
          </a:bodyPr>
          <a:lstStyle/>
          <a:p>
            <a:pPr algn="r" indent="0" marL="0">
              <a:lnSpc>
                <a:spcPct val="100000"/>
              </a:lnSpc>
              <a:buNone/>
            </a:pPr>
            <a:r>
              <a:rPr lang="en-US" sz="770" dirty="0">
                <a:solidFill>
                  <a:srgbClr val="2478F6"/>
                </a:solidFill>
                <a:latin typeface="Inter" pitchFamily="34" charset="0"/>
                <a:ea typeface="Inter" pitchFamily="34" charset="-122"/>
                <a:cs typeface="Inter" pitchFamily="34" charset="-120"/>
              </a:rPr>
              <a:t>Folie 14</a:t>
            </a:r>
            <a:endParaRPr lang="en-US" sz="770" dirty="0"/>
          </a:p>
        </p:txBody>
      </p:sp>
      <p:sp>
        <p:nvSpPr>
          <p:cNvPr id="56" name="Shape 52">
            <a:hlinkClick r:id="rId14" tooltip="Öffnet Live-Code in Visual Studio Code" action="ppaction://hlinksldjump"/>
          </p:cNvPr>
          <p:cNvSpPr/>
          <p:nvPr/>
        </p:nvSpPr>
        <p:spPr>
          <a:xfrm>
            <a:off x="6263640" y="4443984"/>
            <a:ext cx="5367528" cy="804672"/>
          </a:xfrm>
          <a:prstGeom prst="rect">
            <a:avLst/>
          </a:prstGeom>
          <a:solidFill>
            <a:srgbClr val="FFFFFF">
              <a:alpha val="0"/>
            </a:srgbClr>
          </a:solidFill>
          <a:ln w="12700">
            <a:solidFill>
              <a:srgbClr val="FFFFFF">
                <a:alpha val="0"/>
              </a:srgbClr>
            </a:solidFill>
            <a:prstDash val="solid"/>
          </a:ln>
        </p:spPr>
        <p:txBody>
          <a:bodyPr/>
          <a:p/>
        </p:txBody>
      </p:sp>
      <p:sp>
        <p:nvSpPr>
          <p:cNvPr id="57" name="Shape 53"/>
          <p:cNvSpPr/>
          <p:nvPr/>
        </p:nvSpPr>
        <p:spPr>
          <a:xfrm>
            <a:off x="685800" y="5614416"/>
            <a:ext cx="10762488" cy="530352"/>
          </a:xfrm>
          <a:prstGeom prst="roundRect">
            <a:avLst>
              <a:gd name="adj" fmla="val 18966"/>
            </a:avLst>
          </a:prstGeom>
          <a:solidFill>
            <a:srgbClr val="0A2544"/>
          </a:solidFill>
          <a:ln w="12700">
            <a:solidFill>
              <a:srgbClr val="0A2544">
                <a:alpha val="0"/>
              </a:srgbClr>
            </a:solidFill>
            <a:prstDash val="solid"/>
          </a:ln>
        </p:spPr>
        <p:txBody>
          <a:bodyPr/>
          <a:p/>
        </p:txBody>
      </p:sp>
      <p:sp>
        <p:nvSpPr>
          <p:cNvPr id="58" name="Text 54"/>
          <p:cNvSpPr/>
          <p:nvPr/>
        </p:nvSpPr>
        <p:spPr>
          <a:xfrm>
            <a:off x="941832" y="5788152"/>
            <a:ext cx="4910328" cy="155448"/>
          </a:xfrm>
          <a:prstGeom prst="rect">
            <a:avLst/>
          </a:prstGeom>
          <a:noFill/>
          <a:ln/>
        </p:spPr>
        <p:txBody>
          <a:bodyPr wrap="square" lIns="0" tIns="0" rIns="0" bIns="0" rtlCol="0" anchor="ctr">
            <a:normAutofit/>
          </a:bodyPr>
          <a:lstStyle/>
          <a:p>
            <a:pPr algn="ctr" indent="0" marL="0">
              <a:lnSpc>
                <a:spcPct val="100000"/>
              </a:lnSpc>
              <a:buNone/>
            </a:pPr>
            <a:r>
              <a:rPr lang="en-US" sz="1060" b="1" dirty="0">
                <a:solidFill>
                  <a:srgbClr val="FFFFFF"/>
                </a:solidFill>
                <a:latin typeface="Inter" pitchFamily="34" charset="0"/>
                <a:ea typeface="Inter" pitchFamily="34" charset="-122"/>
                <a:cs typeface="Inter" pitchFamily="34" charset="-120"/>
              </a:rPr>
              <a:t>TEIL A  ·  15 MIN  PROJEKTPRÄSENTATION</a:t>
            </a:r>
            <a:endParaRPr lang="en-US" sz="1060" dirty="0"/>
          </a:p>
        </p:txBody>
      </p:sp>
      <p:sp>
        <p:nvSpPr>
          <p:cNvPr id="59" name="Shape 55"/>
          <p:cNvSpPr/>
          <p:nvPr/>
        </p:nvSpPr>
        <p:spPr>
          <a:xfrm>
            <a:off x="6080760" y="5760720"/>
            <a:ext cx="0" cy="228600"/>
          </a:xfrm>
          <a:prstGeom prst="line">
            <a:avLst/>
          </a:prstGeom>
          <a:noFill/>
          <a:ln w="12700">
            <a:solidFill>
              <a:srgbClr val="5480AD"/>
            </a:solidFill>
            <a:prstDash val="solid"/>
          </a:ln>
        </p:spPr>
        <p:txBody>
          <a:bodyPr/>
          <a:p/>
        </p:txBody>
      </p:sp>
      <p:sp>
        <p:nvSpPr>
          <p:cNvPr id="60" name="Text 56"/>
          <p:cNvSpPr/>
          <p:nvPr/>
        </p:nvSpPr>
        <p:spPr>
          <a:xfrm>
            <a:off x="6291072" y="5788152"/>
            <a:ext cx="4800600" cy="155448"/>
          </a:xfrm>
          <a:prstGeom prst="rect">
            <a:avLst/>
          </a:prstGeom>
          <a:noFill/>
          <a:ln/>
        </p:spPr>
        <p:txBody>
          <a:bodyPr wrap="square" lIns="0" tIns="0" rIns="0" bIns="0" rtlCol="0" anchor="ctr">
            <a:normAutofit/>
          </a:bodyPr>
          <a:lstStyle/>
          <a:p>
            <a:pPr algn="ctr" indent="0" marL="0">
              <a:lnSpc>
                <a:spcPct val="100000"/>
              </a:lnSpc>
              <a:buNone/>
            </a:pPr>
            <a:r>
              <a:rPr lang="en-US" sz="1060" b="1" dirty="0">
                <a:solidFill>
                  <a:srgbClr val="35C8EF"/>
                </a:solidFill>
                <a:latin typeface="Inter" pitchFamily="34" charset="0"/>
                <a:ea typeface="Inter" pitchFamily="34" charset="-122"/>
                <a:cs typeface="Inter" pitchFamily="34" charset="-120"/>
              </a:rPr>
              <a:t>TEIL B  ·  15 MIN  CODE + DEMO</a:t>
            </a:r>
            <a:endParaRPr lang="en-US" sz="10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03  /  PROJEKTIDEE</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Klassisches Spiel. Technische Neuinterpretation.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Das bekannte Spielprinzip bleibt erhalten. Die Umsetzung setzt auf C++17 und objektorientierte Programmierung.</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03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557784" y="2679192"/>
            <a:ext cx="5257800" cy="1380744"/>
          </a:xfrm>
          <a:prstGeom prst="roundRect">
            <a:avLst>
              <a:gd name="adj" fmla="val 8609"/>
            </a:avLst>
          </a:prstGeom>
          <a:solidFill>
            <a:srgbClr val="FFFFFF"/>
          </a:solidFill>
          <a:ln w="8255">
            <a:solidFill>
              <a:srgbClr val="D8E3EE"/>
            </a:solidFill>
            <a:prstDash val="solid"/>
          </a:ln>
        </p:spPr>
        <p:txBody>
          <a:bodyPr/>
          <a:p/>
        </p:txBody>
      </p:sp>
      <p:sp>
        <p:nvSpPr>
          <p:cNvPr id="27" name="Shape 23"/>
          <p:cNvSpPr/>
          <p:nvPr/>
        </p:nvSpPr>
        <p:spPr>
          <a:xfrm>
            <a:off x="731520" y="2907792"/>
            <a:ext cx="50292" cy="310896"/>
          </a:xfrm>
          <a:prstGeom prst="rect">
            <a:avLst/>
          </a:prstGeom>
          <a:solidFill>
            <a:srgbClr val="2478F6"/>
          </a:solidFill>
          <a:ln w="12700">
            <a:solidFill>
              <a:srgbClr val="2478F6">
                <a:alpha val="0"/>
              </a:srgbClr>
            </a:solidFill>
            <a:prstDash val="solid"/>
          </a:ln>
        </p:spPr>
        <p:txBody>
          <a:bodyPr/>
          <a:p/>
        </p:txBody>
      </p:sp>
      <p:sp>
        <p:nvSpPr>
          <p:cNvPr id="28" name="Text 24"/>
          <p:cNvSpPr/>
          <p:nvPr/>
        </p:nvSpPr>
        <p:spPr>
          <a:xfrm>
            <a:off x="914400" y="2880360"/>
            <a:ext cx="4727448"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Spielfunktion</a:t>
            </a:r>
            <a:endParaRPr lang="en-US" sz="1620" dirty="0"/>
          </a:p>
        </p:txBody>
      </p:sp>
      <p:sp>
        <p:nvSpPr>
          <p:cNvPr id="29" name="Text 25"/>
          <p:cNvSpPr/>
          <p:nvPr/>
        </p:nvSpPr>
        <p:spPr>
          <a:xfrm>
            <a:off x="758952" y="3392424"/>
            <a:ext cx="4855464" cy="49377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Zwei bis vier Personen spielen lokal in der Konsole. Vier gleiche Symbole in Folge entscheiden die Partie.</a:t>
            </a:r>
            <a:endParaRPr lang="en-US" sz="1210" dirty="0"/>
          </a:p>
        </p:txBody>
      </p:sp>
      <p:sp>
        <p:nvSpPr>
          <p:cNvPr id="30" name="Shape 26"/>
          <p:cNvSpPr/>
          <p:nvPr/>
        </p:nvSpPr>
        <p:spPr>
          <a:xfrm>
            <a:off x="557784" y="4279392"/>
            <a:ext cx="5257800" cy="1380744"/>
          </a:xfrm>
          <a:prstGeom prst="roundRect">
            <a:avLst>
              <a:gd name="adj" fmla="val 8609"/>
            </a:avLst>
          </a:prstGeom>
          <a:solidFill>
            <a:srgbClr val="FFFFFF"/>
          </a:solidFill>
          <a:ln w="8255">
            <a:solidFill>
              <a:srgbClr val="D8E3EE"/>
            </a:solidFill>
            <a:prstDash val="solid"/>
          </a:ln>
        </p:spPr>
        <p:txBody>
          <a:bodyPr/>
          <a:p/>
        </p:txBody>
      </p:sp>
      <p:sp>
        <p:nvSpPr>
          <p:cNvPr id="31" name="Shape 27"/>
          <p:cNvSpPr/>
          <p:nvPr/>
        </p:nvSpPr>
        <p:spPr>
          <a:xfrm>
            <a:off x="731520" y="4507992"/>
            <a:ext cx="50292" cy="310896"/>
          </a:xfrm>
          <a:prstGeom prst="rect">
            <a:avLst/>
          </a:prstGeom>
          <a:solidFill>
            <a:srgbClr val="2478F6"/>
          </a:solidFill>
          <a:ln w="12700">
            <a:solidFill>
              <a:srgbClr val="2478F6">
                <a:alpha val="0"/>
              </a:srgbClr>
            </a:solidFill>
            <a:prstDash val="solid"/>
          </a:ln>
        </p:spPr>
        <p:txBody>
          <a:bodyPr/>
          <a:p/>
        </p:txBody>
      </p:sp>
      <p:sp>
        <p:nvSpPr>
          <p:cNvPr id="32" name="Text 28"/>
          <p:cNvSpPr/>
          <p:nvPr/>
        </p:nvSpPr>
        <p:spPr>
          <a:xfrm>
            <a:off x="914400" y="4480560"/>
            <a:ext cx="4727448"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Gym-Konzept</a:t>
            </a:r>
            <a:endParaRPr lang="en-US" sz="1620" dirty="0"/>
          </a:p>
        </p:txBody>
      </p:sp>
      <p:sp>
        <p:nvSpPr>
          <p:cNvPr id="33" name="Text 29"/>
          <p:cNvSpPr/>
          <p:nvPr/>
        </p:nvSpPr>
        <p:spPr>
          <a:xfrm>
            <a:off x="758952" y="4992624"/>
            <a:ext cx="4855464" cy="49377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Die üblichen Spielsteine erscheinen in der Terminalausgabe als ASCII-Kurzhanteln, z. B. =[R]=.</a:t>
            </a:r>
            <a:endParaRPr lang="en-US" sz="1210" dirty="0"/>
          </a:p>
        </p:txBody>
      </p:sp>
      <p:pic>
        <p:nvPicPr>
          <p:cNvPr id="34" name="Image 2" descr="/mnt/data/_work_vier/assets/hero_board.png">    </p:cNvPr>
          <p:cNvPicPr>
            <a:picLocks noChangeAspect="1"/>
          </p:cNvPicPr>
          <p:nvPr/>
        </p:nvPicPr>
        <p:blipFill>
          <a:blip r:embed="rId4"/>
          <a:stretch>
            <a:fillRect/>
          </a:stretch>
        </p:blipFill>
        <p:spPr>
          <a:xfrm>
            <a:off x="6172200" y="2633472"/>
            <a:ext cx="5321808" cy="3493008"/>
          </a:xfrm>
          <a:prstGeom prst="rect">
            <a:avLst/>
          </a:prstGeom>
        </p:spPr>
      </p:pic>
      <p:sp>
        <p:nvSpPr>
          <p:cNvPr id="35" name="Shape 30"/>
          <p:cNvSpPr/>
          <p:nvPr/>
        </p:nvSpPr>
        <p:spPr>
          <a:xfrm>
            <a:off x="6519672" y="5660136"/>
            <a:ext cx="4654296" cy="338328"/>
          </a:xfrm>
          <a:prstGeom prst="roundRect">
            <a:avLst>
              <a:gd name="adj" fmla="val 13514"/>
            </a:avLst>
          </a:prstGeom>
          <a:solidFill>
            <a:srgbClr val="071B30"/>
          </a:solidFill>
          <a:ln w="12700">
            <a:solidFill>
              <a:srgbClr val="071B30">
                <a:alpha val="0"/>
              </a:srgbClr>
            </a:solidFill>
            <a:prstDash val="solid"/>
          </a:ln>
        </p:spPr>
        <p:txBody>
          <a:bodyPr/>
          <a:p/>
        </p:txBody>
      </p:sp>
      <p:sp>
        <p:nvSpPr>
          <p:cNvPr id="36" name="Text 31"/>
          <p:cNvSpPr/>
          <p:nvPr/>
        </p:nvSpPr>
        <p:spPr>
          <a:xfrm>
            <a:off x="6665976" y="5742432"/>
            <a:ext cx="4389120" cy="137160"/>
          </a:xfrm>
          <a:prstGeom prst="rect">
            <a:avLst/>
          </a:prstGeom>
          <a:noFill/>
          <a:ln/>
        </p:spPr>
        <p:txBody>
          <a:bodyPr wrap="square" lIns="0" tIns="0" rIns="0" bIns="0" rtlCol="0" anchor="ctr">
            <a:normAutofit/>
          </a:bodyPr>
          <a:lstStyle/>
          <a:p>
            <a:pPr algn="ctr" indent="0" marL="0">
              <a:lnSpc>
                <a:spcPct val="100000"/>
              </a:lnSpc>
              <a:buNone/>
            </a:pPr>
            <a:r>
              <a:rPr lang="en-US" sz="880" b="1" dirty="0">
                <a:solidFill>
                  <a:srgbClr val="35C8EF"/>
                </a:solidFill>
                <a:latin typeface="Inter" pitchFamily="34" charset="0"/>
                <a:ea typeface="Inter" pitchFamily="34" charset="-122"/>
                <a:cs typeface="Inter" pitchFamily="34" charset="-120"/>
              </a:rPr>
              <a:t>VISUALISIERUNG  ·  DESIGN-MOCKUP  ·  KEINE GUI</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04  /  ANFORDERUNGEN</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Ein Spielprinzip. Drei Spielfeldgrößen.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Je mehr Personen teilnehmen, desto größer ist das Spielfeld. Die Gewinnbedingung bleibt gleich.</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04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Text 22"/>
          <p:cNvSpPr/>
          <p:nvPr/>
        </p:nvSpPr>
        <p:spPr>
          <a:xfrm>
            <a:off x="1069848" y="2642616"/>
            <a:ext cx="2880360" cy="237744"/>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2478F6"/>
                </a:solidFill>
                <a:latin typeface="Inter" pitchFamily="34" charset="0"/>
                <a:ea typeface="Inter" pitchFamily="34" charset="-122"/>
                <a:cs typeface="Inter" pitchFamily="34" charset="-120"/>
              </a:rPr>
              <a:t>2 SPIELER</a:t>
            </a:r>
            <a:endParaRPr lang="en-US" sz="1320" dirty="0"/>
          </a:p>
        </p:txBody>
      </p:sp>
      <p:sp>
        <p:nvSpPr>
          <p:cNvPr id="27" name="Shape 23"/>
          <p:cNvSpPr/>
          <p:nvPr/>
        </p:nvSpPr>
        <p:spPr>
          <a:xfrm>
            <a:off x="1191006" y="3054096"/>
            <a:ext cx="2656332" cy="2313432"/>
          </a:xfrm>
          <a:prstGeom prst="roundRect">
            <a:avLst>
              <a:gd name="adj" fmla="val 5534"/>
            </a:avLst>
          </a:prstGeom>
          <a:solidFill>
            <a:srgbClr val="0A2544"/>
          </a:solidFill>
          <a:ln w="12700">
            <a:solidFill>
              <a:srgbClr val="0A2544">
                <a:alpha val="0"/>
              </a:srgbClr>
            </a:solidFill>
            <a:prstDash val="solid"/>
          </a:ln>
        </p:spPr>
        <p:txBody>
          <a:bodyPr/>
          <a:p/>
        </p:txBody>
      </p:sp>
      <p:sp>
        <p:nvSpPr>
          <p:cNvPr id="28" name="Shape 24"/>
          <p:cNvSpPr/>
          <p:nvPr/>
        </p:nvSpPr>
        <p:spPr>
          <a:xfrm>
            <a:off x="1373886" y="3236976"/>
            <a:ext cx="233172" cy="233172"/>
          </a:xfrm>
          <a:prstGeom prst="ellipse">
            <a:avLst/>
          </a:prstGeom>
          <a:solidFill>
            <a:srgbClr val="071B30"/>
          </a:solidFill>
          <a:ln w="8890">
            <a:solidFill>
              <a:srgbClr val="315779"/>
            </a:solidFill>
            <a:prstDash val="solid"/>
          </a:ln>
        </p:spPr>
        <p:txBody>
          <a:bodyPr/>
          <a:p/>
        </p:txBody>
      </p:sp>
      <p:sp>
        <p:nvSpPr>
          <p:cNvPr id="29" name="Shape 25"/>
          <p:cNvSpPr/>
          <p:nvPr/>
        </p:nvSpPr>
        <p:spPr>
          <a:xfrm>
            <a:off x="1716786" y="3236976"/>
            <a:ext cx="233172" cy="233172"/>
          </a:xfrm>
          <a:prstGeom prst="ellipse">
            <a:avLst/>
          </a:prstGeom>
          <a:solidFill>
            <a:srgbClr val="071B30"/>
          </a:solidFill>
          <a:ln w="8890">
            <a:solidFill>
              <a:srgbClr val="315779"/>
            </a:solidFill>
            <a:prstDash val="solid"/>
          </a:ln>
        </p:spPr>
        <p:txBody>
          <a:bodyPr/>
          <a:p/>
        </p:txBody>
      </p:sp>
      <p:sp>
        <p:nvSpPr>
          <p:cNvPr id="30" name="Shape 26"/>
          <p:cNvSpPr/>
          <p:nvPr/>
        </p:nvSpPr>
        <p:spPr>
          <a:xfrm>
            <a:off x="2059686" y="3236976"/>
            <a:ext cx="233172" cy="233172"/>
          </a:xfrm>
          <a:prstGeom prst="ellipse">
            <a:avLst/>
          </a:prstGeom>
          <a:solidFill>
            <a:srgbClr val="071B30"/>
          </a:solidFill>
          <a:ln w="8890">
            <a:solidFill>
              <a:srgbClr val="315779"/>
            </a:solidFill>
            <a:prstDash val="solid"/>
          </a:ln>
        </p:spPr>
        <p:txBody>
          <a:bodyPr/>
          <a:p/>
        </p:txBody>
      </p:sp>
      <p:sp>
        <p:nvSpPr>
          <p:cNvPr id="31" name="Shape 27"/>
          <p:cNvSpPr/>
          <p:nvPr/>
        </p:nvSpPr>
        <p:spPr>
          <a:xfrm>
            <a:off x="2402586" y="3236976"/>
            <a:ext cx="233172" cy="233172"/>
          </a:xfrm>
          <a:prstGeom prst="ellipse">
            <a:avLst/>
          </a:prstGeom>
          <a:solidFill>
            <a:srgbClr val="071B30"/>
          </a:solidFill>
          <a:ln w="8890">
            <a:solidFill>
              <a:srgbClr val="315779"/>
            </a:solidFill>
            <a:prstDash val="solid"/>
          </a:ln>
        </p:spPr>
        <p:txBody>
          <a:bodyPr/>
          <a:p/>
        </p:txBody>
      </p:sp>
      <p:sp>
        <p:nvSpPr>
          <p:cNvPr id="32" name="Shape 28"/>
          <p:cNvSpPr/>
          <p:nvPr/>
        </p:nvSpPr>
        <p:spPr>
          <a:xfrm>
            <a:off x="2745486" y="3236976"/>
            <a:ext cx="233172" cy="233172"/>
          </a:xfrm>
          <a:prstGeom prst="ellipse">
            <a:avLst/>
          </a:prstGeom>
          <a:solidFill>
            <a:srgbClr val="071B30"/>
          </a:solidFill>
          <a:ln w="8890">
            <a:solidFill>
              <a:srgbClr val="315779"/>
            </a:solidFill>
            <a:prstDash val="solid"/>
          </a:ln>
        </p:spPr>
        <p:txBody>
          <a:bodyPr/>
          <a:p/>
        </p:txBody>
      </p:sp>
      <p:sp>
        <p:nvSpPr>
          <p:cNvPr id="33" name="Shape 29"/>
          <p:cNvSpPr/>
          <p:nvPr/>
        </p:nvSpPr>
        <p:spPr>
          <a:xfrm>
            <a:off x="3088386" y="3236976"/>
            <a:ext cx="233172" cy="233172"/>
          </a:xfrm>
          <a:prstGeom prst="ellipse">
            <a:avLst/>
          </a:prstGeom>
          <a:solidFill>
            <a:srgbClr val="071B30"/>
          </a:solidFill>
          <a:ln w="8890">
            <a:solidFill>
              <a:srgbClr val="315779"/>
            </a:solidFill>
            <a:prstDash val="solid"/>
          </a:ln>
        </p:spPr>
        <p:txBody>
          <a:bodyPr/>
          <a:p/>
        </p:txBody>
      </p:sp>
      <p:sp>
        <p:nvSpPr>
          <p:cNvPr id="34" name="Shape 30"/>
          <p:cNvSpPr/>
          <p:nvPr/>
        </p:nvSpPr>
        <p:spPr>
          <a:xfrm>
            <a:off x="3431286" y="3236976"/>
            <a:ext cx="233172" cy="233172"/>
          </a:xfrm>
          <a:prstGeom prst="ellipse">
            <a:avLst/>
          </a:prstGeom>
          <a:solidFill>
            <a:srgbClr val="071B30"/>
          </a:solidFill>
          <a:ln w="8890">
            <a:solidFill>
              <a:srgbClr val="315779"/>
            </a:solidFill>
            <a:prstDash val="solid"/>
          </a:ln>
        </p:spPr>
        <p:txBody>
          <a:bodyPr/>
          <a:p/>
        </p:txBody>
      </p:sp>
      <p:sp>
        <p:nvSpPr>
          <p:cNvPr id="35" name="Shape 31"/>
          <p:cNvSpPr/>
          <p:nvPr/>
        </p:nvSpPr>
        <p:spPr>
          <a:xfrm>
            <a:off x="1373886" y="3579876"/>
            <a:ext cx="233172" cy="233172"/>
          </a:xfrm>
          <a:prstGeom prst="ellipse">
            <a:avLst/>
          </a:prstGeom>
          <a:solidFill>
            <a:srgbClr val="071B30"/>
          </a:solidFill>
          <a:ln w="8890">
            <a:solidFill>
              <a:srgbClr val="315779"/>
            </a:solidFill>
            <a:prstDash val="solid"/>
          </a:ln>
        </p:spPr>
        <p:txBody>
          <a:bodyPr/>
          <a:p/>
        </p:txBody>
      </p:sp>
      <p:sp>
        <p:nvSpPr>
          <p:cNvPr id="36" name="Shape 32"/>
          <p:cNvSpPr/>
          <p:nvPr/>
        </p:nvSpPr>
        <p:spPr>
          <a:xfrm>
            <a:off x="1716786" y="3579876"/>
            <a:ext cx="233172" cy="233172"/>
          </a:xfrm>
          <a:prstGeom prst="ellipse">
            <a:avLst/>
          </a:prstGeom>
          <a:solidFill>
            <a:srgbClr val="071B30"/>
          </a:solidFill>
          <a:ln w="8890">
            <a:solidFill>
              <a:srgbClr val="315779"/>
            </a:solidFill>
            <a:prstDash val="solid"/>
          </a:ln>
        </p:spPr>
        <p:txBody>
          <a:bodyPr/>
          <a:p/>
        </p:txBody>
      </p:sp>
      <p:sp>
        <p:nvSpPr>
          <p:cNvPr id="37" name="Shape 33"/>
          <p:cNvSpPr/>
          <p:nvPr/>
        </p:nvSpPr>
        <p:spPr>
          <a:xfrm>
            <a:off x="2059686" y="3579876"/>
            <a:ext cx="233172" cy="233172"/>
          </a:xfrm>
          <a:prstGeom prst="ellipse">
            <a:avLst/>
          </a:prstGeom>
          <a:solidFill>
            <a:srgbClr val="071B30"/>
          </a:solidFill>
          <a:ln w="8890">
            <a:solidFill>
              <a:srgbClr val="315779"/>
            </a:solidFill>
            <a:prstDash val="solid"/>
          </a:ln>
        </p:spPr>
        <p:txBody>
          <a:bodyPr/>
          <a:p/>
        </p:txBody>
      </p:sp>
      <p:sp>
        <p:nvSpPr>
          <p:cNvPr id="38" name="Shape 34"/>
          <p:cNvSpPr/>
          <p:nvPr/>
        </p:nvSpPr>
        <p:spPr>
          <a:xfrm>
            <a:off x="2402586" y="3579876"/>
            <a:ext cx="233172" cy="233172"/>
          </a:xfrm>
          <a:prstGeom prst="ellipse">
            <a:avLst/>
          </a:prstGeom>
          <a:solidFill>
            <a:srgbClr val="071B30"/>
          </a:solidFill>
          <a:ln w="8890">
            <a:solidFill>
              <a:srgbClr val="315779"/>
            </a:solidFill>
            <a:prstDash val="solid"/>
          </a:ln>
        </p:spPr>
        <p:txBody>
          <a:bodyPr/>
          <a:p/>
        </p:txBody>
      </p:sp>
      <p:sp>
        <p:nvSpPr>
          <p:cNvPr id="39" name="Shape 35"/>
          <p:cNvSpPr/>
          <p:nvPr/>
        </p:nvSpPr>
        <p:spPr>
          <a:xfrm>
            <a:off x="2745486" y="3579876"/>
            <a:ext cx="233172" cy="233172"/>
          </a:xfrm>
          <a:prstGeom prst="ellipse">
            <a:avLst/>
          </a:prstGeom>
          <a:solidFill>
            <a:srgbClr val="071B30"/>
          </a:solidFill>
          <a:ln w="8890">
            <a:solidFill>
              <a:srgbClr val="315779"/>
            </a:solidFill>
            <a:prstDash val="solid"/>
          </a:ln>
        </p:spPr>
        <p:txBody>
          <a:bodyPr/>
          <a:p/>
        </p:txBody>
      </p:sp>
      <p:sp>
        <p:nvSpPr>
          <p:cNvPr id="40" name="Shape 36"/>
          <p:cNvSpPr/>
          <p:nvPr/>
        </p:nvSpPr>
        <p:spPr>
          <a:xfrm>
            <a:off x="3088386" y="3579876"/>
            <a:ext cx="233172" cy="233172"/>
          </a:xfrm>
          <a:prstGeom prst="ellipse">
            <a:avLst/>
          </a:prstGeom>
          <a:solidFill>
            <a:srgbClr val="071B30"/>
          </a:solidFill>
          <a:ln w="8890">
            <a:solidFill>
              <a:srgbClr val="315779"/>
            </a:solidFill>
            <a:prstDash val="solid"/>
          </a:ln>
        </p:spPr>
        <p:txBody>
          <a:bodyPr/>
          <a:p/>
        </p:txBody>
      </p:sp>
      <p:sp>
        <p:nvSpPr>
          <p:cNvPr id="41" name="Shape 37"/>
          <p:cNvSpPr/>
          <p:nvPr/>
        </p:nvSpPr>
        <p:spPr>
          <a:xfrm>
            <a:off x="3431286" y="3579876"/>
            <a:ext cx="233172" cy="233172"/>
          </a:xfrm>
          <a:prstGeom prst="ellipse">
            <a:avLst/>
          </a:prstGeom>
          <a:solidFill>
            <a:srgbClr val="071B30"/>
          </a:solidFill>
          <a:ln w="8890">
            <a:solidFill>
              <a:srgbClr val="315779"/>
            </a:solidFill>
            <a:prstDash val="solid"/>
          </a:ln>
        </p:spPr>
        <p:txBody>
          <a:bodyPr/>
          <a:p/>
        </p:txBody>
      </p:sp>
      <p:sp>
        <p:nvSpPr>
          <p:cNvPr id="42" name="Shape 38"/>
          <p:cNvSpPr/>
          <p:nvPr/>
        </p:nvSpPr>
        <p:spPr>
          <a:xfrm>
            <a:off x="1373886" y="3922776"/>
            <a:ext cx="233172" cy="233172"/>
          </a:xfrm>
          <a:prstGeom prst="ellipse">
            <a:avLst/>
          </a:prstGeom>
          <a:solidFill>
            <a:srgbClr val="071B30"/>
          </a:solidFill>
          <a:ln w="8890">
            <a:solidFill>
              <a:srgbClr val="315779"/>
            </a:solidFill>
            <a:prstDash val="solid"/>
          </a:ln>
        </p:spPr>
        <p:txBody>
          <a:bodyPr/>
          <a:p/>
        </p:txBody>
      </p:sp>
      <p:sp>
        <p:nvSpPr>
          <p:cNvPr id="43" name="Shape 39"/>
          <p:cNvSpPr/>
          <p:nvPr/>
        </p:nvSpPr>
        <p:spPr>
          <a:xfrm>
            <a:off x="1716786" y="3922776"/>
            <a:ext cx="233172" cy="233172"/>
          </a:xfrm>
          <a:prstGeom prst="ellipse">
            <a:avLst/>
          </a:prstGeom>
          <a:solidFill>
            <a:srgbClr val="071B30"/>
          </a:solidFill>
          <a:ln w="8890">
            <a:solidFill>
              <a:srgbClr val="315779"/>
            </a:solidFill>
            <a:prstDash val="solid"/>
          </a:ln>
        </p:spPr>
        <p:txBody>
          <a:bodyPr/>
          <a:p/>
        </p:txBody>
      </p:sp>
      <p:sp>
        <p:nvSpPr>
          <p:cNvPr id="44" name="Shape 40"/>
          <p:cNvSpPr/>
          <p:nvPr/>
        </p:nvSpPr>
        <p:spPr>
          <a:xfrm>
            <a:off x="2059686" y="3922776"/>
            <a:ext cx="233172" cy="233172"/>
          </a:xfrm>
          <a:prstGeom prst="ellipse">
            <a:avLst/>
          </a:prstGeom>
          <a:solidFill>
            <a:srgbClr val="071B30"/>
          </a:solidFill>
          <a:ln w="8890">
            <a:solidFill>
              <a:srgbClr val="315779"/>
            </a:solidFill>
            <a:prstDash val="solid"/>
          </a:ln>
        </p:spPr>
        <p:txBody>
          <a:bodyPr/>
          <a:p/>
        </p:txBody>
      </p:sp>
      <p:sp>
        <p:nvSpPr>
          <p:cNvPr id="45" name="Shape 41"/>
          <p:cNvSpPr/>
          <p:nvPr/>
        </p:nvSpPr>
        <p:spPr>
          <a:xfrm>
            <a:off x="2402586" y="3922776"/>
            <a:ext cx="233172" cy="233172"/>
          </a:xfrm>
          <a:prstGeom prst="ellipse">
            <a:avLst/>
          </a:prstGeom>
          <a:solidFill>
            <a:srgbClr val="071B30"/>
          </a:solidFill>
          <a:ln w="8890">
            <a:solidFill>
              <a:srgbClr val="315779"/>
            </a:solidFill>
            <a:prstDash val="solid"/>
          </a:ln>
        </p:spPr>
        <p:txBody>
          <a:bodyPr/>
          <a:p/>
        </p:txBody>
      </p:sp>
      <p:sp>
        <p:nvSpPr>
          <p:cNvPr id="46" name="Shape 42"/>
          <p:cNvSpPr/>
          <p:nvPr/>
        </p:nvSpPr>
        <p:spPr>
          <a:xfrm>
            <a:off x="2745486" y="3922776"/>
            <a:ext cx="233172" cy="233172"/>
          </a:xfrm>
          <a:prstGeom prst="ellipse">
            <a:avLst/>
          </a:prstGeom>
          <a:solidFill>
            <a:srgbClr val="071B30"/>
          </a:solidFill>
          <a:ln w="8890">
            <a:solidFill>
              <a:srgbClr val="315779"/>
            </a:solidFill>
            <a:prstDash val="solid"/>
          </a:ln>
        </p:spPr>
        <p:txBody>
          <a:bodyPr/>
          <a:p/>
        </p:txBody>
      </p:sp>
      <p:sp>
        <p:nvSpPr>
          <p:cNvPr id="47" name="Shape 43"/>
          <p:cNvSpPr/>
          <p:nvPr/>
        </p:nvSpPr>
        <p:spPr>
          <a:xfrm>
            <a:off x="3088386" y="3922776"/>
            <a:ext cx="233172" cy="233172"/>
          </a:xfrm>
          <a:prstGeom prst="ellipse">
            <a:avLst/>
          </a:prstGeom>
          <a:solidFill>
            <a:srgbClr val="071B30"/>
          </a:solidFill>
          <a:ln w="8890">
            <a:solidFill>
              <a:srgbClr val="315779"/>
            </a:solidFill>
            <a:prstDash val="solid"/>
          </a:ln>
        </p:spPr>
        <p:txBody>
          <a:bodyPr/>
          <a:p/>
        </p:txBody>
      </p:sp>
      <p:sp>
        <p:nvSpPr>
          <p:cNvPr id="48" name="Shape 44"/>
          <p:cNvSpPr/>
          <p:nvPr/>
        </p:nvSpPr>
        <p:spPr>
          <a:xfrm>
            <a:off x="3431286" y="3922776"/>
            <a:ext cx="233172" cy="233172"/>
          </a:xfrm>
          <a:prstGeom prst="ellipse">
            <a:avLst/>
          </a:prstGeom>
          <a:solidFill>
            <a:srgbClr val="071B30"/>
          </a:solidFill>
          <a:ln w="8890">
            <a:solidFill>
              <a:srgbClr val="315779"/>
            </a:solidFill>
            <a:prstDash val="solid"/>
          </a:ln>
        </p:spPr>
        <p:txBody>
          <a:bodyPr/>
          <a:p/>
        </p:txBody>
      </p:sp>
      <p:sp>
        <p:nvSpPr>
          <p:cNvPr id="49" name="Shape 45"/>
          <p:cNvSpPr/>
          <p:nvPr/>
        </p:nvSpPr>
        <p:spPr>
          <a:xfrm>
            <a:off x="1373886" y="4265676"/>
            <a:ext cx="233172" cy="233172"/>
          </a:xfrm>
          <a:prstGeom prst="ellipse">
            <a:avLst/>
          </a:prstGeom>
          <a:solidFill>
            <a:srgbClr val="071B30"/>
          </a:solidFill>
          <a:ln w="8890">
            <a:solidFill>
              <a:srgbClr val="315779"/>
            </a:solidFill>
            <a:prstDash val="solid"/>
          </a:ln>
        </p:spPr>
        <p:txBody>
          <a:bodyPr/>
          <a:p/>
        </p:txBody>
      </p:sp>
      <p:sp>
        <p:nvSpPr>
          <p:cNvPr id="50" name="Shape 46"/>
          <p:cNvSpPr/>
          <p:nvPr/>
        </p:nvSpPr>
        <p:spPr>
          <a:xfrm>
            <a:off x="1716786" y="4265676"/>
            <a:ext cx="233172" cy="233172"/>
          </a:xfrm>
          <a:prstGeom prst="ellipse">
            <a:avLst/>
          </a:prstGeom>
          <a:solidFill>
            <a:srgbClr val="071B30"/>
          </a:solidFill>
          <a:ln w="8890">
            <a:solidFill>
              <a:srgbClr val="315779"/>
            </a:solidFill>
            <a:prstDash val="solid"/>
          </a:ln>
        </p:spPr>
        <p:txBody>
          <a:bodyPr/>
          <a:p/>
        </p:txBody>
      </p:sp>
      <p:sp>
        <p:nvSpPr>
          <p:cNvPr id="51" name="Shape 47"/>
          <p:cNvSpPr/>
          <p:nvPr/>
        </p:nvSpPr>
        <p:spPr>
          <a:xfrm>
            <a:off x="2059686" y="4265676"/>
            <a:ext cx="233172" cy="233172"/>
          </a:xfrm>
          <a:prstGeom prst="ellipse">
            <a:avLst/>
          </a:prstGeom>
          <a:solidFill>
            <a:srgbClr val="071B30"/>
          </a:solidFill>
          <a:ln w="8890">
            <a:solidFill>
              <a:srgbClr val="315779"/>
            </a:solidFill>
            <a:prstDash val="solid"/>
          </a:ln>
        </p:spPr>
        <p:txBody>
          <a:bodyPr/>
          <a:p/>
        </p:txBody>
      </p:sp>
      <p:sp>
        <p:nvSpPr>
          <p:cNvPr id="52" name="Shape 48"/>
          <p:cNvSpPr/>
          <p:nvPr/>
        </p:nvSpPr>
        <p:spPr>
          <a:xfrm>
            <a:off x="2402586" y="4265676"/>
            <a:ext cx="233172" cy="233172"/>
          </a:xfrm>
          <a:prstGeom prst="ellipse">
            <a:avLst/>
          </a:prstGeom>
          <a:solidFill>
            <a:srgbClr val="071B30"/>
          </a:solidFill>
          <a:ln w="8890">
            <a:solidFill>
              <a:srgbClr val="315779"/>
            </a:solidFill>
            <a:prstDash val="solid"/>
          </a:ln>
        </p:spPr>
        <p:txBody>
          <a:bodyPr/>
          <a:p/>
        </p:txBody>
      </p:sp>
      <p:sp>
        <p:nvSpPr>
          <p:cNvPr id="53" name="Shape 49"/>
          <p:cNvSpPr/>
          <p:nvPr/>
        </p:nvSpPr>
        <p:spPr>
          <a:xfrm>
            <a:off x="2745486" y="4265676"/>
            <a:ext cx="233172" cy="233172"/>
          </a:xfrm>
          <a:prstGeom prst="ellipse">
            <a:avLst/>
          </a:prstGeom>
          <a:solidFill>
            <a:srgbClr val="071B30"/>
          </a:solidFill>
          <a:ln w="8890">
            <a:solidFill>
              <a:srgbClr val="315779"/>
            </a:solidFill>
            <a:prstDash val="solid"/>
          </a:ln>
        </p:spPr>
        <p:txBody>
          <a:bodyPr/>
          <a:p/>
        </p:txBody>
      </p:sp>
      <p:sp>
        <p:nvSpPr>
          <p:cNvPr id="54" name="Shape 50"/>
          <p:cNvSpPr/>
          <p:nvPr/>
        </p:nvSpPr>
        <p:spPr>
          <a:xfrm>
            <a:off x="3088386" y="4265676"/>
            <a:ext cx="233172" cy="233172"/>
          </a:xfrm>
          <a:prstGeom prst="ellipse">
            <a:avLst/>
          </a:prstGeom>
          <a:solidFill>
            <a:srgbClr val="071B30"/>
          </a:solidFill>
          <a:ln w="8890">
            <a:solidFill>
              <a:srgbClr val="315779"/>
            </a:solidFill>
            <a:prstDash val="solid"/>
          </a:ln>
        </p:spPr>
        <p:txBody>
          <a:bodyPr/>
          <a:p/>
        </p:txBody>
      </p:sp>
      <p:sp>
        <p:nvSpPr>
          <p:cNvPr id="55" name="Shape 51"/>
          <p:cNvSpPr/>
          <p:nvPr/>
        </p:nvSpPr>
        <p:spPr>
          <a:xfrm>
            <a:off x="3431286" y="4265676"/>
            <a:ext cx="233172" cy="233172"/>
          </a:xfrm>
          <a:prstGeom prst="ellipse">
            <a:avLst/>
          </a:prstGeom>
          <a:solidFill>
            <a:srgbClr val="071B30"/>
          </a:solidFill>
          <a:ln w="8890">
            <a:solidFill>
              <a:srgbClr val="315779"/>
            </a:solidFill>
            <a:prstDash val="solid"/>
          </a:ln>
        </p:spPr>
        <p:txBody>
          <a:bodyPr/>
          <a:p/>
        </p:txBody>
      </p:sp>
      <p:sp>
        <p:nvSpPr>
          <p:cNvPr id="56" name="Shape 52"/>
          <p:cNvSpPr/>
          <p:nvPr/>
        </p:nvSpPr>
        <p:spPr>
          <a:xfrm>
            <a:off x="1373886" y="4608576"/>
            <a:ext cx="233172" cy="233172"/>
          </a:xfrm>
          <a:prstGeom prst="ellipse">
            <a:avLst/>
          </a:prstGeom>
          <a:solidFill>
            <a:srgbClr val="071B30"/>
          </a:solidFill>
          <a:ln w="8890">
            <a:solidFill>
              <a:srgbClr val="315779"/>
            </a:solidFill>
            <a:prstDash val="solid"/>
          </a:ln>
        </p:spPr>
        <p:txBody>
          <a:bodyPr/>
          <a:p/>
        </p:txBody>
      </p:sp>
      <p:sp>
        <p:nvSpPr>
          <p:cNvPr id="57" name="Shape 53"/>
          <p:cNvSpPr/>
          <p:nvPr/>
        </p:nvSpPr>
        <p:spPr>
          <a:xfrm>
            <a:off x="1716786" y="4608576"/>
            <a:ext cx="233172" cy="233172"/>
          </a:xfrm>
          <a:prstGeom prst="ellipse">
            <a:avLst/>
          </a:prstGeom>
          <a:solidFill>
            <a:srgbClr val="071B30"/>
          </a:solidFill>
          <a:ln w="8890">
            <a:solidFill>
              <a:srgbClr val="315779"/>
            </a:solidFill>
            <a:prstDash val="solid"/>
          </a:ln>
        </p:spPr>
        <p:txBody>
          <a:bodyPr/>
          <a:p/>
        </p:txBody>
      </p:sp>
      <p:sp>
        <p:nvSpPr>
          <p:cNvPr id="58" name="Shape 54"/>
          <p:cNvSpPr/>
          <p:nvPr/>
        </p:nvSpPr>
        <p:spPr>
          <a:xfrm>
            <a:off x="2059686" y="4608576"/>
            <a:ext cx="233172" cy="233172"/>
          </a:xfrm>
          <a:prstGeom prst="ellipse">
            <a:avLst/>
          </a:prstGeom>
          <a:solidFill>
            <a:srgbClr val="071B30"/>
          </a:solidFill>
          <a:ln w="8890">
            <a:solidFill>
              <a:srgbClr val="315779"/>
            </a:solidFill>
            <a:prstDash val="solid"/>
          </a:ln>
        </p:spPr>
        <p:txBody>
          <a:bodyPr/>
          <a:p/>
        </p:txBody>
      </p:sp>
      <p:sp>
        <p:nvSpPr>
          <p:cNvPr id="59" name="Shape 55"/>
          <p:cNvSpPr/>
          <p:nvPr/>
        </p:nvSpPr>
        <p:spPr>
          <a:xfrm>
            <a:off x="2402586" y="4608576"/>
            <a:ext cx="233172" cy="233172"/>
          </a:xfrm>
          <a:prstGeom prst="ellipse">
            <a:avLst/>
          </a:prstGeom>
          <a:solidFill>
            <a:srgbClr val="071B30"/>
          </a:solidFill>
          <a:ln w="8890">
            <a:solidFill>
              <a:srgbClr val="315779"/>
            </a:solidFill>
            <a:prstDash val="solid"/>
          </a:ln>
        </p:spPr>
        <p:txBody>
          <a:bodyPr/>
          <a:p/>
        </p:txBody>
      </p:sp>
      <p:sp>
        <p:nvSpPr>
          <p:cNvPr id="60" name="Shape 56"/>
          <p:cNvSpPr/>
          <p:nvPr/>
        </p:nvSpPr>
        <p:spPr>
          <a:xfrm>
            <a:off x="2745486" y="4608576"/>
            <a:ext cx="233172" cy="233172"/>
          </a:xfrm>
          <a:prstGeom prst="ellipse">
            <a:avLst/>
          </a:prstGeom>
          <a:solidFill>
            <a:srgbClr val="071B30"/>
          </a:solidFill>
          <a:ln w="8890">
            <a:solidFill>
              <a:srgbClr val="315779"/>
            </a:solidFill>
            <a:prstDash val="solid"/>
          </a:ln>
        </p:spPr>
        <p:txBody>
          <a:bodyPr/>
          <a:p/>
        </p:txBody>
      </p:sp>
      <p:sp>
        <p:nvSpPr>
          <p:cNvPr id="61" name="Shape 57"/>
          <p:cNvSpPr/>
          <p:nvPr/>
        </p:nvSpPr>
        <p:spPr>
          <a:xfrm>
            <a:off x="3088386" y="4608576"/>
            <a:ext cx="233172" cy="233172"/>
          </a:xfrm>
          <a:prstGeom prst="ellipse">
            <a:avLst/>
          </a:prstGeom>
          <a:solidFill>
            <a:srgbClr val="071B30"/>
          </a:solidFill>
          <a:ln w="8890">
            <a:solidFill>
              <a:srgbClr val="315779"/>
            </a:solidFill>
            <a:prstDash val="solid"/>
          </a:ln>
        </p:spPr>
        <p:txBody>
          <a:bodyPr/>
          <a:p/>
        </p:txBody>
      </p:sp>
      <p:sp>
        <p:nvSpPr>
          <p:cNvPr id="62" name="Shape 58"/>
          <p:cNvSpPr/>
          <p:nvPr/>
        </p:nvSpPr>
        <p:spPr>
          <a:xfrm>
            <a:off x="3431286" y="4608576"/>
            <a:ext cx="233172" cy="233172"/>
          </a:xfrm>
          <a:prstGeom prst="ellipse">
            <a:avLst/>
          </a:prstGeom>
          <a:solidFill>
            <a:srgbClr val="071B30"/>
          </a:solidFill>
          <a:ln w="8890">
            <a:solidFill>
              <a:srgbClr val="315779"/>
            </a:solidFill>
            <a:prstDash val="solid"/>
          </a:ln>
        </p:spPr>
        <p:txBody>
          <a:bodyPr/>
          <a:p/>
        </p:txBody>
      </p:sp>
      <p:sp>
        <p:nvSpPr>
          <p:cNvPr id="63" name="Shape 59"/>
          <p:cNvSpPr/>
          <p:nvPr/>
        </p:nvSpPr>
        <p:spPr>
          <a:xfrm>
            <a:off x="1373886" y="4951476"/>
            <a:ext cx="233172" cy="233172"/>
          </a:xfrm>
          <a:prstGeom prst="ellipse">
            <a:avLst/>
          </a:prstGeom>
          <a:solidFill>
            <a:srgbClr val="071B30"/>
          </a:solidFill>
          <a:ln w="8890">
            <a:solidFill>
              <a:srgbClr val="315779"/>
            </a:solidFill>
            <a:prstDash val="solid"/>
          </a:ln>
        </p:spPr>
        <p:txBody>
          <a:bodyPr/>
          <a:p/>
        </p:txBody>
      </p:sp>
      <p:sp>
        <p:nvSpPr>
          <p:cNvPr id="64" name="Shape 60"/>
          <p:cNvSpPr/>
          <p:nvPr/>
        </p:nvSpPr>
        <p:spPr>
          <a:xfrm>
            <a:off x="1716786" y="4951476"/>
            <a:ext cx="233172" cy="233172"/>
          </a:xfrm>
          <a:prstGeom prst="ellipse">
            <a:avLst/>
          </a:prstGeom>
          <a:solidFill>
            <a:srgbClr val="071B30"/>
          </a:solidFill>
          <a:ln w="8890">
            <a:solidFill>
              <a:srgbClr val="315779"/>
            </a:solidFill>
            <a:prstDash val="solid"/>
          </a:ln>
        </p:spPr>
        <p:txBody>
          <a:bodyPr/>
          <a:p/>
        </p:txBody>
      </p:sp>
      <p:sp>
        <p:nvSpPr>
          <p:cNvPr id="65" name="Shape 61"/>
          <p:cNvSpPr/>
          <p:nvPr/>
        </p:nvSpPr>
        <p:spPr>
          <a:xfrm>
            <a:off x="2059686" y="4951476"/>
            <a:ext cx="233172" cy="233172"/>
          </a:xfrm>
          <a:prstGeom prst="ellipse">
            <a:avLst/>
          </a:prstGeom>
          <a:solidFill>
            <a:srgbClr val="071B30"/>
          </a:solidFill>
          <a:ln w="8890">
            <a:solidFill>
              <a:srgbClr val="315779"/>
            </a:solidFill>
            <a:prstDash val="solid"/>
          </a:ln>
        </p:spPr>
        <p:txBody>
          <a:bodyPr/>
          <a:p/>
        </p:txBody>
      </p:sp>
      <p:sp>
        <p:nvSpPr>
          <p:cNvPr id="66" name="Shape 62"/>
          <p:cNvSpPr/>
          <p:nvPr/>
        </p:nvSpPr>
        <p:spPr>
          <a:xfrm>
            <a:off x="2402586" y="4951476"/>
            <a:ext cx="233172" cy="233172"/>
          </a:xfrm>
          <a:prstGeom prst="ellipse">
            <a:avLst/>
          </a:prstGeom>
          <a:solidFill>
            <a:srgbClr val="071B30"/>
          </a:solidFill>
          <a:ln w="8890">
            <a:solidFill>
              <a:srgbClr val="315779"/>
            </a:solidFill>
            <a:prstDash val="solid"/>
          </a:ln>
        </p:spPr>
        <p:txBody>
          <a:bodyPr/>
          <a:p/>
        </p:txBody>
      </p:sp>
      <p:sp>
        <p:nvSpPr>
          <p:cNvPr id="67" name="Shape 63"/>
          <p:cNvSpPr/>
          <p:nvPr/>
        </p:nvSpPr>
        <p:spPr>
          <a:xfrm>
            <a:off x="2745486" y="4951476"/>
            <a:ext cx="233172" cy="233172"/>
          </a:xfrm>
          <a:prstGeom prst="ellipse">
            <a:avLst/>
          </a:prstGeom>
          <a:solidFill>
            <a:srgbClr val="071B30"/>
          </a:solidFill>
          <a:ln w="8890">
            <a:solidFill>
              <a:srgbClr val="315779"/>
            </a:solidFill>
            <a:prstDash val="solid"/>
          </a:ln>
        </p:spPr>
        <p:txBody>
          <a:bodyPr/>
          <a:p/>
        </p:txBody>
      </p:sp>
      <p:sp>
        <p:nvSpPr>
          <p:cNvPr id="68" name="Shape 64"/>
          <p:cNvSpPr/>
          <p:nvPr/>
        </p:nvSpPr>
        <p:spPr>
          <a:xfrm>
            <a:off x="3088386" y="4951476"/>
            <a:ext cx="233172" cy="233172"/>
          </a:xfrm>
          <a:prstGeom prst="ellipse">
            <a:avLst/>
          </a:prstGeom>
          <a:solidFill>
            <a:srgbClr val="071B30"/>
          </a:solidFill>
          <a:ln w="8890">
            <a:solidFill>
              <a:srgbClr val="315779"/>
            </a:solidFill>
            <a:prstDash val="solid"/>
          </a:ln>
        </p:spPr>
        <p:txBody>
          <a:bodyPr/>
          <a:p/>
        </p:txBody>
      </p:sp>
      <p:sp>
        <p:nvSpPr>
          <p:cNvPr id="69" name="Shape 65"/>
          <p:cNvSpPr/>
          <p:nvPr/>
        </p:nvSpPr>
        <p:spPr>
          <a:xfrm>
            <a:off x="3431286" y="4951476"/>
            <a:ext cx="233172" cy="233172"/>
          </a:xfrm>
          <a:prstGeom prst="ellipse">
            <a:avLst/>
          </a:prstGeom>
          <a:solidFill>
            <a:srgbClr val="071B30"/>
          </a:solidFill>
          <a:ln w="8890">
            <a:solidFill>
              <a:srgbClr val="315779"/>
            </a:solidFill>
            <a:prstDash val="solid"/>
          </a:ln>
        </p:spPr>
        <p:txBody>
          <a:bodyPr/>
          <a:p/>
        </p:txBody>
      </p:sp>
      <p:sp>
        <p:nvSpPr>
          <p:cNvPr id="70" name="Text 66"/>
          <p:cNvSpPr/>
          <p:nvPr/>
        </p:nvSpPr>
        <p:spPr>
          <a:xfrm>
            <a:off x="1069848" y="5550408"/>
            <a:ext cx="2898648" cy="310896"/>
          </a:xfrm>
          <a:prstGeom prst="rect">
            <a:avLst/>
          </a:prstGeom>
          <a:noFill/>
          <a:ln/>
        </p:spPr>
        <p:txBody>
          <a:bodyPr wrap="square" lIns="0" tIns="0" rIns="0" bIns="0" rtlCol="0" anchor="ctr">
            <a:normAutofit/>
          </a:bodyPr>
          <a:lstStyle/>
          <a:p>
            <a:pPr algn="ctr" indent="0" marL="0">
              <a:lnSpc>
                <a:spcPct val="100000"/>
              </a:lnSpc>
              <a:buNone/>
            </a:pPr>
            <a:r>
              <a:rPr lang="en-US" sz="1950" b="1" dirty="0">
                <a:solidFill>
                  <a:srgbClr val="10263D"/>
                </a:solidFill>
                <a:latin typeface="Inter" pitchFamily="34" charset="0"/>
                <a:ea typeface="Inter" pitchFamily="34" charset="-122"/>
                <a:cs typeface="Inter" pitchFamily="34" charset="-120"/>
              </a:rPr>
              <a:t>7 × 6</a:t>
            </a:r>
            <a:endParaRPr lang="en-US" sz="1950" dirty="0"/>
          </a:p>
        </p:txBody>
      </p:sp>
      <p:sp>
        <p:nvSpPr>
          <p:cNvPr id="71" name="Text 67"/>
          <p:cNvSpPr/>
          <p:nvPr/>
        </p:nvSpPr>
        <p:spPr>
          <a:xfrm>
            <a:off x="4645152" y="2642616"/>
            <a:ext cx="2880360" cy="237744"/>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2478F6"/>
                </a:solidFill>
                <a:latin typeface="Inter" pitchFamily="34" charset="0"/>
                <a:ea typeface="Inter" pitchFamily="34" charset="-122"/>
                <a:cs typeface="Inter" pitchFamily="34" charset="-120"/>
              </a:rPr>
              <a:t>3 SPIELER</a:t>
            </a:r>
            <a:endParaRPr lang="en-US" sz="1320" dirty="0"/>
          </a:p>
        </p:txBody>
      </p:sp>
      <p:sp>
        <p:nvSpPr>
          <p:cNvPr id="72" name="Shape 68"/>
          <p:cNvSpPr/>
          <p:nvPr/>
        </p:nvSpPr>
        <p:spPr>
          <a:xfrm>
            <a:off x="4806086" y="3054096"/>
            <a:ext cx="2576779" cy="2318918"/>
          </a:xfrm>
          <a:prstGeom prst="roundRect">
            <a:avLst>
              <a:gd name="adj" fmla="val 5521"/>
            </a:avLst>
          </a:prstGeom>
          <a:solidFill>
            <a:srgbClr val="0A2544"/>
          </a:solidFill>
          <a:ln w="12700">
            <a:solidFill>
              <a:srgbClr val="0A2544">
                <a:alpha val="0"/>
              </a:srgbClr>
            </a:solidFill>
            <a:prstDash val="solid"/>
          </a:ln>
        </p:spPr>
        <p:txBody>
          <a:bodyPr/>
          <a:p/>
        </p:txBody>
      </p:sp>
      <p:sp>
        <p:nvSpPr>
          <p:cNvPr id="73" name="Shape 69"/>
          <p:cNvSpPr/>
          <p:nvPr/>
        </p:nvSpPr>
        <p:spPr>
          <a:xfrm>
            <a:off x="4975360" y="3223370"/>
            <a:ext cx="175345" cy="175345"/>
          </a:xfrm>
          <a:prstGeom prst="ellipse">
            <a:avLst/>
          </a:prstGeom>
          <a:solidFill>
            <a:srgbClr val="071B30"/>
          </a:solidFill>
          <a:ln w="8890">
            <a:solidFill>
              <a:srgbClr val="315779"/>
            </a:solidFill>
            <a:prstDash val="solid"/>
          </a:ln>
        </p:spPr>
        <p:txBody>
          <a:bodyPr/>
          <a:p/>
        </p:txBody>
      </p:sp>
      <p:sp>
        <p:nvSpPr>
          <p:cNvPr id="74" name="Shape 70"/>
          <p:cNvSpPr/>
          <p:nvPr/>
        </p:nvSpPr>
        <p:spPr>
          <a:xfrm>
            <a:off x="5233221" y="3223370"/>
            <a:ext cx="175345" cy="175345"/>
          </a:xfrm>
          <a:prstGeom prst="ellipse">
            <a:avLst/>
          </a:prstGeom>
          <a:solidFill>
            <a:srgbClr val="071B30"/>
          </a:solidFill>
          <a:ln w="8890">
            <a:solidFill>
              <a:srgbClr val="315779"/>
            </a:solidFill>
            <a:prstDash val="solid"/>
          </a:ln>
        </p:spPr>
        <p:txBody>
          <a:bodyPr/>
          <a:p/>
        </p:txBody>
      </p:sp>
      <p:sp>
        <p:nvSpPr>
          <p:cNvPr id="75" name="Shape 71"/>
          <p:cNvSpPr/>
          <p:nvPr/>
        </p:nvSpPr>
        <p:spPr>
          <a:xfrm>
            <a:off x="5491082" y="3223370"/>
            <a:ext cx="175345" cy="175345"/>
          </a:xfrm>
          <a:prstGeom prst="ellipse">
            <a:avLst/>
          </a:prstGeom>
          <a:solidFill>
            <a:srgbClr val="071B30"/>
          </a:solidFill>
          <a:ln w="8890">
            <a:solidFill>
              <a:srgbClr val="315779"/>
            </a:solidFill>
            <a:prstDash val="solid"/>
          </a:ln>
        </p:spPr>
        <p:txBody>
          <a:bodyPr/>
          <a:p/>
        </p:txBody>
      </p:sp>
      <p:sp>
        <p:nvSpPr>
          <p:cNvPr id="76" name="Shape 72"/>
          <p:cNvSpPr/>
          <p:nvPr/>
        </p:nvSpPr>
        <p:spPr>
          <a:xfrm>
            <a:off x="5748943" y="3223370"/>
            <a:ext cx="175345" cy="175345"/>
          </a:xfrm>
          <a:prstGeom prst="ellipse">
            <a:avLst/>
          </a:prstGeom>
          <a:solidFill>
            <a:srgbClr val="071B30"/>
          </a:solidFill>
          <a:ln w="8890">
            <a:solidFill>
              <a:srgbClr val="315779"/>
            </a:solidFill>
            <a:prstDash val="solid"/>
          </a:ln>
        </p:spPr>
        <p:txBody>
          <a:bodyPr/>
          <a:p/>
        </p:txBody>
      </p:sp>
      <p:sp>
        <p:nvSpPr>
          <p:cNvPr id="77" name="Shape 73"/>
          <p:cNvSpPr/>
          <p:nvPr/>
        </p:nvSpPr>
        <p:spPr>
          <a:xfrm>
            <a:off x="6006803" y="3223370"/>
            <a:ext cx="175345" cy="175345"/>
          </a:xfrm>
          <a:prstGeom prst="ellipse">
            <a:avLst/>
          </a:prstGeom>
          <a:solidFill>
            <a:srgbClr val="071B30"/>
          </a:solidFill>
          <a:ln w="8890">
            <a:solidFill>
              <a:srgbClr val="315779"/>
            </a:solidFill>
            <a:prstDash val="solid"/>
          </a:ln>
        </p:spPr>
        <p:txBody>
          <a:bodyPr/>
          <a:p/>
        </p:txBody>
      </p:sp>
      <p:sp>
        <p:nvSpPr>
          <p:cNvPr id="78" name="Shape 74"/>
          <p:cNvSpPr/>
          <p:nvPr/>
        </p:nvSpPr>
        <p:spPr>
          <a:xfrm>
            <a:off x="6264664" y="3223370"/>
            <a:ext cx="175345" cy="175345"/>
          </a:xfrm>
          <a:prstGeom prst="ellipse">
            <a:avLst/>
          </a:prstGeom>
          <a:solidFill>
            <a:srgbClr val="071B30"/>
          </a:solidFill>
          <a:ln w="8890">
            <a:solidFill>
              <a:srgbClr val="315779"/>
            </a:solidFill>
            <a:prstDash val="solid"/>
          </a:ln>
        </p:spPr>
        <p:txBody>
          <a:bodyPr/>
          <a:p/>
        </p:txBody>
      </p:sp>
      <p:sp>
        <p:nvSpPr>
          <p:cNvPr id="79" name="Shape 75"/>
          <p:cNvSpPr/>
          <p:nvPr/>
        </p:nvSpPr>
        <p:spPr>
          <a:xfrm>
            <a:off x="6522525" y="3223370"/>
            <a:ext cx="175345" cy="175345"/>
          </a:xfrm>
          <a:prstGeom prst="ellipse">
            <a:avLst/>
          </a:prstGeom>
          <a:solidFill>
            <a:srgbClr val="071B30"/>
          </a:solidFill>
          <a:ln w="8890">
            <a:solidFill>
              <a:srgbClr val="315779"/>
            </a:solidFill>
            <a:prstDash val="solid"/>
          </a:ln>
        </p:spPr>
        <p:txBody>
          <a:bodyPr/>
          <a:p/>
        </p:txBody>
      </p:sp>
      <p:sp>
        <p:nvSpPr>
          <p:cNvPr id="80" name="Shape 76"/>
          <p:cNvSpPr/>
          <p:nvPr/>
        </p:nvSpPr>
        <p:spPr>
          <a:xfrm>
            <a:off x="6780386" y="3223370"/>
            <a:ext cx="175345" cy="175345"/>
          </a:xfrm>
          <a:prstGeom prst="ellipse">
            <a:avLst/>
          </a:prstGeom>
          <a:solidFill>
            <a:srgbClr val="071B30"/>
          </a:solidFill>
          <a:ln w="8890">
            <a:solidFill>
              <a:srgbClr val="315779"/>
            </a:solidFill>
            <a:prstDash val="solid"/>
          </a:ln>
        </p:spPr>
        <p:txBody>
          <a:bodyPr/>
          <a:p/>
        </p:txBody>
      </p:sp>
      <p:sp>
        <p:nvSpPr>
          <p:cNvPr id="81" name="Shape 77"/>
          <p:cNvSpPr/>
          <p:nvPr/>
        </p:nvSpPr>
        <p:spPr>
          <a:xfrm>
            <a:off x="7038247" y="3223370"/>
            <a:ext cx="175345" cy="175345"/>
          </a:xfrm>
          <a:prstGeom prst="ellipse">
            <a:avLst/>
          </a:prstGeom>
          <a:solidFill>
            <a:srgbClr val="071B30"/>
          </a:solidFill>
          <a:ln w="8890">
            <a:solidFill>
              <a:srgbClr val="315779"/>
            </a:solidFill>
            <a:prstDash val="solid"/>
          </a:ln>
        </p:spPr>
        <p:txBody>
          <a:bodyPr/>
          <a:p/>
        </p:txBody>
      </p:sp>
      <p:sp>
        <p:nvSpPr>
          <p:cNvPr id="82" name="Shape 78"/>
          <p:cNvSpPr/>
          <p:nvPr/>
        </p:nvSpPr>
        <p:spPr>
          <a:xfrm>
            <a:off x="4975360" y="3481231"/>
            <a:ext cx="175345" cy="175345"/>
          </a:xfrm>
          <a:prstGeom prst="ellipse">
            <a:avLst/>
          </a:prstGeom>
          <a:solidFill>
            <a:srgbClr val="071B30"/>
          </a:solidFill>
          <a:ln w="8890">
            <a:solidFill>
              <a:srgbClr val="315779"/>
            </a:solidFill>
            <a:prstDash val="solid"/>
          </a:ln>
        </p:spPr>
        <p:txBody>
          <a:bodyPr/>
          <a:p/>
        </p:txBody>
      </p:sp>
      <p:sp>
        <p:nvSpPr>
          <p:cNvPr id="83" name="Shape 79"/>
          <p:cNvSpPr/>
          <p:nvPr/>
        </p:nvSpPr>
        <p:spPr>
          <a:xfrm>
            <a:off x="5233221" y="3481231"/>
            <a:ext cx="175345" cy="175345"/>
          </a:xfrm>
          <a:prstGeom prst="ellipse">
            <a:avLst/>
          </a:prstGeom>
          <a:solidFill>
            <a:srgbClr val="071B30"/>
          </a:solidFill>
          <a:ln w="8890">
            <a:solidFill>
              <a:srgbClr val="315779"/>
            </a:solidFill>
            <a:prstDash val="solid"/>
          </a:ln>
        </p:spPr>
        <p:txBody>
          <a:bodyPr/>
          <a:p/>
        </p:txBody>
      </p:sp>
      <p:sp>
        <p:nvSpPr>
          <p:cNvPr id="84" name="Shape 80"/>
          <p:cNvSpPr/>
          <p:nvPr/>
        </p:nvSpPr>
        <p:spPr>
          <a:xfrm>
            <a:off x="5491082" y="3481231"/>
            <a:ext cx="175345" cy="175345"/>
          </a:xfrm>
          <a:prstGeom prst="ellipse">
            <a:avLst/>
          </a:prstGeom>
          <a:solidFill>
            <a:srgbClr val="071B30"/>
          </a:solidFill>
          <a:ln w="8890">
            <a:solidFill>
              <a:srgbClr val="315779"/>
            </a:solidFill>
            <a:prstDash val="solid"/>
          </a:ln>
        </p:spPr>
        <p:txBody>
          <a:bodyPr/>
          <a:p/>
        </p:txBody>
      </p:sp>
      <p:sp>
        <p:nvSpPr>
          <p:cNvPr id="85" name="Shape 81"/>
          <p:cNvSpPr/>
          <p:nvPr/>
        </p:nvSpPr>
        <p:spPr>
          <a:xfrm>
            <a:off x="5748943" y="3481231"/>
            <a:ext cx="175345" cy="175345"/>
          </a:xfrm>
          <a:prstGeom prst="ellipse">
            <a:avLst/>
          </a:prstGeom>
          <a:solidFill>
            <a:srgbClr val="071B30"/>
          </a:solidFill>
          <a:ln w="8890">
            <a:solidFill>
              <a:srgbClr val="315779"/>
            </a:solidFill>
            <a:prstDash val="solid"/>
          </a:ln>
        </p:spPr>
        <p:txBody>
          <a:bodyPr/>
          <a:p/>
        </p:txBody>
      </p:sp>
      <p:sp>
        <p:nvSpPr>
          <p:cNvPr id="86" name="Shape 82"/>
          <p:cNvSpPr/>
          <p:nvPr/>
        </p:nvSpPr>
        <p:spPr>
          <a:xfrm>
            <a:off x="6006803" y="3481231"/>
            <a:ext cx="175345" cy="175345"/>
          </a:xfrm>
          <a:prstGeom prst="ellipse">
            <a:avLst/>
          </a:prstGeom>
          <a:solidFill>
            <a:srgbClr val="071B30"/>
          </a:solidFill>
          <a:ln w="8890">
            <a:solidFill>
              <a:srgbClr val="315779"/>
            </a:solidFill>
            <a:prstDash val="solid"/>
          </a:ln>
        </p:spPr>
        <p:txBody>
          <a:bodyPr/>
          <a:p/>
        </p:txBody>
      </p:sp>
      <p:sp>
        <p:nvSpPr>
          <p:cNvPr id="87" name="Shape 83"/>
          <p:cNvSpPr/>
          <p:nvPr/>
        </p:nvSpPr>
        <p:spPr>
          <a:xfrm>
            <a:off x="6264664" y="3481231"/>
            <a:ext cx="175345" cy="175345"/>
          </a:xfrm>
          <a:prstGeom prst="ellipse">
            <a:avLst/>
          </a:prstGeom>
          <a:solidFill>
            <a:srgbClr val="071B30"/>
          </a:solidFill>
          <a:ln w="8890">
            <a:solidFill>
              <a:srgbClr val="315779"/>
            </a:solidFill>
            <a:prstDash val="solid"/>
          </a:ln>
        </p:spPr>
        <p:txBody>
          <a:bodyPr/>
          <a:p/>
        </p:txBody>
      </p:sp>
      <p:sp>
        <p:nvSpPr>
          <p:cNvPr id="88" name="Shape 84"/>
          <p:cNvSpPr/>
          <p:nvPr/>
        </p:nvSpPr>
        <p:spPr>
          <a:xfrm>
            <a:off x="6522525" y="3481231"/>
            <a:ext cx="175345" cy="175345"/>
          </a:xfrm>
          <a:prstGeom prst="ellipse">
            <a:avLst/>
          </a:prstGeom>
          <a:solidFill>
            <a:srgbClr val="071B30"/>
          </a:solidFill>
          <a:ln w="8890">
            <a:solidFill>
              <a:srgbClr val="315779"/>
            </a:solidFill>
            <a:prstDash val="solid"/>
          </a:ln>
        </p:spPr>
        <p:txBody>
          <a:bodyPr/>
          <a:p/>
        </p:txBody>
      </p:sp>
      <p:sp>
        <p:nvSpPr>
          <p:cNvPr id="89" name="Shape 85"/>
          <p:cNvSpPr/>
          <p:nvPr/>
        </p:nvSpPr>
        <p:spPr>
          <a:xfrm>
            <a:off x="6780386" y="3481231"/>
            <a:ext cx="175345" cy="175345"/>
          </a:xfrm>
          <a:prstGeom prst="ellipse">
            <a:avLst/>
          </a:prstGeom>
          <a:solidFill>
            <a:srgbClr val="071B30"/>
          </a:solidFill>
          <a:ln w="8890">
            <a:solidFill>
              <a:srgbClr val="315779"/>
            </a:solidFill>
            <a:prstDash val="solid"/>
          </a:ln>
        </p:spPr>
        <p:txBody>
          <a:bodyPr/>
          <a:p/>
        </p:txBody>
      </p:sp>
      <p:sp>
        <p:nvSpPr>
          <p:cNvPr id="90" name="Shape 86"/>
          <p:cNvSpPr/>
          <p:nvPr/>
        </p:nvSpPr>
        <p:spPr>
          <a:xfrm>
            <a:off x="7038247" y="3481231"/>
            <a:ext cx="175345" cy="175345"/>
          </a:xfrm>
          <a:prstGeom prst="ellipse">
            <a:avLst/>
          </a:prstGeom>
          <a:solidFill>
            <a:srgbClr val="071B30"/>
          </a:solidFill>
          <a:ln w="8890">
            <a:solidFill>
              <a:srgbClr val="315779"/>
            </a:solidFill>
            <a:prstDash val="solid"/>
          </a:ln>
        </p:spPr>
        <p:txBody>
          <a:bodyPr/>
          <a:p/>
        </p:txBody>
      </p:sp>
      <p:sp>
        <p:nvSpPr>
          <p:cNvPr id="91" name="Shape 87"/>
          <p:cNvSpPr/>
          <p:nvPr/>
        </p:nvSpPr>
        <p:spPr>
          <a:xfrm>
            <a:off x="4975360" y="3739091"/>
            <a:ext cx="175345" cy="175345"/>
          </a:xfrm>
          <a:prstGeom prst="ellipse">
            <a:avLst/>
          </a:prstGeom>
          <a:solidFill>
            <a:srgbClr val="071B30"/>
          </a:solidFill>
          <a:ln w="8890">
            <a:solidFill>
              <a:srgbClr val="315779"/>
            </a:solidFill>
            <a:prstDash val="solid"/>
          </a:ln>
        </p:spPr>
        <p:txBody>
          <a:bodyPr/>
          <a:p/>
        </p:txBody>
      </p:sp>
      <p:sp>
        <p:nvSpPr>
          <p:cNvPr id="92" name="Shape 88"/>
          <p:cNvSpPr/>
          <p:nvPr/>
        </p:nvSpPr>
        <p:spPr>
          <a:xfrm>
            <a:off x="5233221" y="3739091"/>
            <a:ext cx="175345" cy="175345"/>
          </a:xfrm>
          <a:prstGeom prst="ellipse">
            <a:avLst/>
          </a:prstGeom>
          <a:solidFill>
            <a:srgbClr val="071B30"/>
          </a:solidFill>
          <a:ln w="8890">
            <a:solidFill>
              <a:srgbClr val="315779"/>
            </a:solidFill>
            <a:prstDash val="solid"/>
          </a:ln>
        </p:spPr>
        <p:txBody>
          <a:bodyPr/>
          <a:p/>
        </p:txBody>
      </p:sp>
      <p:sp>
        <p:nvSpPr>
          <p:cNvPr id="93" name="Shape 89"/>
          <p:cNvSpPr/>
          <p:nvPr/>
        </p:nvSpPr>
        <p:spPr>
          <a:xfrm>
            <a:off x="5491082" y="3739091"/>
            <a:ext cx="175345" cy="175345"/>
          </a:xfrm>
          <a:prstGeom prst="ellipse">
            <a:avLst/>
          </a:prstGeom>
          <a:solidFill>
            <a:srgbClr val="071B30"/>
          </a:solidFill>
          <a:ln w="8890">
            <a:solidFill>
              <a:srgbClr val="315779"/>
            </a:solidFill>
            <a:prstDash val="solid"/>
          </a:ln>
        </p:spPr>
        <p:txBody>
          <a:bodyPr/>
          <a:p/>
        </p:txBody>
      </p:sp>
      <p:sp>
        <p:nvSpPr>
          <p:cNvPr id="94" name="Shape 90"/>
          <p:cNvSpPr/>
          <p:nvPr/>
        </p:nvSpPr>
        <p:spPr>
          <a:xfrm>
            <a:off x="5748943" y="3739091"/>
            <a:ext cx="175345" cy="175345"/>
          </a:xfrm>
          <a:prstGeom prst="ellipse">
            <a:avLst/>
          </a:prstGeom>
          <a:solidFill>
            <a:srgbClr val="071B30"/>
          </a:solidFill>
          <a:ln w="8890">
            <a:solidFill>
              <a:srgbClr val="315779"/>
            </a:solidFill>
            <a:prstDash val="solid"/>
          </a:ln>
        </p:spPr>
        <p:txBody>
          <a:bodyPr/>
          <a:p/>
        </p:txBody>
      </p:sp>
      <p:sp>
        <p:nvSpPr>
          <p:cNvPr id="95" name="Shape 91"/>
          <p:cNvSpPr/>
          <p:nvPr/>
        </p:nvSpPr>
        <p:spPr>
          <a:xfrm>
            <a:off x="6006803" y="3739091"/>
            <a:ext cx="175345" cy="175345"/>
          </a:xfrm>
          <a:prstGeom prst="ellipse">
            <a:avLst/>
          </a:prstGeom>
          <a:solidFill>
            <a:srgbClr val="071B30"/>
          </a:solidFill>
          <a:ln w="8890">
            <a:solidFill>
              <a:srgbClr val="315779"/>
            </a:solidFill>
            <a:prstDash val="solid"/>
          </a:ln>
        </p:spPr>
        <p:txBody>
          <a:bodyPr/>
          <a:p/>
        </p:txBody>
      </p:sp>
      <p:sp>
        <p:nvSpPr>
          <p:cNvPr id="96" name="Shape 92"/>
          <p:cNvSpPr/>
          <p:nvPr/>
        </p:nvSpPr>
        <p:spPr>
          <a:xfrm>
            <a:off x="6264664" y="3739091"/>
            <a:ext cx="175345" cy="175345"/>
          </a:xfrm>
          <a:prstGeom prst="ellipse">
            <a:avLst/>
          </a:prstGeom>
          <a:solidFill>
            <a:srgbClr val="071B30"/>
          </a:solidFill>
          <a:ln w="8890">
            <a:solidFill>
              <a:srgbClr val="315779"/>
            </a:solidFill>
            <a:prstDash val="solid"/>
          </a:ln>
        </p:spPr>
        <p:txBody>
          <a:bodyPr/>
          <a:p/>
        </p:txBody>
      </p:sp>
      <p:sp>
        <p:nvSpPr>
          <p:cNvPr id="97" name="Shape 93"/>
          <p:cNvSpPr/>
          <p:nvPr/>
        </p:nvSpPr>
        <p:spPr>
          <a:xfrm>
            <a:off x="6522525" y="3739091"/>
            <a:ext cx="175345" cy="175345"/>
          </a:xfrm>
          <a:prstGeom prst="ellipse">
            <a:avLst/>
          </a:prstGeom>
          <a:solidFill>
            <a:srgbClr val="071B30"/>
          </a:solidFill>
          <a:ln w="8890">
            <a:solidFill>
              <a:srgbClr val="315779"/>
            </a:solidFill>
            <a:prstDash val="solid"/>
          </a:ln>
        </p:spPr>
        <p:txBody>
          <a:bodyPr/>
          <a:p/>
        </p:txBody>
      </p:sp>
      <p:sp>
        <p:nvSpPr>
          <p:cNvPr id="98" name="Shape 94"/>
          <p:cNvSpPr/>
          <p:nvPr/>
        </p:nvSpPr>
        <p:spPr>
          <a:xfrm>
            <a:off x="6780386" y="3739091"/>
            <a:ext cx="175345" cy="175345"/>
          </a:xfrm>
          <a:prstGeom prst="ellipse">
            <a:avLst/>
          </a:prstGeom>
          <a:solidFill>
            <a:srgbClr val="071B30"/>
          </a:solidFill>
          <a:ln w="8890">
            <a:solidFill>
              <a:srgbClr val="315779"/>
            </a:solidFill>
            <a:prstDash val="solid"/>
          </a:ln>
        </p:spPr>
        <p:txBody>
          <a:bodyPr/>
          <a:p/>
        </p:txBody>
      </p:sp>
      <p:sp>
        <p:nvSpPr>
          <p:cNvPr id="99" name="Shape 95"/>
          <p:cNvSpPr/>
          <p:nvPr/>
        </p:nvSpPr>
        <p:spPr>
          <a:xfrm>
            <a:off x="7038247" y="3739091"/>
            <a:ext cx="175345" cy="175345"/>
          </a:xfrm>
          <a:prstGeom prst="ellipse">
            <a:avLst/>
          </a:prstGeom>
          <a:solidFill>
            <a:srgbClr val="071B30"/>
          </a:solidFill>
          <a:ln w="8890">
            <a:solidFill>
              <a:srgbClr val="315779"/>
            </a:solidFill>
            <a:prstDash val="solid"/>
          </a:ln>
        </p:spPr>
        <p:txBody>
          <a:bodyPr/>
          <a:p/>
        </p:txBody>
      </p:sp>
      <p:sp>
        <p:nvSpPr>
          <p:cNvPr id="100" name="Shape 96"/>
          <p:cNvSpPr/>
          <p:nvPr/>
        </p:nvSpPr>
        <p:spPr>
          <a:xfrm>
            <a:off x="4975360" y="3996952"/>
            <a:ext cx="175345" cy="175345"/>
          </a:xfrm>
          <a:prstGeom prst="ellipse">
            <a:avLst/>
          </a:prstGeom>
          <a:solidFill>
            <a:srgbClr val="071B30"/>
          </a:solidFill>
          <a:ln w="8890">
            <a:solidFill>
              <a:srgbClr val="315779"/>
            </a:solidFill>
            <a:prstDash val="solid"/>
          </a:ln>
        </p:spPr>
        <p:txBody>
          <a:bodyPr/>
          <a:p/>
        </p:txBody>
      </p:sp>
      <p:sp>
        <p:nvSpPr>
          <p:cNvPr id="101" name="Shape 97"/>
          <p:cNvSpPr/>
          <p:nvPr/>
        </p:nvSpPr>
        <p:spPr>
          <a:xfrm>
            <a:off x="5233221" y="3996952"/>
            <a:ext cx="175345" cy="175345"/>
          </a:xfrm>
          <a:prstGeom prst="ellipse">
            <a:avLst/>
          </a:prstGeom>
          <a:solidFill>
            <a:srgbClr val="071B30"/>
          </a:solidFill>
          <a:ln w="8890">
            <a:solidFill>
              <a:srgbClr val="315779"/>
            </a:solidFill>
            <a:prstDash val="solid"/>
          </a:ln>
        </p:spPr>
        <p:txBody>
          <a:bodyPr/>
          <a:p/>
        </p:txBody>
      </p:sp>
      <p:sp>
        <p:nvSpPr>
          <p:cNvPr id="102" name="Shape 98"/>
          <p:cNvSpPr/>
          <p:nvPr/>
        </p:nvSpPr>
        <p:spPr>
          <a:xfrm>
            <a:off x="5491082" y="3996952"/>
            <a:ext cx="175345" cy="175345"/>
          </a:xfrm>
          <a:prstGeom prst="ellipse">
            <a:avLst/>
          </a:prstGeom>
          <a:solidFill>
            <a:srgbClr val="071B30"/>
          </a:solidFill>
          <a:ln w="8890">
            <a:solidFill>
              <a:srgbClr val="315779"/>
            </a:solidFill>
            <a:prstDash val="solid"/>
          </a:ln>
        </p:spPr>
        <p:txBody>
          <a:bodyPr/>
          <a:p/>
        </p:txBody>
      </p:sp>
      <p:sp>
        <p:nvSpPr>
          <p:cNvPr id="103" name="Shape 99"/>
          <p:cNvSpPr/>
          <p:nvPr/>
        </p:nvSpPr>
        <p:spPr>
          <a:xfrm>
            <a:off x="5748943" y="3996952"/>
            <a:ext cx="175345" cy="175345"/>
          </a:xfrm>
          <a:prstGeom prst="ellipse">
            <a:avLst/>
          </a:prstGeom>
          <a:solidFill>
            <a:srgbClr val="071B30"/>
          </a:solidFill>
          <a:ln w="8890">
            <a:solidFill>
              <a:srgbClr val="315779"/>
            </a:solidFill>
            <a:prstDash val="solid"/>
          </a:ln>
        </p:spPr>
        <p:txBody>
          <a:bodyPr/>
          <a:p/>
        </p:txBody>
      </p:sp>
      <p:sp>
        <p:nvSpPr>
          <p:cNvPr id="104" name="Shape 100"/>
          <p:cNvSpPr/>
          <p:nvPr/>
        </p:nvSpPr>
        <p:spPr>
          <a:xfrm>
            <a:off x="6006803" y="3996952"/>
            <a:ext cx="175345" cy="175345"/>
          </a:xfrm>
          <a:prstGeom prst="ellipse">
            <a:avLst/>
          </a:prstGeom>
          <a:solidFill>
            <a:srgbClr val="071B30"/>
          </a:solidFill>
          <a:ln w="8890">
            <a:solidFill>
              <a:srgbClr val="315779"/>
            </a:solidFill>
            <a:prstDash val="solid"/>
          </a:ln>
        </p:spPr>
        <p:txBody>
          <a:bodyPr/>
          <a:p/>
        </p:txBody>
      </p:sp>
      <p:sp>
        <p:nvSpPr>
          <p:cNvPr id="105" name="Shape 101"/>
          <p:cNvSpPr/>
          <p:nvPr/>
        </p:nvSpPr>
        <p:spPr>
          <a:xfrm>
            <a:off x="6264664" y="3996952"/>
            <a:ext cx="175345" cy="175345"/>
          </a:xfrm>
          <a:prstGeom prst="ellipse">
            <a:avLst/>
          </a:prstGeom>
          <a:solidFill>
            <a:srgbClr val="071B30"/>
          </a:solidFill>
          <a:ln w="8890">
            <a:solidFill>
              <a:srgbClr val="315779"/>
            </a:solidFill>
            <a:prstDash val="solid"/>
          </a:ln>
        </p:spPr>
        <p:txBody>
          <a:bodyPr/>
          <a:p/>
        </p:txBody>
      </p:sp>
      <p:sp>
        <p:nvSpPr>
          <p:cNvPr id="106" name="Shape 102"/>
          <p:cNvSpPr/>
          <p:nvPr/>
        </p:nvSpPr>
        <p:spPr>
          <a:xfrm>
            <a:off x="6522525" y="3996952"/>
            <a:ext cx="175345" cy="175345"/>
          </a:xfrm>
          <a:prstGeom prst="ellipse">
            <a:avLst/>
          </a:prstGeom>
          <a:solidFill>
            <a:srgbClr val="071B30"/>
          </a:solidFill>
          <a:ln w="8890">
            <a:solidFill>
              <a:srgbClr val="315779"/>
            </a:solidFill>
            <a:prstDash val="solid"/>
          </a:ln>
        </p:spPr>
        <p:txBody>
          <a:bodyPr/>
          <a:p/>
        </p:txBody>
      </p:sp>
      <p:sp>
        <p:nvSpPr>
          <p:cNvPr id="107" name="Shape 103"/>
          <p:cNvSpPr/>
          <p:nvPr/>
        </p:nvSpPr>
        <p:spPr>
          <a:xfrm>
            <a:off x="6780386" y="3996952"/>
            <a:ext cx="175345" cy="175345"/>
          </a:xfrm>
          <a:prstGeom prst="ellipse">
            <a:avLst/>
          </a:prstGeom>
          <a:solidFill>
            <a:srgbClr val="071B30"/>
          </a:solidFill>
          <a:ln w="8890">
            <a:solidFill>
              <a:srgbClr val="315779"/>
            </a:solidFill>
            <a:prstDash val="solid"/>
          </a:ln>
        </p:spPr>
        <p:txBody>
          <a:bodyPr/>
          <a:p/>
        </p:txBody>
      </p:sp>
      <p:sp>
        <p:nvSpPr>
          <p:cNvPr id="108" name="Shape 104"/>
          <p:cNvSpPr/>
          <p:nvPr/>
        </p:nvSpPr>
        <p:spPr>
          <a:xfrm>
            <a:off x="7038247" y="3996952"/>
            <a:ext cx="175345" cy="175345"/>
          </a:xfrm>
          <a:prstGeom prst="ellipse">
            <a:avLst/>
          </a:prstGeom>
          <a:solidFill>
            <a:srgbClr val="071B30"/>
          </a:solidFill>
          <a:ln w="8890">
            <a:solidFill>
              <a:srgbClr val="315779"/>
            </a:solidFill>
            <a:prstDash val="solid"/>
          </a:ln>
        </p:spPr>
        <p:txBody>
          <a:bodyPr/>
          <a:p/>
        </p:txBody>
      </p:sp>
      <p:sp>
        <p:nvSpPr>
          <p:cNvPr id="109" name="Shape 105"/>
          <p:cNvSpPr/>
          <p:nvPr/>
        </p:nvSpPr>
        <p:spPr>
          <a:xfrm>
            <a:off x="4975360" y="4254813"/>
            <a:ext cx="175345" cy="175345"/>
          </a:xfrm>
          <a:prstGeom prst="ellipse">
            <a:avLst/>
          </a:prstGeom>
          <a:solidFill>
            <a:srgbClr val="071B30"/>
          </a:solidFill>
          <a:ln w="8890">
            <a:solidFill>
              <a:srgbClr val="315779"/>
            </a:solidFill>
            <a:prstDash val="solid"/>
          </a:ln>
        </p:spPr>
        <p:txBody>
          <a:bodyPr/>
          <a:p/>
        </p:txBody>
      </p:sp>
      <p:sp>
        <p:nvSpPr>
          <p:cNvPr id="110" name="Shape 106"/>
          <p:cNvSpPr/>
          <p:nvPr/>
        </p:nvSpPr>
        <p:spPr>
          <a:xfrm>
            <a:off x="5233221" y="4254813"/>
            <a:ext cx="175345" cy="175345"/>
          </a:xfrm>
          <a:prstGeom prst="ellipse">
            <a:avLst/>
          </a:prstGeom>
          <a:solidFill>
            <a:srgbClr val="071B30"/>
          </a:solidFill>
          <a:ln w="8890">
            <a:solidFill>
              <a:srgbClr val="315779"/>
            </a:solidFill>
            <a:prstDash val="solid"/>
          </a:ln>
        </p:spPr>
        <p:txBody>
          <a:bodyPr/>
          <a:p/>
        </p:txBody>
      </p:sp>
      <p:sp>
        <p:nvSpPr>
          <p:cNvPr id="111" name="Shape 107"/>
          <p:cNvSpPr/>
          <p:nvPr/>
        </p:nvSpPr>
        <p:spPr>
          <a:xfrm>
            <a:off x="5491082" y="4254813"/>
            <a:ext cx="175345" cy="175345"/>
          </a:xfrm>
          <a:prstGeom prst="ellipse">
            <a:avLst/>
          </a:prstGeom>
          <a:solidFill>
            <a:srgbClr val="071B30"/>
          </a:solidFill>
          <a:ln w="8890">
            <a:solidFill>
              <a:srgbClr val="315779"/>
            </a:solidFill>
            <a:prstDash val="solid"/>
          </a:ln>
        </p:spPr>
        <p:txBody>
          <a:bodyPr/>
          <a:p/>
        </p:txBody>
      </p:sp>
      <p:sp>
        <p:nvSpPr>
          <p:cNvPr id="112" name="Shape 108"/>
          <p:cNvSpPr/>
          <p:nvPr/>
        </p:nvSpPr>
        <p:spPr>
          <a:xfrm>
            <a:off x="5748943" y="4254813"/>
            <a:ext cx="175345" cy="175345"/>
          </a:xfrm>
          <a:prstGeom prst="ellipse">
            <a:avLst/>
          </a:prstGeom>
          <a:solidFill>
            <a:srgbClr val="071B30"/>
          </a:solidFill>
          <a:ln w="8890">
            <a:solidFill>
              <a:srgbClr val="315779"/>
            </a:solidFill>
            <a:prstDash val="solid"/>
          </a:ln>
        </p:spPr>
        <p:txBody>
          <a:bodyPr/>
          <a:p/>
        </p:txBody>
      </p:sp>
      <p:sp>
        <p:nvSpPr>
          <p:cNvPr id="113" name="Shape 109"/>
          <p:cNvSpPr/>
          <p:nvPr/>
        </p:nvSpPr>
        <p:spPr>
          <a:xfrm>
            <a:off x="6006803" y="4254813"/>
            <a:ext cx="175345" cy="175345"/>
          </a:xfrm>
          <a:prstGeom prst="ellipse">
            <a:avLst/>
          </a:prstGeom>
          <a:solidFill>
            <a:srgbClr val="071B30"/>
          </a:solidFill>
          <a:ln w="8890">
            <a:solidFill>
              <a:srgbClr val="315779"/>
            </a:solidFill>
            <a:prstDash val="solid"/>
          </a:ln>
        </p:spPr>
        <p:txBody>
          <a:bodyPr/>
          <a:p/>
        </p:txBody>
      </p:sp>
      <p:sp>
        <p:nvSpPr>
          <p:cNvPr id="114" name="Shape 110"/>
          <p:cNvSpPr/>
          <p:nvPr/>
        </p:nvSpPr>
        <p:spPr>
          <a:xfrm>
            <a:off x="6264664" y="4254813"/>
            <a:ext cx="175345" cy="175345"/>
          </a:xfrm>
          <a:prstGeom prst="ellipse">
            <a:avLst/>
          </a:prstGeom>
          <a:solidFill>
            <a:srgbClr val="071B30"/>
          </a:solidFill>
          <a:ln w="8890">
            <a:solidFill>
              <a:srgbClr val="315779"/>
            </a:solidFill>
            <a:prstDash val="solid"/>
          </a:ln>
        </p:spPr>
        <p:txBody>
          <a:bodyPr/>
          <a:p/>
        </p:txBody>
      </p:sp>
      <p:sp>
        <p:nvSpPr>
          <p:cNvPr id="115" name="Shape 111"/>
          <p:cNvSpPr/>
          <p:nvPr/>
        </p:nvSpPr>
        <p:spPr>
          <a:xfrm>
            <a:off x="6522525" y="4254813"/>
            <a:ext cx="175345" cy="175345"/>
          </a:xfrm>
          <a:prstGeom prst="ellipse">
            <a:avLst/>
          </a:prstGeom>
          <a:solidFill>
            <a:srgbClr val="071B30"/>
          </a:solidFill>
          <a:ln w="8890">
            <a:solidFill>
              <a:srgbClr val="315779"/>
            </a:solidFill>
            <a:prstDash val="solid"/>
          </a:ln>
        </p:spPr>
        <p:txBody>
          <a:bodyPr/>
          <a:p/>
        </p:txBody>
      </p:sp>
      <p:sp>
        <p:nvSpPr>
          <p:cNvPr id="116" name="Shape 112"/>
          <p:cNvSpPr/>
          <p:nvPr/>
        </p:nvSpPr>
        <p:spPr>
          <a:xfrm>
            <a:off x="6780386" y="4254813"/>
            <a:ext cx="175345" cy="175345"/>
          </a:xfrm>
          <a:prstGeom prst="ellipse">
            <a:avLst/>
          </a:prstGeom>
          <a:solidFill>
            <a:srgbClr val="071B30"/>
          </a:solidFill>
          <a:ln w="8890">
            <a:solidFill>
              <a:srgbClr val="315779"/>
            </a:solidFill>
            <a:prstDash val="solid"/>
          </a:ln>
        </p:spPr>
        <p:txBody>
          <a:bodyPr/>
          <a:p/>
        </p:txBody>
      </p:sp>
      <p:sp>
        <p:nvSpPr>
          <p:cNvPr id="117" name="Shape 113"/>
          <p:cNvSpPr/>
          <p:nvPr/>
        </p:nvSpPr>
        <p:spPr>
          <a:xfrm>
            <a:off x="7038247" y="4254813"/>
            <a:ext cx="175345" cy="175345"/>
          </a:xfrm>
          <a:prstGeom prst="ellipse">
            <a:avLst/>
          </a:prstGeom>
          <a:solidFill>
            <a:srgbClr val="071B30"/>
          </a:solidFill>
          <a:ln w="8890">
            <a:solidFill>
              <a:srgbClr val="315779"/>
            </a:solidFill>
            <a:prstDash val="solid"/>
          </a:ln>
        </p:spPr>
        <p:txBody>
          <a:bodyPr/>
          <a:p/>
        </p:txBody>
      </p:sp>
      <p:sp>
        <p:nvSpPr>
          <p:cNvPr id="118" name="Shape 114"/>
          <p:cNvSpPr/>
          <p:nvPr/>
        </p:nvSpPr>
        <p:spPr>
          <a:xfrm>
            <a:off x="4975360" y="4512674"/>
            <a:ext cx="175345" cy="175345"/>
          </a:xfrm>
          <a:prstGeom prst="ellipse">
            <a:avLst/>
          </a:prstGeom>
          <a:solidFill>
            <a:srgbClr val="071B30"/>
          </a:solidFill>
          <a:ln w="8890">
            <a:solidFill>
              <a:srgbClr val="315779"/>
            </a:solidFill>
            <a:prstDash val="solid"/>
          </a:ln>
        </p:spPr>
        <p:txBody>
          <a:bodyPr/>
          <a:p/>
        </p:txBody>
      </p:sp>
      <p:sp>
        <p:nvSpPr>
          <p:cNvPr id="119" name="Shape 115"/>
          <p:cNvSpPr/>
          <p:nvPr/>
        </p:nvSpPr>
        <p:spPr>
          <a:xfrm>
            <a:off x="5233221" y="4512674"/>
            <a:ext cx="175345" cy="175345"/>
          </a:xfrm>
          <a:prstGeom prst="ellipse">
            <a:avLst/>
          </a:prstGeom>
          <a:solidFill>
            <a:srgbClr val="071B30"/>
          </a:solidFill>
          <a:ln w="8890">
            <a:solidFill>
              <a:srgbClr val="315779"/>
            </a:solidFill>
            <a:prstDash val="solid"/>
          </a:ln>
        </p:spPr>
        <p:txBody>
          <a:bodyPr/>
          <a:p/>
        </p:txBody>
      </p:sp>
      <p:sp>
        <p:nvSpPr>
          <p:cNvPr id="120" name="Shape 116"/>
          <p:cNvSpPr/>
          <p:nvPr/>
        </p:nvSpPr>
        <p:spPr>
          <a:xfrm>
            <a:off x="5491082" y="4512674"/>
            <a:ext cx="175345" cy="175345"/>
          </a:xfrm>
          <a:prstGeom prst="ellipse">
            <a:avLst/>
          </a:prstGeom>
          <a:solidFill>
            <a:srgbClr val="071B30"/>
          </a:solidFill>
          <a:ln w="8890">
            <a:solidFill>
              <a:srgbClr val="315779"/>
            </a:solidFill>
            <a:prstDash val="solid"/>
          </a:ln>
        </p:spPr>
        <p:txBody>
          <a:bodyPr/>
          <a:p/>
        </p:txBody>
      </p:sp>
      <p:sp>
        <p:nvSpPr>
          <p:cNvPr id="121" name="Shape 117"/>
          <p:cNvSpPr/>
          <p:nvPr/>
        </p:nvSpPr>
        <p:spPr>
          <a:xfrm>
            <a:off x="5748943" y="4512674"/>
            <a:ext cx="175345" cy="175345"/>
          </a:xfrm>
          <a:prstGeom prst="ellipse">
            <a:avLst/>
          </a:prstGeom>
          <a:solidFill>
            <a:srgbClr val="071B30"/>
          </a:solidFill>
          <a:ln w="8890">
            <a:solidFill>
              <a:srgbClr val="315779"/>
            </a:solidFill>
            <a:prstDash val="solid"/>
          </a:ln>
        </p:spPr>
        <p:txBody>
          <a:bodyPr/>
          <a:p/>
        </p:txBody>
      </p:sp>
      <p:sp>
        <p:nvSpPr>
          <p:cNvPr id="122" name="Shape 118"/>
          <p:cNvSpPr/>
          <p:nvPr/>
        </p:nvSpPr>
        <p:spPr>
          <a:xfrm>
            <a:off x="6006803" y="4512674"/>
            <a:ext cx="175345" cy="175345"/>
          </a:xfrm>
          <a:prstGeom prst="ellipse">
            <a:avLst/>
          </a:prstGeom>
          <a:solidFill>
            <a:srgbClr val="071B30"/>
          </a:solidFill>
          <a:ln w="8890">
            <a:solidFill>
              <a:srgbClr val="315779"/>
            </a:solidFill>
            <a:prstDash val="solid"/>
          </a:ln>
        </p:spPr>
        <p:txBody>
          <a:bodyPr/>
          <a:p/>
        </p:txBody>
      </p:sp>
      <p:sp>
        <p:nvSpPr>
          <p:cNvPr id="123" name="Shape 119"/>
          <p:cNvSpPr/>
          <p:nvPr/>
        </p:nvSpPr>
        <p:spPr>
          <a:xfrm>
            <a:off x="6264664" y="4512674"/>
            <a:ext cx="175345" cy="175345"/>
          </a:xfrm>
          <a:prstGeom prst="ellipse">
            <a:avLst/>
          </a:prstGeom>
          <a:solidFill>
            <a:srgbClr val="071B30"/>
          </a:solidFill>
          <a:ln w="8890">
            <a:solidFill>
              <a:srgbClr val="315779"/>
            </a:solidFill>
            <a:prstDash val="solid"/>
          </a:ln>
        </p:spPr>
        <p:txBody>
          <a:bodyPr/>
          <a:p/>
        </p:txBody>
      </p:sp>
      <p:sp>
        <p:nvSpPr>
          <p:cNvPr id="124" name="Shape 120"/>
          <p:cNvSpPr/>
          <p:nvPr/>
        </p:nvSpPr>
        <p:spPr>
          <a:xfrm>
            <a:off x="6522525" y="4512674"/>
            <a:ext cx="175345" cy="175345"/>
          </a:xfrm>
          <a:prstGeom prst="ellipse">
            <a:avLst/>
          </a:prstGeom>
          <a:solidFill>
            <a:srgbClr val="071B30"/>
          </a:solidFill>
          <a:ln w="8890">
            <a:solidFill>
              <a:srgbClr val="315779"/>
            </a:solidFill>
            <a:prstDash val="solid"/>
          </a:ln>
        </p:spPr>
        <p:txBody>
          <a:bodyPr/>
          <a:p/>
        </p:txBody>
      </p:sp>
      <p:sp>
        <p:nvSpPr>
          <p:cNvPr id="125" name="Shape 121"/>
          <p:cNvSpPr/>
          <p:nvPr/>
        </p:nvSpPr>
        <p:spPr>
          <a:xfrm>
            <a:off x="6780386" y="4512674"/>
            <a:ext cx="175345" cy="175345"/>
          </a:xfrm>
          <a:prstGeom prst="ellipse">
            <a:avLst/>
          </a:prstGeom>
          <a:solidFill>
            <a:srgbClr val="071B30"/>
          </a:solidFill>
          <a:ln w="8890">
            <a:solidFill>
              <a:srgbClr val="315779"/>
            </a:solidFill>
            <a:prstDash val="solid"/>
          </a:ln>
        </p:spPr>
        <p:txBody>
          <a:bodyPr/>
          <a:p/>
        </p:txBody>
      </p:sp>
      <p:sp>
        <p:nvSpPr>
          <p:cNvPr id="126" name="Shape 122"/>
          <p:cNvSpPr/>
          <p:nvPr/>
        </p:nvSpPr>
        <p:spPr>
          <a:xfrm>
            <a:off x="7038247" y="4512674"/>
            <a:ext cx="175345" cy="175345"/>
          </a:xfrm>
          <a:prstGeom prst="ellipse">
            <a:avLst/>
          </a:prstGeom>
          <a:solidFill>
            <a:srgbClr val="071B30"/>
          </a:solidFill>
          <a:ln w="8890">
            <a:solidFill>
              <a:srgbClr val="315779"/>
            </a:solidFill>
            <a:prstDash val="solid"/>
          </a:ln>
        </p:spPr>
        <p:txBody>
          <a:bodyPr/>
          <a:p/>
        </p:txBody>
      </p:sp>
      <p:sp>
        <p:nvSpPr>
          <p:cNvPr id="127" name="Shape 123"/>
          <p:cNvSpPr/>
          <p:nvPr/>
        </p:nvSpPr>
        <p:spPr>
          <a:xfrm>
            <a:off x="4975360" y="4770535"/>
            <a:ext cx="175345" cy="175345"/>
          </a:xfrm>
          <a:prstGeom prst="ellipse">
            <a:avLst/>
          </a:prstGeom>
          <a:solidFill>
            <a:srgbClr val="071B30"/>
          </a:solidFill>
          <a:ln w="8890">
            <a:solidFill>
              <a:srgbClr val="315779"/>
            </a:solidFill>
            <a:prstDash val="solid"/>
          </a:ln>
        </p:spPr>
        <p:txBody>
          <a:bodyPr/>
          <a:p/>
        </p:txBody>
      </p:sp>
      <p:sp>
        <p:nvSpPr>
          <p:cNvPr id="128" name="Shape 124"/>
          <p:cNvSpPr/>
          <p:nvPr/>
        </p:nvSpPr>
        <p:spPr>
          <a:xfrm>
            <a:off x="5233221" y="4770535"/>
            <a:ext cx="175345" cy="175345"/>
          </a:xfrm>
          <a:prstGeom prst="ellipse">
            <a:avLst/>
          </a:prstGeom>
          <a:solidFill>
            <a:srgbClr val="071B30"/>
          </a:solidFill>
          <a:ln w="8890">
            <a:solidFill>
              <a:srgbClr val="315779"/>
            </a:solidFill>
            <a:prstDash val="solid"/>
          </a:ln>
        </p:spPr>
        <p:txBody>
          <a:bodyPr/>
          <a:p/>
        </p:txBody>
      </p:sp>
      <p:sp>
        <p:nvSpPr>
          <p:cNvPr id="129" name="Shape 125"/>
          <p:cNvSpPr/>
          <p:nvPr/>
        </p:nvSpPr>
        <p:spPr>
          <a:xfrm>
            <a:off x="5491082" y="4770535"/>
            <a:ext cx="175345" cy="175345"/>
          </a:xfrm>
          <a:prstGeom prst="ellipse">
            <a:avLst/>
          </a:prstGeom>
          <a:solidFill>
            <a:srgbClr val="071B30"/>
          </a:solidFill>
          <a:ln w="8890">
            <a:solidFill>
              <a:srgbClr val="315779"/>
            </a:solidFill>
            <a:prstDash val="solid"/>
          </a:ln>
        </p:spPr>
        <p:txBody>
          <a:bodyPr/>
          <a:p/>
        </p:txBody>
      </p:sp>
      <p:sp>
        <p:nvSpPr>
          <p:cNvPr id="130" name="Shape 126"/>
          <p:cNvSpPr/>
          <p:nvPr/>
        </p:nvSpPr>
        <p:spPr>
          <a:xfrm>
            <a:off x="5748943" y="4770535"/>
            <a:ext cx="175345" cy="175345"/>
          </a:xfrm>
          <a:prstGeom prst="ellipse">
            <a:avLst/>
          </a:prstGeom>
          <a:solidFill>
            <a:srgbClr val="071B30"/>
          </a:solidFill>
          <a:ln w="8890">
            <a:solidFill>
              <a:srgbClr val="315779"/>
            </a:solidFill>
            <a:prstDash val="solid"/>
          </a:ln>
        </p:spPr>
        <p:txBody>
          <a:bodyPr/>
          <a:p/>
        </p:txBody>
      </p:sp>
      <p:sp>
        <p:nvSpPr>
          <p:cNvPr id="131" name="Shape 127"/>
          <p:cNvSpPr/>
          <p:nvPr/>
        </p:nvSpPr>
        <p:spPr>
          <a:xfrm>
            <a:off x="6006803" y="4770535"/>
            <a:ext cx="175345" cy="175345"/>
          </a:xfrm>
          <a:prstGeom prst="ellipse">
            <a:avLst/>
          </a:prstGeom>
          <a:solidFill>
            <a:srgbClr val="071B30"/>
          </a:solidFill>
          <a:ln w="8890">
            <a:solidFill>
              <a:srgbClr val="315779"/>
            </a:solidFill>
            <a:prstDash val="solid"/>
          </a:ln>
        </p:spPr>
        <p:txBody>
          <a:bodyPr/>
          <a:p/>
        </p:txBody>
      </p:sp>
      <p:sp>
        <p:nvSpPr>
          <p:cNvPr id="132" name="Shape 128"/>
          <p:cNvSpPr/>
          <p:nvPr/>
        </p:nvSpPr>
        <p:spPr>
          <a:xfrm>
            <a:off x="6264664" y="4770535"/>
            <a:ext cx="175345" cy="175345"/>
          </a:xfrm>
          <a:prstGeom prst="ellipse">
            <a:avLst/>
          </a:prstGeom>
          <a:solidFill>
            <a:srgbClr val="071B30"/>
          </a:solidFill>
          <a:ln w="8890">
            <a:solidFill>
              <a:srgbClr val="315779"/>
            </a:solidFill>
            <a:prstDash val="solid"/>
          </a:ln>
        </p:spPr>
        <p:txBody>
          <a:bodyPr/>
          <a:p/>
        </p:txBody>
      </p:sp>
      <p:sp>
        <p:nvSpPr>
          <p:cNvPr id="133" name="Shape 129"/>
          <p:cNvSpPr/>
          <p:nvPr/>
        </p:nvSpPr>
        <p:spPr>
          <a:xfrm>
            <a:off x="6522525" y="4770535"/>
            <a:ext cx="175345" cy="175345"/>
          </a:xfrm>
          <a:prstGeom prst="ellipse">
            <a:avLst/>
          </a:prstGeom>
          <a:solidFill>
            <a:srgbClr val="071B30"/>
          </a:solidFill>
          <a:ln w="8890">
            <a:solidFill>
              <a:srgbClr val="315779"/>
            </a:solidFill>
            <a:prstDash val="solid"/>
          </a:ln>
        </p:spPr>
        <p:txBody>
          <a:bodyPr/>
          <a:p/>
        </p:txBody>
      </p:sp>
      <p:sp>
        <p:nvSpPr>
          <p:cNvPr id="134" name="Shape 130"/>
          <p:cNvSpPr/>
          <p:nvPr/>
        </p:nvSpPr>
        <p:spPr>
          <a:xfrm>
            <a:off x="6780386" y="4770535"/>
            <a:ext cx="175345" cy="175345"/>
          </a:xfrm>
          <a:prstGeom prst="ellipse">
            <a:avLst/>
          </a:prstGeom>
          <a:solidFill>
            <a:srgbClr val="071B30"/>
          </a:solidFill>
          <a:ln w="8890">
            <a:solidFill>
              <a:srgbClr val="315779"/>
            </a:solidFill>
            <a:prstDash val="solid"/>
          </a:ln>
        </p:spPr>
        <p:txBody>
          <a:bodyPr/>
          <a:p/>
        </p:txBody>
      </p:sp>
      <p:sp>
        <p:nvSpPr>
          <p:cNvPr id="135" name="Shape 131"/>
          <p:cNvSpPr/>
          <p:nvPr/>
        </p:nvSpPr>
        <p:spPr>
          <a:xfrm>
            <a:off x="7038247" y="4770535"/>
            <a:ext cx="175345" cy="175345"/>
          </a:xfrm>
          <a:prstGeom prst="ellipse">
            <a:avLst/>
          </a:prstGeom>
          <a:solidFill>
            <a:srgbClr val="071B30"/>
          </a:solidFill>
          <a:ln w="8890">
            <a:solidFill>
              <a:srgbClr val="315779"/>
            </a:solidFill>
            <a:prstDash val="solid"/>
          </a:ln>
        </p:spPr>
        <p:txBody>
          <a:bodyPr/>
          <a:p/>
        </p:txBody>
      </p:sp>
      <p:sp>
        <p:nvSpPr>
          <p:cNvPr id="136" name="Shape 132"/>
          <p:cNvSpPr/>
          <p:nvPr/>
        </p:nvSpPr>
        <p:spPr>
          <a:xfrm>
            <a:off x="4975360" y="5028395"/>
            <a:ext cx="175345" cy="175345"/>
          </a:xfrm>
          <a:prstGeom prst="ellipse">
            <a:avLst/>
          </a:prstGeom>
          <a:solidFill>
            <a:srgbClr val="071B30"/>
          </a:solidFill>
          <a:ln w="8890">
            <a:solidFill>
              <a:srgbClr val="315779"/>
            </a:solidFill>
            <a:prstDash val="solid"/>
          </a:ln>
        </p:spPr>
        <p:txBody>
          <a:bodyPr/>
          <a:p/>
        </p:txBody>
      </p:sp>
      <p:sp>
        <p:nvSpPr>
          <p:cNvPr id="137" name="Shape 133"/>
          <p:cNvSpPr/>
          <p:nvPr/>
        </p:nvSpPr>
        <p:spPr>
          <a:xfrm>
            <a:off x="5233221" y="5028395"/>
            <a:ext cx="175345" cy="175345"/>
          </a:xfrm>
          <a:prstGeom prst="ellipse">
            <a:avLst/>
          </a:prstGeom>
          <a:solidFill>
            <a:srgbClr val="071B30"/>
          </a:solidFill>
          <a:ln w="8890">
            <a:solidFill>
              <a:srgbClr val="315779"/>
            </a:solidFill>
            <a:prstDash val="solid"/>
          </a:ln>
        </p:spPr>
        <p:txBody>
          <a:bodyPr/>
          <a:p/>
        </p:txBody>
      </p:sp>
      <p:sp>
        <p:nvSpPr>
          <p:cNvPr id="138" name="Shape 134"/>
          <p:cNvSpPr/>
          <p:nvPr/>
        </p:nvSpPr>
        <p:spPr>
          <a:xfrm>
            <a:off x="5491082" y="5028395"/>
            <a:ext cx="175345" cy="175345"/>
          </a:xfrm>
          <a:prstGeom prst="ellipse">
            <a:avLst/>
          </a:prstGeom>
          <a:solidFill>
            <a:srgbClr val="071B30"/>
          </a:solidFill>
          <a:ln w="8890">
            <a:solidFill>
              <a:srgbClr val="315779"/>
            </a:solidFill>
            <a:prstDash val="solid"/>
          </a:ln>
        </p:spPr>
        <p:txBody>
          <a:bodyPr/>
          <a:p/>
        </p:txBody>
      </p:sp>
      <p:sp>
        <p:nvSpPr>
          <p:cNvPr id="139" name="Shape 135"/>
          <p:cNvSpPr/>
          <p:nvPr/>
        </p:nvSpPr>
        <p:spPr>
          <a:xfrm>
            <a:off x="5748943" y="5028395"/>
            <a:ext cx="175345" cy="175345"/>
          </a:xfrm>
          <a:prstGeom prst="ellipse">
            <a:avLst/>
          </a:prstGeom>
          <a:solidFill>
            <a:srgbClr val="071B30"/>
          </a:solidFill>
          <a:ln w="8890">
            <a:solidFill>
              <a:srgbClr val="315779"/>
            </a:solidFill>
            <a:prstDash val="solid"/>
          </a:ln>
        </p:spPr>
        <p:txBody>
          <a:bodyPr/>
          <a:p/>
        </p:txBody>
      </p:sp>
      <p:sp>
        <p:nvSpPr>
          <p:cNvPr id="140" name="Shape 136"/>
          <p:cNvSpPr/>
          <p:nvPr/>
        </p:nvSpPr>
        <p:spPr>
          <a:xfrm>
            <a:off x="6006803" y="5028395"/>
            <a:ext cx="175345" cy="175345"/>
          </a:xfrm>
          <a:prstGeom prst="ellipse">
            <a:avLst/>
          </a:prstGeom>
          <a:solidFill>
            <a:srgbClr val="071B30"/>
          </a:solidFill>
          <a:ln w="8890">
            <a:solidFill>
              <a:srgbClr val="315779"/>
            </a:solidFill>
            <a:prstDash val="solid"/>
          </a:ln>
        </p:spPr>
        <p:txBody>
          <a:bodyPr/>
          <a:p/>
        </p:txBody>
      </p:sp>
      <p:sp>
        <p:nvSpPr>
          <p:cNvPr id="141" name="Shape 137"/>
          <p:cNvSpPr/>
          <p:nvPr/>
        </p:nvSpPr>
        <p:spPr>
          <a:xfrm>
            <a:off x="6264664" y="5028395"/>
            <a:ext cx="175345" cy="175345"/>
          </a:xfrm>
          <a:prstGeom prst="ellipse">
            <a:avLst/>
          </a:prstGeom>
          <a:solidFill>
            <a:srgbClr val="071B30"/>
          </a:solidFill>
          <a:ln w="8890">
            <a:solidFill>
              <a:srgbClr val="315779"/>
            </a:solidFill>
            <a:prstDash val="solid"/>
          </a:ln>
        </p:spPr>
        <p:txBody>
          <a:bodyPr/>
          <a:p/>
        </p:txBody>
      </p:sp>
      <p:sp>
        <p:nvSpPr>
          <p:cNvPr id="142" name="Shape 138"/>
          <p:cNvSpPr/>
          <p:nvPr/>
        </p:nvSpPr>
        <p:spPr>
          <a:xfrm>
            <a:off x="6522525" y="5028395"/>
            <a:ext cx="175345" cy="175345"/>
          </a:xfrm>
          <a:prstGeom prst="ellipse">
            <a:avLst/>
          </a:prstGeom>
          <a:solidFill>
            <a:srgbClr val="071B30"/>
          </a:solidFill>
          <a:ln w="8890">
            <a:solidFill>
              <a:srgbClr val="315779"/>
            </a:solidFill>
            <a:prstDash val="solid"/>
          </a:ln>
        </p:spPr>
        <p:txBody>
          <a:bodyPr/>
          <a:p/>
        </p:txBody>
      </p:sp>
      <p:sp>
        <p:nvSpPr>
          <p:cNvPr id="143" name="Shape 139"/>
          <p:cNvSpPr/>
          <p:nvPr/>
        </p:nvSpPr>
        <p:spPr>
          <a:xfrm>
            <a:off x="6780386" y="5028395"/>
            <a:ext cx="175345" cy="175345"/>
          </a:xfrm>
          <a:prstGeom prst="ellipse">
            <a:avLst/>
          </a:prstGeom>
          <a:solidFill>
            <a:srgbClr val="071B30"/>
          </a:solidFill>
          <a:ln w="8890">
            <a:solidFill>
              <a:srgbClr val="315779"/>
            </a:solidFill>
            <a:prstDash val="solid"/>
          </a:ln>
        </p:spPr>
        <p:txBody>
          <a:bodyPr/>
          <a:p/>
        </p:txBody>
      </p:sp>
      <p:sp>
        <p:nvSpPr>
          <p:cNvPr id="144" name="Shape 140"/>
          <p:cNvSpPr/>
          <p:nvPr/>
        </p:nvSpPr>
        <p:spPr>
          <a:xfrm>
            <a:off x="7038247" y="5028395"/>
            <a:ext cx="175345" cy="175345"/>
          </a:xfrm>
          <a:prstGeom prst="ellipse">
            <a:avLst/>
          </a:prstGeom>
          <a:solidFill>
            <a:srgbClr val="071B30"/>
          </a:solidFill>
          <a:ln w="8890">
            <a:solidFill>
              <a:srgbClr val="315779"/>
            </a:solidFill>
            <a:prstDash val="solid"/>
          </a:ln>
        </p:spPr>
        <p:txBody>
          <a:bodyPr/>
          <a:p/>
        </p:txBody>
      </p:sp>
      <p:sp>
        <p:nvSpPr>
          <p:cNvPr id="145" name="Text 141"/>
          <p:cNvSpPr/>
          <p:nvPr/>
        </p:nvSpPr>
        <p:spPr>
          <a:xfrm>
            <a:off x="4645152" y="5550408"/>
            <a:ext cx="2898648" cy="310896"/>
          </a:xfrm>
          <a:prstGeom prst="rect">
            <a:avLst/>
          </a:prstGeom>
          <a:noFill/>
          <a:ln/>
        </p:spPr>
        <p:txBody>
          <a:bodyPr wrap="square" lIns="0" tIns="0" rIns="0" bIns="0" rtlCol="0" anchor="ctr">
            <a:normAutofit/>
          </a:bodyPr>
          <a:lstStyle/>
          <a:p>
            <a:pPr algn="ctr" indent="0" marL="0">
              <a:lnSpc>
                <a:spcPct val="100000"/>
              </a:lnSpc>
              <a:buNone/>
            </a:pPr>
            <a:r>
              <a:rPr lang="en-US" sz="1950" b="1" dirty="0">
                <a:solidFill>
                  <a:srgbClr val="10263D"/>
                </a:solidFill>
                <a:latin typeface="Inter" pitchFamily="34" charset="0"/>
                <a:ea typeface="Inter" pitchFamily="34" charset="-122"/>
                <a:cs typeface="Inter" pitchFamily="34" charset="-120"/>
              </a:rPr>
              <a:t>9 × 8</a:t>
            </a:r>
            <a:endParaRPr lang="en-US" sz="1950" dirty="0"/>
          </a:p>
        </p:txBody>
      </p:sp>
      <p:sp>
        <p:nvSpPr>
          <p:cNvPr id="146" name="Text 142"/>
          <p:cNvSpPr/>
          <p:nvPr/>
        </p:nvSpPr>
        <p:spPr>
          <a:xfrm>
            <a:off x="8284464" y="2642616"/>
            <a:ext cx="2880360" cy="237744"/>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2478F6"/>
                </a:solidFill>
                <a:latin typeface="Inter" pitchFamily="34" charset="0"/>
                <a:ea typeface="Inter" pitchFamily="34" charset="-122"/>
                <a:cs typeface="Inter" pitchFamily="34" charset="-120"/>
              </a:rPr>
              <a:t>4 SPIELER</a:t>
            </a:r>
            <a:endParaRPr lang="en-US" sz="1320" dirty="0"/>
          </a:p>
        </p:txBody>
      </p:sp>
      <p:sp>
        <p:nvSpPr>
          <p:cNvPr id="147" name="Shape 143"/>
          <p:cNvSpPr/>
          <p:nvPr/>
        </p:nvSpPr>
        <p:spPr>
          <a:xfrm>
            <a:off x="8469173" y="3054096"/>
            <a:ext cx="2529230" cy="2322576"/>
          </a:xfrm>
          <a:prstGeom prst="roundRect">
            <a:avLst>
              <a:gd name="adj" fmla="val 5512"/>
            </a:avLst>
          </a:prstGeom>
          <a:solidFill>
            <a:srgbClr val="0A2544"/>
          </a:solidFill>
          <a:ln w="12700">
            <a:solidFill>
              <a:srgbClr val="0A2544">
                <a:alpha val="0"/>
              </a:srgbClr>
            </a:solidFill>
            <a:prstDash val="solid"/>
          </a:ln>
        </p:spPr>
        <p:txBody>
          <a:bodyPr/>
          <a:p/>
        </p:txBody>
      </p:sp>
      <p:sp>
        <p:nvSpPr>
          <p:cNvPr id="148" name="Shape 144"/>
          <p:cNvSpPr/>
          <p:nvPr/>
        </p:nvSpPr>
        <p:spPr>
          <a:xfrm>
            <a:off x="8630254" y="3215177"/>
            <a:ext cx="140525" cy="140525"/>
          </a:xfrm>
          <a:prstGeom prst="ellipse">
            <a:avLst/>
          </a:prstGeom>
          <a:solidFill>
            <a:srgbClr val="071B30"/>
          </a:solidFill>
          <a:ln w="8890">
            <a:solidFill>
              <a:srgbClr val="315779"/>
            </a:solidFill>
            <a:prstDash val="solid"/>
          </a:ln>
        </p:spPr>
        <p:txBody>
          <a:bodyPr/>
          <a:p/>
        </p:txBody>
      </p:sp>
      <p:sp>
        <p:nvSpPr>
          <p:cNvPr id="149" name="Shape 145"/>
          <p:cNvSpPr/>
          <p:nvPr/>
        </p:nvSpPr>
        <p:spPr>
          <a:xfrm>
            <a:off x="8836908" y="3215177"/>
            <a:ext cx="140525" cy="140525"/>
          </a:xfrm>
          <a:prstGeom prst="ellipse">
            <a:avLst/>
          </a:prstGeom>
          <a:solidFill>
            <a:srgbClr val="071B30"/>
          </a:solidFill>
          <a:ln w="8890">
            <a:solidFill>
              <a:srgbClr val="315779"/>
            </a:solidFill>
            <a:prstDash val="solid"/>
          </a:ln>
        </p:spPr>
        <p:txBody>
          <a:bodyPr/>
          <a:p/>
        </p:txBody>
      </p:sp>
      <p:sp>
        <p:nvSpPr>
          <p:cNvPr id="150" name="Shape 146"/>
          <p:cNvSpPr/>
          <p:nvPr/>
        </p:nvSpPr>
        <p:spPr>
          <a:xfrm>
            <a:off x="9043562" y="3215177"/>
            <a:ext cx="140525" cy="140525"/>
          </a:xfrm>
          <a:prstGeom prst="ellipse">
            <a:avLst/>
          </a:prstGeom>
          <a:solidFill>
            <a:srgbClr val="071B30"/>
          </a:solidFill>
          <a:ln w="8890">
            <a:solidFill>
              <a:srgbClr val="315779"/>
            </a:solidFill>
            <a:prstDash val="solid"/>
          </a:ln>
        </p:spPr>
        <p:txBody>
          <a:bodyPr/>
          <a:p/>
        </p:txBody>
      </p:sp>
      <p:sp>
        <p:nvSpPr>
          <p:cNvPr id="151" name="Shape 147"/>
          <p:cNvSpPr/>
          <p:nvPr/>
        </p:nvSpPr>
        <p:spPr>
          <a:xfrm>
            <a:off x="9250217" y="3215177"/>
            <a:ext cx="140525" cy="140525"/>
          </a:xfrm>
          <a:prstGeom prst="ellipse">
            <a:avLst/>
          </a:prstGeom>
          <a:solidFill>
            <a:srgbClr val="071B30"/>
          </a:solidFill>
          <a:ln w="8890">
            <a:solidFill>
              <a:srgbClr val="315779"/>
            </a:solidFill>
            <a:prstDash val="solid"/>
          </a:ln>
        </p:spPr>
        <p:txBody>
          <a:bodyPr/>
          <a:p/>
        </p:txBody>
      </p:sp>
      <p:sp>
        <p:nvSpPr>
          <p:cNvPr id="152" name="Shape 148"/>
          <p:cNvSpPr/>
          <p:nvPr/>
        </p:nvSpPr>
        <p:spPr>
          <a:xfrm>
            <a:off x="9456871" y="3215177"/>
            <a:ext cx="140525" cy="140525"/>
          </a:xfrm>
          <a:prstGeom prst="ellipse">
            <a:avLst/>
          </a:prstGeom>
          <a:solidFill>
            <a:srgbClr val="071B30"/>
          </a:solidFill>
          <a:ln w="8890">
            <a:solidFill>
              <a:srgbClr val="315779"/>
            </a:solidFill>
            <a:prstDash val="solid"/>
          </a:ln>
        </p:spPr>
        <p:txBody>
          <a:bodyPr/>
          <a:p/>
        </p:txBody>
      </p:sp>
      <p:sp>
        <p:nvSpPr>
          <p:cNvPr id="153" name="Shape 149"/>
          <p:cNvSpPr/>
          <p:nvPr/>
        </p:nvSpPr>
        <p:spPr>
          <a:xfrm>
            <a:off x="9663526" y="3215177"/>
            <a:ext cx="140525" cy="140525"/>
          </a:xfrm>
          <a:prstGeom prst="ellipse">
            <a:avLst/>
          </a:prstGeom>
          <a:solidFill>
            <a:srgbClr val="071B30"/>
          </a:solidFill>
          <a:ln w="8890">
            <a:solidFill>
              <a:srgbClr val="315779"/>
            </a:solidFill>
            <a:prstDash val="solid"/>
          </a:ln>
        </p:spPr>
        <p:txBody>
          <a:bodyPr/>
          <a:p/>
        </p:txBody>
      </p:sp>
      <p:sp>
        <p:nvSpPr>
          <p:cNvPr id="154" name="Shape 150"/>
          <p:cNvSpPr/>
          <p:nvPr/>
        </p:nvSpPr>
        <p:spPr>
          <a:xfrm>
            <a:off x="9870180" y="3215177"/>
            <a:ext cx="140525" cy="140525"/>
          </a:xfrm>
          <a:prstGeom prst="ellipse">
            <a:avLst/>
          </a:prstGeom>
          <a:solidFill>
            <a:srgbClr val="071B30"/>
          </a:solidFill>
          <a:ln w="8890">
            <a:solidFill>
              <a:srgbClr val="315779"/>
            </a:solidFill>
            <a:prstDash val="solid"/>
          </a:ln>
        </p:spPr>
        <p:txBody>
          <a:bodyPr/>
          <a:p/>
        </p:txBody>
      </p:sp>
      <p:sp>
        <p:nvSpPr>
          <p:cNvPr id="155" name="Shape 151"/>
          <p:cNvSpPr/>
          <p:nvPr/>
        </p:nvSpPr>
        <p:spPr>
          <a:xfrm>
            <a:off x="10076834" y="3215177"/>
            <a:ext cx="140525" cy="140525"/>
          </a:xfrm>
          <a:prstGeom prst="ellipse">
            <a:avLst/>
          </a:prstGeom>
          <a:solidFill>
            <a:srgbClr val="071B30"/>
          </a:solidFill>
          <a:ln w="8890">
            <a:solidFill>
              <a:srgbClr val="315779"/>
            </a:solidFill>
            <a:prstDash val="solid"/>
          </a:ln>
        </p:spPr>
        <p:txBody>
          <a:bodyPr/>
          <a:p/>
        </p:txBody>
      </p:sp>
      <p:sp>
        <p:nvSpPr>
          <p:cNvPr id="156" name="Shape 152"/>
          <p:cNvSpPr/>
          <p:nvPr/>
        </p:nvSpPr>
        <p:spPr>
          <a:xfrm>
            <a:off x="10283489" y="3215177"/>
            <a:ext cx="140525" cy="140525"/>
          </a:xfrm>
          <a:prstGeom prst="ellipse">
            <a:avLst/>
          </a:prstGeom>
          <a:solidFill>
            <a:srgbClr val="071B30"/>
          </a:solidFill>
          <a:ln w="8890">
            <a:solidFill>
              <a:srgbClr val="315779"/>
            </a:solidFill>
            <a:prstDash val="solid"/>
          </a:ln>
        </p:spPr>
        <p:txBody>
          <a:bodyPr/>
          <a:p/>
        </p:txBody>
      </p:sp>
      <p:sp>
        <p:nvSpPr>
          <p:cNvPr id="157" name="Shape 153"/>
          <p:cNvSpPr/>
          <p:nvPr/>
        </p:nvSpPr>
        <p:spPr>
          <a:xfrm>
            <a:off x="10490143" y="3215177"/>
            <a:ext cx="140525" cy="140525"/>
          </a:xfrm>
          <a:prstGeom prst="ellipse">
            <a:avLst/>
          </a:prstGeom>
          <a:solidFill>
            <a:srgbClr val="071B30"/>
          </a:solidFill>
          <a:ln w="8890">
            <a:solidFill>
              <a:srgbClr val="315779"/>
            </a:solidFill>
            <a:prstDash val="solid"/>
          </a:ln>
        </p:spPr>
        <p:txBody>
          <a:bodyPr/>
          <a:p/>
        </p:txBody>
      </p:sp>
      <p:sp>
        <p:nvSpPr>
          <p:cNvPr id="158" name="Shape 154"/>
          <p:cNvSpPr/>
          <p:nvPr/>
        </p:nvSpPr>
        <p:spPr>
          <a:xfrm>
            <a:off x="10696798" y="3215177"/>
            <a:ext cx="140525" cy="140525"/>
          </a:xfrm>
          <a:prstGeom prst="ellipse">
            <a:avLst/>
          </a:prstGeom>
          <a:solidFill>
            <a:srgbClr val="071B30"/>
          </a:solidFill>
          <a:ln w="8890">
            <a:solidFill>
              <a:srgbClr val="315779"/>
            </a:solidFill>
            <a:prstDash val="solid"/>
          </a:ln>
        </p:spPr>
        <p:txBody>
          <a:bodyPr/>
          <a:p/>
        </p:txBody>
      </p:sp>
      <p:sp>
        <p:nvSpPr>
          <p:cNvPr id="159" name="Shape 155"/>
          <p:cNvSpPr/>
          <p:nvPr/>
        </p:nvSpPr>
        <p:spPr>
          <a:xfrm>
            <a:off x="8630254" y="3421831"/>
            <a:ext cx="140525" cy="140525"/>
          </a:xfrm>
          <a:prstGeom prst="ellipse">
            <a:avLst/>
          </a:prstGeom>
          <a:solidFill>
            <a:srgbClr val="071B30"/>
          </a:solidFill>
          <a:ln w="8890">
            <a:solidFill>
              <a:srgbClr val="315779"/>
            </a:solidFill>
            <a:prstDash val="solid"/>
          </a:ln>
        </p:spPr>
        <p:txBody>
          <a:bodyPr/>
          <a:p/>
        </p:txBody>
      </p:sp>
      <p:sp>
        <p:nvSpPr>
          <p:cNvPr id="160" name="Shape 156"/>
          <p:cNvSpPr/>
          <p:nvPr/>
        </p:nvSpPr>
        <p:spPr>
          <a:xfrm>
            <a:off x="8836908" y="3421831"/>
            <a:ext cx="140525" cy="140525"/>
          </a:xfrm>
          <a:prstGeom prst="ellipse">
            <a:avLst/>
          </a:prstGeom>
          <a:solidFill>
            <a:srgbClr val="071B30"/>
          </a:solidFill>
          <a:ln w="8890">
            <a:solidFill>
              <a:srgbClr val="315779"/>
            </a:solidFill>
            <a:prstDash val="solid"/>
          </a:ln>
        </p:spPr>
        <p:txBody>
          <a:bodyPr/>
          <a:p/>
        </p:txBody>
      </p:sp>
      <p:sp>
        <p:nvSpPr>
          <p:cNvPr id="161" name="Shape 157"/>
          <p:cNvSpPr/>
          <p:nvPr/>
        </p:nvSpPr>
        <p:spPr>
          <a:xfrm>
            <a:off x="9043562" y="3421831"/>
            <a:ext cx="140525" cy="140525"/>
          </a:xfrm>
          <a:prstGeom prst="ellipse">
            <a:avLst/>
          </a:prstGeom>
          <a:solidFill>
            <a:srgbClr val="071B30"/>
          </a:solidFill>
          <a:ln w="8890">
            <a:solidFill>
              <a:srgbClr val="315779"/>
            </a:solidFill>
            <a:prstDash val="solid"/>
          </a:ln>
        </p:spPr>
        <p:txBody>
          <a:bodyPr/>
          <a:p/>
        </p:txBody>
      </p:sp>
      <p:sp>
        <p:nvSpPr>
          <p:cNvPr id="162" name="Shape 158"/>
          <p:cNvSpPr/>
          <p:nvPr/>
        </p:nvSpPr>
        <p:spPr>
          <a:xfrm>
            <a:off x="9250217" y="3421831"/>
            <a:ext cx="140525" cy="140525"/>
          </a:xfrm>
          <a:prstGeom prst="ellipse">
            <a:avLst/>
          </a:prstGeom>
          <a:solidFill>
            <a:srgbClr val="071B30"/>
          </a:solidFill>
          <a:ln w="8890">
            <a:solidFill>
              <a:srgbClr val="315779"/>
            </a:solidFill>
            <a:prstDash val="solid"/>
          </a:ln>
        </p:spPr>
        <p:txBody>
          <a:bodyPr/>
          <a:p/>
        </p:txBody>
      </p:sp>
      <p:sp>
        <p:nvSpPr>
          <p:cNvPr id="163" name="Shape 159"/>
          <p:cNvSpPr/>
          <p:nvPr/>
        </p:nvSpPr>
        <p:spPr>
          <a:xfrm>
            <a:off x="9456871" y="3421831"/>
            <a:ext cx="140525" cy="140525"/>
          </a:xfrm>
          <a:prstGeom prst="ellipse">
            <a:avLst/>
          </a:prstGeom>
          <a:solidFill>
            <a:srgbClr val="071B30"/>
          </a:solidFill>
          <a:ln w="8890">
            <a:solidFill>
              <a:srgbClr val="315779"/>
            </a:solidFill>
            <a:prstDash val="solid"/>
          </a:ln>
        </p:spPr>
        <p:txBody>
          <a:bodyPr/>
          <a:p/>
        </p:txBody>
      </p:sp>
      <p:sp>
        <p:nvSpPr>
          <p:cNvPr id="164" name="Shape 160"/>
          <p:cNvSpPr/>
          <p:nvPr/>
        </p:nvSpPr>
        <p:spPr>
          <a:xfrm>
            <a:off x="9663526" y="3421831"/>
            <a:ext cx="140525" cy="140525"/>
          </a:xfrm>
          <a:prstGeom prst="ellipse">
            <a:avLst/>
          </a:prstGeom>
          <a:solidFill>
            <a:srgbClr val="071B30"/>
          </a:solidFill>
          <a:ln w="8890">
            <a:solidFill>
              <a:srgbClr val="315779"/>
            </a:solidFill>
            <a:prstDash val="solid"/>
          </a:ln>
        </p:spPr>
        <p:txBody>
          <a:bodyPr/>
          <a:p/>
        </p:txBody>
      </p:sp>
      <p:sp>
        <p:nvSpPr>
          <p:cNvPr id="165" name="Shape 161"/>
          <p:cNvSpPr/>
          <p:nvPr/>
        </p:nvSpPr>
        <p:spPr>
          <a:xfrm>
            <a:off x="9870180" y="3421831"/>
            <a:ext cx="140525" cy="140525"/>
          </a:xfrm>
          <a:prstGeom prst="ellipse">
            <a:avLst/>
          </a:prstGeom>
          <a:solidFill>
            <a:srgbClr val="071B30"/>
          </a:solidFill>
          <a:ln w="8890">
            <a:solidFill>
              <a:srgbClr val="315779"/>
            </a:solidFill>
            <a:prstDash val="solid"/>
          </a:ln>
        </p:spPr>
        <p:txBody>
          <a:bodyPr/>
          <a:p/>
        </p:txBody>
      </p:sp>
      <p:sp>
        <p:nvSpPr>
          <p:cNvPr id="166" name="Shape 162"/>
          <p:cNvSpPr/>
          <p:nvPr/>
        </p:nvSpPr>
        <p:spPr>
          <a:xfrm>
            <a:off x="10076834" y="3421831"/>
            <a:ext cx="140525" cy="140525"/>
          </a:xfrm>
          <a:prstGeom prst="ellipse">
            <a:avLst/>
          </a:prstGeom>
          <a:solidFill>
            <a:srgbClr val="071B30"/>
          </a:solidFill>
          <a:ln w="8890">
            <a:solidFill>
              <a:srgbClr val="315779"/>
            </a:solidFill>
            <a:prstDash val="solid"/>
          </a:ln>
        </p:spPr>
        <p:txBody>
          <a:bodyPr/>
          <a:p/>
        </p:txBody>
      </p:sp>
      <p:sp>
        <p:nvSpPr>
          <p:cNvPr id="167" name="Shape 163"/>
          <p:cNvSpPr/>
          <p:nvPr/>
        </p:nvSpPr>
        <p:spPr>
          <a:xfrm>
            <a:off x="10283489" y="3421831"/>
            <a:ext cx="140525" cy="140525"/>
          </a:xfrm>
          <a:prstGeom prst="ellipse">
            <a:avLst/>
          </a:prstGeom>
          <a:solidFill>
            <a:srgbClr val="071B30"/>
          </a:solidFill>
          <a:ln w="8890">
            <a:solidFill>
              <a:srgbClr val="315779"/>
            </a:solidFill>
            <a:prstDash val="solid"/>
          </a:ln>
        </p:spPr>
        <p:txBody>
          <a:bodyPr/>
          <a:p/>
        </p:txBody>
      </p:sp>
      <p:sp>
        <p:nvSpPr>
          <p:cNvPr id="168" name="Shape 164"/>
          <p:cNvSpPr/>
          <p:nvPr/>
        </p:nvSpPr>
        <p:spPr>
          <a:xfrm>
            <a:off x="10490143" y="3421831"/>
            <a:ext cx="140525" cy="140525"/>
          </a:xfrm>
          <a:prstGeom prst="ellipse">
            <a:avLst/>
          </a:prstGeom>
          <a:solidFill>
            <a:srgbClr val="071B30"/>
          </a:solidFill>
          <a:ln w="8890">
            <a:solidFill>
              <a:srgbClr val="315779"/>
            </a:solidFill>
            <a:prstDash val="solid"/>
          </a:ln>
        </p:spPr>
        <p:txBody>
          <a:bodyPr/>
          <a:p/>
        </p:txBody>
      </p:sp>
      <p:sp>
        <p:nvSpPr>
          <p:cNvPr id="169" name="Shape 165"/>
          <p:cNvSpPr/>
          <p:nvPr/>
        </p:nvSpPr>
        <p:spPr>
          <a:xfrm>
            <a:off x="10696798" y="3421831"/>
            <a:ext cx="140525" cy="140525"/>
          </a:xfrm>
          <a:prstGeom prst="ellipse">
            <a:avLst/>
          </a:prstGeom>
          <a:solidFill>
            <a:srgbClr val="071B30"/>
          </a:solidFill>
          <a:ln w="8890">
            <a:solidFill>
              <a:srgbClr val="315779"/>
            </a:solidFill>
            <a:prstDash val="solid"/>
          </a:ln>
        </p:spPr>
        <p:txBody>
          <a:bodyPr/>
          <a:p/>
        </p:txBody>
      </p:sp>
      <p:sp>
        <p:nvSpPr>
          <p:cNvPr id="170" name="Shape 166"/>
          <p:cNvSpPr/>
          <p:nvPr/>
        </p:nvSpPr>
        <p:spPr>
          <a:xfrm>
            <a:off x="8630254" y="3628486"/>
            <a:ext cx="140525" cy="140525"/>
          </a:xfrm>
          <a:prstGeom prst="ellipse">
            <a:avLst/>
          </a:prstGeom>
          <a:solidFill>
            <a:srgbClr val="071B30"/>
          </a:solidFill>
          <a:ln w="8890">
            <a:solidFill>
              <a:srgbClr val="315779"/>
            </a:solidFill>
            <a:prstDash val="solid"/>
          </a:ln>
        </p:spPr>
        <p:txBody>
          <a:bodyPr/>
          <a:p/>
        </p:txBody>
      </p:sp>
      <p:sp>
        <p:nvSpPr>
          <p:cNvPr id="171" name="Shape 167"/>
          <p:cNvSpPr/>
          <p:nvPr/>
        </p:nvSpPr>
        <p:spPr>
          <a:xfrm>
            <a:off x="8836908" y="3628486"/>
            <a:ext cx="140525" cy="140525"/>
          </a:xfrm>
          <a:prstGeom prst="ellipse">
            <a:avLst/>
          </a:prstGeom>
          <a:solidFill>
            <a:srgbClr val="071B30"/>
          </a:solidFill>
          <a:ln w="8890">
            <a:solidFill>
              <a:srgbClr val="315779"/>
            </a:solidFill>
            <a:prstDash val="solid"/>
          </a:ln>
        </p:spPr>
        <p:txBody>
          <a:bodyPr/>
          <a:p/>
        </p:txBody>
      </p:sp>
      <p:sp>
        <p:nvSpPr>
          <p:cNvPr id="172" name="Shape 168"/>
          <p:cNvSpPr/>
          <p:nvPr/>
        </p:nvSpPr>
        <p:spPr>
          <a:xfrm>
            <a:off x="9043562" y="3628486"/>
            <a:ext cx="140525" cy="140525"/>
          </a:xfrm>
          <a:prstGeom prst="ellipse">
            <a:avLst/>
          </a:prstGeom>
          <a:solidFill>
            <a:srgbClr val="071B30"/>
          </a:solidFill>
          <a:ln w="8890">
            <a:solidFill>
              <a:srgbClr val="315779"/>
            </a:solidFill>
            <a:prstDash val="solid"/>
          </a:ln>
        </p:spPr>
        <p:txBody>
          <a:bodyPr/>
          <a:p/>
        </p:txBody>
      </p:sp>
      <p:sp>
        <p:nvSpPr>
          <p:cNvPr id="173" name="Shape 169"/>
          <p:cNvSpPr/>
          <p:nvPr/>
        </p:nvSpPr>
        <p:spPr>
          <a:xfrm>
            <a:off x="9250217" y="3628486"/>
            <a:ext cx="140525" cy="140525"/>
          </a:xfrm>
          <a:prstGeom prst="ellipse">
            <a:avLst/>
          </a:prstGeom>
          <a:solidFill>
            <a:srgbClr val="071B30"/>
          </a:solidFill>
          <a:ln w="8890">
            <a:solidFill>
              <a:srgbClr val="315779"/>
            </a:solidFill>
            <a:prstDash val="solid"/>
          </a:ln>
        </p:spPr>
        <p:txBody>
          <a:bodyPr/>
          <a:p/>
        </p:txBody>
      </p:sp>
      <p:sp>
        <p:nvSpPr>
          <p:cNvPr id="174" name="Shape 170"/>
          <p:cNvSpPr/>
          <p:nvPr/>
        </p:nvSpPr>
        <p:spPr>
          <a:xfrm>
            <a:off x="9456871" y="3628486"/>
            <a:ext cx="140525" cy="140525"/>
          </a:xfrm>
          <a:prstGeom prst="ellipse">
            <a:avLst/>
          </a:prstGeom>
          <a:solidFill>
            <a:srgbClr val="071B30"/>
          </a:solidFill>
          <a:ln w="8890">
            <a:solidFill>
              <a:srgbClr val="315779"/>
            </a:solidFill>
            <a:prstDash val="solid"/>
          </a:ln>
        </p:spPr>
        <p:txBody>
          <a:bodyPr/>
          <a:p/>
        </p:txBody>
      </p:sp>
      <p:sp>
        <p:nvSpPr>
          <p:cNvPr id="175" name="Shape 171"/>
          <p:cNvSpPr/>
          <p:nvPr/>
        </p:nvSpPr>
        <p:spPr>
          <a:xfrm>
            <a:off x="9663526" y="3628486"/>
            <a:ext cx="140525" cy="140525"/>
          </a:xfrm>
          <a:prstGeom prst="ellipse">
            <a:avLst/>
          </a:prstGeom>
          <a:solidFill>
            <a:srgbClr val="071B30"/>
          </a:solidFill>
          <a:ln w="8890">
            <a:solidFill>
              <a:srgbClr val="315779"/>
            </a:solidFill>
            <a:prstDash val="solid"/>
          </a:ln>
        </p:spPr>
        <p:txBody>
          <a:bodyPr/>
          <a:p/>
        </p:txBody>
      </p:sp>
      <p:sp>
        <p:nvSpPr>
          <p:cNvPr id="176" name="Shape 172"/>
          <p:cNvSpPr/>
          <p:nvPr/>
        </p:nvSpPr>
        <p:spPr>
          <a:xfrm>
            <a:off x="9870180" y="3628486"/>
            <a:ext cx="140525" cy="140525"/>
          </a:xfrm>
          <a:prstGeom prst="ellipse">
            <a:avLst/>
          </a:prstGeom>
          <a:solidFill>
            <a:srgbClr val="071B30"/>
          </a:solidFill>
          <a:ln w="8890">
            <a:solidFill>
              <a:srgbClr val="315779"/>
            </a:solidFill>
            <a:prstDash val="solid"/>
          </a:ln>
        </p:spPr>
        <p:txBody>
          <a:bodyPr/>
          <a:p/>
        </p:txBody>
      </p:sp>
      <p:sp>
        <p:nvSpPr>
          <p:cNvPr id="177" name="Shape 173"/>
          <p:cNvSpPr/>
          <p:nvPr/>
        </p:nvSpPr>
        <p:spPr>
          <a:xfrm>
            <a:off x="10076834" y="3628486"/>
            <a:ext cx="140525" cy="140525"/>
          </a:xfrm>
          <a:prstGeom prst="ellipse">
            <a:avLst/>
          </a:prstGeom>
          <a:solidFill>
            <a:srgbClr val="071B30"/>
          </a:solidFill>
          <a:ln w="8890">
            <a:solidFill>
              <a:srgbClr val="315779"/>
            </a:solidFill>
            <a:prstDash val="solid"/>
          </a:ln>
        </p:spPr>
        <p:txBody>
          <a:bodyPr/>
          <a:p/>
        </p:txBody>
      </p:sp>
      <p:sp>
        <p:nvSpPr>
          <p:cNvPr id="178" name="Shape 174"/>
          <p:cNvSpPr/>
          <p:nvPr/>
        </p:nvSpPr>
        <p:spPr>
          <a:xfrm>
            <a:off x="10283489" y="3628486"/>
            <a:ext cx="140525" cy="140525"/>
          </a:xfrm>
          <a:prstGeom prst="ellipse">
            <a:avLst/>
          </a:prstGeom>
          <a:solidFill>
            <a:srgbClr val="071B30"/>
          </a:solidFill>
          <a:ln w="8890">
            <a:solidFill>
              <a:srgbClr val="315779"/>
            </a:solidFill>
            <a:prstDash val="solid"/>
          </a:ln>
        </p:spPr>
        <p:txBody>
          <a:bodyPr/>
          <a:p/>
        </p:txBody>
      </p:sp>
      <p:sp>
        <p:nvSpPr>
          <p:cNvPr id="179" name="Shape 175"/>
          <p:cNvSpPr/>
          <p:nvPr/>
        </p:nvSpPr>
        <p:spPr>
          <a:xfrm>
            <a:off x="10490143" y="3628486"/>
            <a:ext cx="140525" cy="140525"/>
          </a:xfrm>
          <a:prstGeom prst="ellipse">
            <a:avLst/>
          </a:prstGeom>
          <a:solidFill>
            <a:srgbClr val="071B30"/>
          </a:solidFill>
          <a:ln w="8890">
            <a:solidFill>
              <a:srgbClr val="315779"/>
            </a:solidFill>
            <a:prstDash val="solid"/>
          </a:ln>
        </p:spPr>
        <p:txBody>
          <a:bodyPr/>
          <a:p/>
        </p:txBody>
      </p:sp>
      <p:sp>
        <p:nvSpPr>
          <p:cNvPr id="180" name="Shape 176"/>
          <p:cNvSpPr/>
          <p:nvPr/>
        </p:nvSpPr>
        <p:spPr>
          <a:xfrm>
            <a:off x="10696798" y="3628486"/>
            <a:ext cx="140525" cy="140525"/>
          </a:xfrm>
          <a:prstGeom prst="ellipse">
            <a:avLst/>
          </a:prstGeom>
          <a:solidFill>
            <a:srgbClr val="071B30"/>
          </a:solidFill>
          <a:ln w="8890">
            <a:solidFill>
              <a:srgbClr val="315779"/>
            </a:solidFill>
            <a:prstDash val="solid"/>
          </a:ln>
        </p:spPr>
        <p:txBody>
          <a:bodyPr/>
          <a:p/>
        </p:txBody>
      </p:sp>
      <p:sp>
        <p:nvSpPr>
          <p:cNvPr id="181" name="Shape 177"/>
          <p:cNvSpPr/>
          <p:nvPr/>
        </p:nvSpPr>
        <p:spPr>
          <a:xfrm>
            <a:off x="8630254" y="3835140"/>
            <a:ext cx="140525" cy="140525"/>
          </a:xfrm>
          <a:prstGeom prst="ellipse">
            <a:avLst/>
          </a:prstGeom>
          <a:solidFill>
            <a:srgbClr val="071B30"/>
          </a:solidFill>
          <a:ln w="8890">
            <a:solidFill>
              <a:srgbClr val="315779"/>
            </a:solidFill>
            <a:prstDash val="solid"/>
          </a:ln>
        </p:spPr>
        <p:txBody>
          <a:bodyPr/>
          <a:p/>
        </p:txBody>
      </p:sp>
      <p:sp>
        <p:nvSpPr>
          <p:cNvPr id="182" name="Shape 178"/>
          <p:cNvSpPr/>
          <p:nvPr/>
        </p:nvSpPr>
        <p:spPr>
          <a:xfrm>
            <a:off x="8836908" y="3835140"/>
            <a:ext cx="140525" cy="140525"/>
          </a:xfrm>
          <a:prstGeom prst="ellipse">
            <a:avLst/>
          </a:prstGeom>
          <a:solidFill>
            <a:srgbClr val="071B30"/>
          </a:solidFill>
          <a:ln w="8890">
            <a:solidFill>
              <a:srgbClr val="315779"/>
            </a:solidFill>
            <a:prstDash val="solid"/>
          </a:ln>
        </p:spPr>
        <p:txBody>
          <a:bodyPr/>
          <a:p/>
        </p:txBody>
      </p:sp>
      <p:sp>
        <p:nvSpPr>
          <p:cNvPr id="183" name="Shape 179"/>
          <p:cNvSpPr/>
          <p:nvPr/>
        </p:nvSpPr>
        <p:spPr>
          <a:xfrm>
            <a:off x="9043562" y="3835140"/>
            <a:ext cx="140525" cy="140525"/>
          </a:xfrm>
          <a:prstGeom prst="ellipse">
            <a:avLst/>
          </a:prstGeom>
          <a:solidFill>
            <a:srgbClr val="071B30"/>
          </a:solidFill>
          <a:ln w="8890">
            <a:solidFill>
              <a:srgbClr val="315779"/>
            </a:solidFill>
            <a:prstDash val="solid"/>
          </a:ln>
        </p:spPr>
        <p:txBody>
          <a:bodyPr/>
          <a:p/>
        </p:txBody>
      </p:sp>
      <p:sp>
        <p:nvSpPr>
          <p:cNvPr id="184" name="Shape 180"/>
          <p:cNvSpPr/>
          <p:nvPr/>
        </p:nvSpPr>
        <p:spPr>
          <a:xfrm>
            <a:off x="9250217" y="3835140"/>
            <a:ext cx="140525" cy="140525"/>
          </a:xfrm>
          <a:prstGeom prst="ellipse">
            <a:avLst/>
          </a:prstGeom>
          <a:solidFill>
            <a:srgbClr val="071B30"/>
          </a:solidFill>
          <a:ln w="8890">
            <a:solidFill>
              <a:srgbClr val="315779"/>
            </a:solidFill>
            <a:prstDash val="solid"/>
          </a:ln>
        </p:spPr>
        <p:txBody>
          <a:bodyPr/>
          <a:p/>
        </p:txBody>
      </p:sp>
      <p:sp>
        <p:nvSpPr>
          <p:cNvPr id="185" name="Shape 181"/>
          <p:cNvSpPr/>
          <p:nvPr/>
        </p:nvSpPr>
        <p:spPr>
          <a:xfrm>
            <a:off x="9456871" y="3835140"/>
            <a:ext cx="140525" cy="140525"/>
          </a:xfrm>
          <a:prstGeom prst="ellipse">
            <a:avLst/>
          </a:prstGeom>
          <a:solidFill>
            <a:srgbClr val="071B30"/>
          </a:solidFill>
          <a:ln w="8890">
            <a:solidFill>
              <a:srgbClr val="315779"/>
            </a:solidFill>
            <a:prstDash val="solid"/>
          </a:ln>
        </p:spPr>
        <p:txBody>
          <a:bodyPr/>
          <a:p/>
        </p:txBody>
      </p:sp>
      <p:sp>
        <p:nvSpPr>
          <p:cNvPr id="186" name="Shape 182"/>
          <p:cNvSpPr/>
          <p:nvPr/>
        </p:nvSpPr>
        <p:spPr>
          <a:xfrm>
            <a:off x="9663526" y="3835140"/>
            <a:ext cx="140525" cy="140525"/>
          </a:xfrm>
          <a:prstGeom prst="ellipse">
            <a:avLst/>
          </a:prstGeom>
          <a:solidFill>
            <a:srgbClr val="071B30"/>
          </a:solidFill>
          <a:ln w="8890">
            <a:solidFill>
              <a:srgbClr val="315779"/>
            </a:solidFill>
            <a:prstDash val="solid"/>
          </a:ln>
        </p:spPr>
        <p:txBody>
          <a:bodyPr/>
          <a:p/>
        </p:txBody>
      </p:sp>
      <p:sp>
        <p:nvSpPr>
          <p:cNvPr id="187" name="Shape 183"/>
          <p:cNvSpPr/>
          <p:nvPr/>
        </p:nvSpPr>
        <p:spPr>
          <a:xfrm>
            <a:off x="9870180" y="3835140"/>
            <a:ext cx="140525" cy="140525"/>
          </a:xfrm>
          <a:prstGeom prst="ellipse">
            <a:avLst/>
          </a:prstGeom>
          <a:solidFill>
            <a:srgbClr val="071B30"/>
          </a:solidFill>
          <a:ln w="8890">
            <a:solidFill>
              <a:srgbClr val="315779"/>
            </a:solidFill>
            <a:prstDash val="solid"/>
          </a:ln>
        </p:spPr>
        <p:txBody>
          <a:bodyPr/>
          <a:p/>
        </p:txBody>
      </p:sp>
      <p:sp>
        <p:nvSpPr>
          <p:cNvPr id="188" name="Shape 184"/>
          <p:cNvSpPr/>
          <p:nvPr/>
        </p:nvSpPr>
        <p:spPr>
          <a:xfrm>
            <a:off x="10076834" y="3835140"/>
            <a:ext cx="140525" cy="140525"/>
          </a:xfrm>
          <a:prstGeom prst="ellipse">
            <a:avLst/>
          </a:prstGeom>
          <a:solidFill>
            <a:srgbClr val="071B30"/>
          </a:solidFill>
          <a:ln w="8890">
            <a:solidFill>
              <a:srgbClr val="315779"/>
            </a:solidFill>
            <a:prstDash val="solid"/>
          </a:ln>
        </p:spPr>
        <p:txBody>
          <a:bodyPr/>
          <a:p/>
        </p:txBody>
      </p:sp>
      <p:sp>
        <p:nvSpPr>
          <p:cNvPr id="189" name="Shape 185"/>
          <p:cNvSpPr/>
          <p:nvPr/>
        </p:nvSpPr>
        <p:spPr>
          <a:xfrm>
            <a:off x="10283489" y="3835140"/>
            <a:ext cx="140525" cy="140525"/>
          </a:xfrm>
          <a:prstGeom prst="ellipse">
            <a:avLst/>
          </a:prstGeom>
          <a:solidFill>
            <a:srgbClr val="071B30"/>
          </a:solidFill>
          <a:ln w="8890">
            <a:solidFill>
              <a:srgbClr val="315779"/>
            </a:solidFill>
            <a:prstDash val="solid"/>
          </a:ln>
        </p:spPr>
        <p:txBody>
          <a:bodyPr/>
          <a:p/>
        </p:txBody>
      </p:sp>
      <p:sp>
        <p:nvSpPr>
          <p:cNvPr id="190" name="Shape 186"/>
          <p:cNvSpPr/>
          <p:nvPr/>
        </p:nvSpPr>
        <p:spPr>
          <a:xfrm>
            <a:off x="10490143" y="3835140"/>
            <a:ext cx="140525" cy="140525"/>
          </a:xfrm>
          <a:prstGeom prst="ellipse">
            <a:avLst/>
          </a:prstGeom>
          <a:solidFill>
            <a:srgbClr val="071B30"/>
          </a:solidFill>
          <a:ln w="8890">
            <a:solidFill>
              <a:srgbClr val="315779"/>
            </a:solidFill>
            <a:prstDash val="solid"/>
          </a:ln>
        </p:spPr>
        <p:txBody>
          <a:bodyPr/>
          <a:p/>
        </p:txBody>
      </p:sp>
      <p:sp>
        <p:nvSpPr>
          <p:cNvPr id="191" name="Shape 187"/>
          <p:cNvSpPr/>
          <p:nvPr/>
        </p:nvSpPr>
        <p:spPr>
          <a:xfrm>
            <a:off x="10696798" y="3835140"/>
            <a:ext cx="140525" cy="140525"/>
          </a:xfrm>
          <a:prstGeom prst="ellipse">
            <a:avLst/>
          </a:prstGeom>
          <a:solidFill>
            <a:srgbClr val="071B30"/>
          </a:solidFill>
          <a:ln w="8890">
            <a:solidFill>
              <a:srgbClr val="315779"/>
            </a:solidFill>
            <a:prstDash val="solid"/>
          </a:ln>
        </p:spPr>
        <p:txBody>
          <a:bodyPr/>
          <a:p/>
        </p:txBody>
      </p:sp>
      <p:sp>
        <p:nvSpPr>
          <p:cNvPr id="192" name="Shape 188"/>
          <p:cNvSpPr/>
          <p:nvPr/>
        </p:nvSpPr>
        <p:spPr>
          <a:xfrm>
            <a:off x="8630254" y="4041794"/>
            <a:ext cx="140525" cy="140525"/>
          </a:xfrm>
          <a:prstGeom prst="ellipse">
            <a:avLst/>
          </a:prstGeom>
          <a:solidFill>
            <a:srgbClr val="071B30"/>
          </a:solidFill>
          <a:ln w="8890">
            <a:solidFill>
              <a:srgbClr val="315779"/>
            </a:solidFill>
            <a:prstDash val="solid"/>
          </a:ln>
        </p:spPr>
        <p:txBody>
          <a:bodyPr/>
          <a:p/>
        </p:txBody>
      </p:sp>
      <p:sp>
        <p:nvSpPr>
          <p:cNvPr id="193" name="Shape 189"/>
          <p:cNvSpPr/>
          <p:nvPr/>
        </p:nvSpPr>
        <p:spPr>
          <a:xfrm>
            <a:off x="8836908" y="4041794"/>
            <a:ext cx="140525" cy="140525"/>
          </a:xfrm>
          <a:prstGeom prst="ellipse">
            <a:avLst/>
          </a:prstGeom>
          <a:solidFill>
            <a:srgbClr val="071B30"/>
          </a:solidFill>
          <a:ln w="8890">
            <a:solidFill>
              <a:srgbClr val="315779"/>
            </a:solidFill>
            <a:prstDash val="solid"/>
          </a:ln>
        </p:spPr>
        <p:txBody>
          <a:bodyPr/>
          <a:p/>
        </p:txBody>
      </p:sp>
      <p:sp>
        <p:nvSpPr>
          <p:cNvPr id="194" name="Shape 190"/>
          <p:cNvSpPr/>
          <p:nvPr/>
        </p:nvSpPr>
        <p:spPr>
          <a:xfrm>
            <a:off x="9043562" y="4041794"/>
            <a:ext cx="140525" cy="140525"/>
          </a:xfrm>
          <a:prstGeom prst="ellipse">
            <a:avLst/>
          </a:prstGeom>
          <a:solidFill>
            <a:srgbClr val="071B30"/>
          </a:solidFill>
          <a:ln w="8890">
            <a:solidFill>
              <a:srgbClr val="315779"/>
            </a:solidFill>
            <a:prstDash val="solid"/>
          </a:ln>
        </p:spPr>
        <p:txBody>
          <a:bodyPr/>
          <a:p/>
        </p:txBody>
      </p:sp>
      <p:sp>
        <p:nvSpPr>
          <p:cNvPr id="195" name="Shape 191"/>
          <p:cNvSpPr/>
          <p:nvPr/>
        </p:nvSpPr>
        <p:spPr>
          <a:xfrm>
            <a:off x="9250217" y="4041794"/>
            <a:ext cx="140525" cy="140525"/>
          </a:xfrm>
          <a:prstGeom prst="ellipse">
            <a:avLst/>
          </a:prstGeom>
          <a:solidFill>
            <a:srgbClr val="071B30"/>
          </a:solidFill>
          <a:ln w="8890">
            <a:solidFill>
              <a:srgbClr val="315779"/>
            </a:solidFill>
            <a:prstDash val="solid"/>
          </a:ln>
        </p:spPr>
        <p:txBody>
          <a:bodyPr/>
          <a:p/>
        </p:txBody>
      </p:sp>
      <p:sp>
        <p:nvSpPr>
          <p:cNvPr id="196" name="Shape 192"/>
          <p:cNvSpPr/>
          <p:nvPr/>
        </p:nvSpPr>
        <p:spPr>
          <a:xfrm>
            <a:off x="9456871" y="4041794"/>
            <a:ext cx="140525" cy="140525"/>
          </a:xfrm>
          <a:prstGeom prst="ellipse">
            <a:avLst/>
          </a:prstGeom>
          <a:solidFill>
            <a:srgbClr val="071B30"/>
          </a:solidFill>
          <a:ln w="8890">
            <a:solidFill>
              <a:srgbClr val="315779"/>
            </a:solidFill>
            <a:prstDash val="solid"/>
          </a:ln>
        </p:spPr>
        <p:txBody>
          <a:bodyPr/>
          <a:p/>
        </p:txBody>
      </p:sp>
      <p:sp>
        <p:nvSpPr>
          <p:cNvPr id="197" name="Shape 193"/>
          <p:cNvSpPr/>
          <p:nvPr/>
        </p:nvSpPr>
        <p:spPr>
          <a:xfrm>
            <a:off x="9663526" y="4041794"/>
            <a:ext cx="140525" cy="140525"/>
          </a:xfrm>
          <a:prstGeom prst="ellipse">
            <a:avLst/>
          </a:prstGeom>
          <a:solidFill>
            <a:srgbClr val="071B30"/>
          </a:solidFill>
          <a:ln w="8890">
            <a:solidFill>
              <a:srgbClr val="315779"/>
            </a:solidFill>
            <a:prstDash val="solid"/>
          </a:ln>
        </p:spPr>
        <p:txBody>
          <a:bodyPr/>
          <a:p/>
        </p:txBody>
      </p:sp>
      <p:sp>
        <p:nvSpPr>
          <p:cNvPr id="198" name="Shape 194"/>
          <p:cNvSpPr/>
          <p:nvPr/>
        </p:nvSpPr>
        <p:spPr>
          <a:xfrm>
            <a:off x="9870180" y="4041794"/>
            <a:ext cx="140525" cy="140525"/>
          </a:xfrm>
          <a:prstGeom prst="ellipse">
            <a:avLst/>
          </a:prstGeom>
          <a:solidFill>
            <a:srgbClr val="071B30"/>
          </a:solidFill>
          <a:ln w="8890">
            <a:solidFill>
              <a:srgbClr val="315779"/>
            </a:solidFill>
            <a:prstDash val="solid"/>
          </a:ln>
        </p:spPr>
        <p:txBody>
          <a:bodyPr/>
          <a:p/>
        </p:txBody>
      </p:sp>
      <p:sp>
        <p:nvSpPr>
          <p:cNvPr id="199" name="Shape 195"/>
          <p:cNvSpPr/>
          <p:nvPr/>
        </p:nvSpPr>
        <p:spPr>
          <a:xfrm>
            <a:off x="10076834" y="4041794"/>
            <a:ext cx="140525" cy="140525"/>
          </a:xfrm>
          <a:prstGeom prst="ellipse">
            <a:avLst/>
          </a:prstGeom>
          <a:solidFill>
            <a:srgbClr val="071B30"/>
          </a:solidFill>
          <a:ln w="8890">
            <a:solidFill>
              <a:srgbClr val="315779"/>
            </a:solidFill>
            <a:prstDash val="solid"/>
          </a:ln>
        </p:spPr>
        <p:txBody>
          <a:bodyPr/>
          <a:p/>
        </p:txBody>
      </p:sp>
      <p:sp>
        <p:nvSpPr>
          <p:cNvPr id="200" name="Shape 196"/>
          <p:cNvSpPr/>
          <p:nvPr/>
        </p:nvSpPr>
        <p:spPr>
          <a:xfrm>
            <a:off x="10283489" y="4041794"/>
            <a:ext cx="140525" cy="140525"/>
          </a:xfrm>
          <a:prstGeom prst="ellipse">
            <a:avLst/>
          </a:prstGeom>
          <a:solidFill>
            <a:srgbClr val="071B30"/>
          </a:solidFill>
          <a:ln w="8890">
            <a:solidFill>
              <a:srgbClr val="315779"/>
            </a:solidFill>
            <a:prstDash val="solid"/>
          </a:ln>
        </p:spPr>
        <p:txBody>
          <a:bodyPr/>
          <a:p/>
        </p:txBody>
      </p:sp>
      <p:sp>
        <p:nvSpPr>
          <p:cNvPr id="201" name="Shape 197"/>
          <p:cNvSpPr/>
          <p:nvPr/>
        </p:nvSpPr>
        <p:spPr>
          <a:xfrm>
            <a:off x="10490143" y="4041794"/>
            <a:ext cx="140525" cy="140525"/>
          </a:xfrm>
          <a:prstGeom prst="ellipse">
            <a:avLst/>
          </a:prstGeom>
          <a:solidFill>
            <a:srgbClr val="071B30"/>
          </a:solidFill>
          <a:ln w="8890">
            <a:solidFill>
              <a:srgbClr val="315779"/>
            </a:solidFill>
            <a:prstDash val="solid"/>
          </a:ln>
        </p:spPr>
        <p:txBody>
          <a:bodyPr/>
          <a:p/>
        </p:txBody>
      </p:sp>
      <p:sp>
        <p:nvSpPr>
          <p:cNvPr id="202" name="Shape 198"/>
          <p:cNvSpPr/>
          <p:nvPr/>
        </p:nvSpPr>
        <p:spPr>
          <a:xfrm>
            <a:off x="10696798" y="4041794"/>
            <a:ext cx="140525" cy="140525"/>
          </a:xfrm>
          <a:prstGeom prst="ellipse">
            <a:avLst/>
          </a:prstGeom>
          <a:solidFill>
            <a:srgbClr val="071B30"/>
          </a:solidFill>
          <a:ln w="8890">
            <a:solidFill>
              <a:srgbClr val="315779"/>
            </a:solidFill>
            <a:prstDash val="solid"/>
          </a:ln>
        </p:spPr>
        <p:txBody>
          <a:bodyPr/>
          <a:p/>
        </p:txBody>
      </p:sp>
      <p:sp>
        <p:nvSpPr>
          <p:cNvPr id="203" name="Shape 199"/>
          <p:cNvSpPr/>
          <p:nvPr/>
        </p:nvSpPr>
        <p:spPr>
          <a:xfrm>
            <a:off x="8630254" y="4248449"/>
            <a:ext cx="140525" cy="140525"/>
          </a:xfrm>
          <a:prstGeom prst="ellipse">
            <a:avLst/>
          </a:prstGeom>
          <a:solidFill>
            <a:srgbClr val="071B30"/>
          </a:solidFill>
          <a:ln w="8890">
            <a:solidFill>
              <a:srgbClr val="315779"/>
            </a:solidFill>
            <a:prstDash val="solid"/>
          </a:ln>
        </p:spPr>
        <p:txBody>
          <a:bodyPr/>
          <a:p/>
        </p:txBody>
      </p:sp>
      <p:sp>
        <p:nvSpPr>
          <p:cNvPr id="204" name="Shape 200"/>
          <p:cNvSpPr/>
          <p:nvPr/>
        </p:nvSpPr>
        <p:spPr>
          <a:xfrm>
            <a:off x="8836908" y="4248449"/>
            <a:ext cx="140525" cy="140525"/>
          </a:xfrm>
          <a:prstGeom prst="ellipse">
            <a:avLst/>
          </a:prstGeom>
          <a:solidFill>
            <a:srgbClr val="071B30"/>
          </a:solidFill>
          <a:ln w="8890">
            <a:solidFill>
              <a:srgbClr val="315779"/>
            </a:solidFill>
            <a:prstDash val="solid"/>
          </a:ln>
        </p:spPr>
        <p:txBody>
          <a:bodyPr/>
          <a:p/>
        </p:txBody>
      </p:sp>
      <p:sp>
        <p:nvSpPr>
          <p:cNvPr id="205" name="Shape 201"/>
          <p:cNvSpPr/>
          <p:nvPr/>
        </p:nvSpPr>
        <p:spPr>
          <a:xfrm>
            <a:off x="9043562" y="4248449"/>
            <a:ext cx="140525" cy="140525"/>
          </a:xfrm>
          <a:prstGeom prst="ellipse">
            <a:avLst/>
          </a:prstGeom>
          <a:solidFill>
            <a:srgbClr val="071B30"/>
          </a:solidFill>
          <a:ln w="8890">
            <a:solidFill>
              <a:srgbClr val="315779"/>
            </a:solidFill>
            <a:prstDash val="solid"/>
          </a:ln>
        </p:spPr>
        <p:txBody>
          <a:bodyPr/>
          <a:p/>
        </p:txBody>
      </p:sp>
      <p:sp>
        <p:nvSpPr>
          <p:cNvPr id="206" name="Shape 202"/>
          <p:cNvSpPr/>
          <p:nvPr/>
        </p:nvSpPr>
        <p:spPr>
          <a:xfrm>
            <a:off x="9250217" y="4248449"/>
            <a:ext cx="140525" cy="140525"/>
          </a:xfrm>
          <a:prstGeom prst="ellipse">
            <a:avLst/>
          </a:prstGeom>
          <a:solidFill>
            <a:srgbClr val="071B30"/>
          </a:solidFill>
          <a:ln w="8890">
            <a:solidFill>
              <a:srgbClr val="315779"/>
            </a:solidFill>
            <a:prstDash val="solid"/>
          </a:ln>
        </p:spPr>
        <p:txBody>
          <a:bodyPr/>
          <a:p/>
        </p:txBody>
      </p:sp>
      <p:sp>
        <p:nvSpPr>
          <p:cNvPr id="207" name="Shape 203"/>
          <p:cNvSpPr/>
          <p:nvPr/>
        </p:nvSpPr>
        <p:spPr>
          <a:xfrm>
            <a:off x="9456871" y="4248449"/>
            <a:ext cx="140525" cy="140525"/>
          </a:xfrm>
          <a:prstGeom prst="ellipse">
            <a:avLst/>
          </a:prstGeom>
          <a:solidFill>
            <a:srgbClr val="071B30"/>
          </a:solidFill>
          <a:ln w="8890">
            <a:solidFill>
              <a:srgbClr val="315779"/>
            </a:solidFill>
            <a:prstDash val="solid"/>
          </a:ln>
        </p:spPr>
        <p:txBody>
          <a:bodyPr/>
          <a:p/>
        </p:txBody>
      </p:sp>
      <p:sp>
        <p:nvSpPr>
          <p:cNvPr id="208" name="Shape 204"/>
          <p:cNvSpPr/>
          <p:nvPr/>
        </p:nvSpPr>
        <p:spPr>
          <a:xfrm>
            <a:off x="9663526" y="4248449"/>
            <a:ext cx="140525" cy="140525"/>
          </a:xfrm>
          <a:prstGeom prst="ellipse">
            <a:avLst/>
          </a:prstGeom>
          <a:solidFill>
            <a:srgbClr val="071B30"/>
          </a:solidFill>
          <a:ln w="8890">
            <a:solidFill>
              <a:srgbClr val="315779"/>
            </a:solidFill>
            <a:prstDash val="solid"/>
          </a:ln>
        </p:spPr>
        <p:txBody>
          <a:bodyPr/>
          <a:p/>
        </p:txBody>
      </p:sp>
      <p:sp>
        <p:nvSpPr>
          <p:cNvPr id="209" name="Shape 205"/>
          <p:cNvSpPr/>
          <p:nvPr/>
        </p:nvSpPr>
        <p:spPr>
          <a:xfrm>
            <a:off x="9870180" y="4248449"/>
            <a:ext cx="140525" cy="140525"/>
          </a:xfrm>
          <a:prstGeom prst="ellipse">
            <a:avLst/>
          </a:prstGeom>
          <a:solidFill>
            <a:srgbClr val="071B30"/>
          </a:solidFill>
          <a:ln w="8890">
            <a:solidFill>
              <a:srgbClr val="315779"/>
            </a:solidFill>
            <a:prstDash val="solid"/>
          </a:ln>
        </p:spPr>
        <p:txBody>
          <a:bodyPr/>
          <a:p/>
        </p:txBody>
      </p:sp>
      <p:sp>
        <p:nvSpPr>
          <p:cNvPr id="210" name="Shape 206"/>
          <p:cNvSpPr/>
          <p:nvPr/>
        </p:nvSpPr>
        <p:spPr>
          <a:xfrm>
            <a:off x="10076834" y="4248449"/>
            <a:ext cx="140525" cy="140525"/>
          </a:xfrm>
          <a:prstGeom prst="ellipse">
            <a:avLst/>
          </a:prstGeom>
          <a:solidFill>
            <a:srgbClr val="071B30"/>
          </a:solidFill>
          <a:ln w="8890">
            <a:solidFill>
              <a:srgbClr val="315779"/>
            </a:solidFill>
            <a:prstDash val="solid"/>
          </a:ln>
        </p:spPr>
        <p:txBody>
          <a:bodyPr/>
          <a:p/>
        </p:txBody>
      </p:sp>
      <p:sp>
        <p:nvSpPr>
          <p:cNvPr id="211" name="Shape 207"/>
          <p:cNvSpPr/>
          <p:nvPr/>
        </p:nvSpPr>
        <p:spPr>
          <a:xfrm>
            <a:off x="10283489" y="4248449"/>
            <a:ext cx="140525" cy="140525"/>
          </a:xfrm>
          <a:prstGeom prst="ellipse">
            <a:avLst/>
          </a:prstGeom>
          <a:solidFill>
            <a:srgbClr val="071B30"/>
          </a:solidFill>
          <a:ln w="8890">
            <a:solidFill>
              <a:srgbClr val="315779"/>
            </a:solidFill>
            <a:prstDash val="solid"/>
          </a:ln>
        </p:spPr>
        <p:txBody>
          <a:bodyPr/>
          <a:p/>
        </p:txBody>
      </p:sp>
      <p:sp>
        <p:nvSpPr>
          <p:cNvPr id="212" name="Shape 208"/>
          <p:cNvSpPr/>
          <p:nvPr/>
        </p:nvSpPr>
        <p:spPr>
          <a:xfrm>
            <a:off x="10490143" y="4248449"/>
            <a:ext cx="140525" cy="140525"/>
          </a:xfrm>
          <a:prstGeom prst="ellipse">
            <a:avLst/>
          </a:prstGeom>
          <a:solidFill>
            <a:srgbClr val="071B30"/>
          </a:solidFill>
          <a:ln w="8890">
            <a:solidFill>
              <a:srgbClr val="315779"/>
            </a:solidFill>
            <a:prstDash val="solid"/>
          </a:ln>
        </p:spPr>
        <p:txBody>
          <a:bodyPr/>
          <a:p/>
        </p:txBody>
      </p:sp>
      <p:sp>
        <p:nvSpPr>
          <p:cNvPr id="213" name="Shape 209"/>
          <p:cNvSpPr/>
          <p:nvPr/>
        </p:nvSpPr>
        <p:spPr>
          <a:xfrm>
            <a:off x="10696798" y="4248449"/>
            <a:ext cx="140525" cy="140525"/>
          </a:xfrm>
          <a:prstGeom prst="ellipse">
            <a:avLst/>
          </a:prstGeom>
          <a:solidFill>
            <a:srgbClr val="071B30"/>
          </a:solidFill>
          <a:ln w="8890">
            <a:solidFill>
              <a:srgbClr val="315779"/>
            </a:solidFill>
            <a:prstDash val="solid"/>
          </a:ln>
        </p:spPr>
        <p:txBody>
          <a:bodyPr/>
          <a:p/>
        </p:txBody>
      </p:sp>
      <p:sp>
        <p:nvSpPr>
          <p:cNvPr id="214" name="Shape 210"/>
          <p:cNvSpPr/>
          <p:nvPr/>
        </p:nvSpPr>
        <p:spPr>
          <a:xfrm>
            <a:off x="8630254" y="4455103"/>
            <a:ext cx="140525" cy="140525"/>
          </a:xfrm>
          <a:prstGeom prst="ellipse">
            <a:avLst/>
          </a:prstGeom>
          <a:solidFill>
            <a:srgbClr val="071B30"/>
          </a:solidFill>
          <a:ln w="8890">
            <a:solidFill>
              <a:srgbClr val="315779"/>
            </a:solidFill>
            <a:prstDash val="solid"/>
          </a:ln>
        </p:spPr>
        <p:txBody>
          <a:bodyPr/>
          <a:p/>
        </p:txBody>
      </p:sp>
      <p:sp>
        <p:nvSpPr>
          <p:cNvPr id="215" name="Shape 211"/>
          <p:cNvSpPr/>
          <p:nvPr/>
        </p:nvSpPr>
        <p:spPr>
          <a:xfrm>
            <a:off x="8836908" y="4455103"/>
            <a:ext cx="140525" cy="140525"/>
          </a:xfrm>
          <a:prstGeom prst="ellipse">
            <a:avLst/>
          </a:prstGeom>
          <a:solidFill>
            <a:srgbClr val="071B30"/>
          </a:solidFill>
          <a:ln w="8890">
            <a:solidFill>
              <a:srgbClr val="315779"/>
            </a:solidFill>
            <a:prstDash val="solid"/>
          </a:ln>
        </p:spPr>
        <p:txBody>
          <a:bodyPr/>
          <a:p/>
        </p:txBody>
      </p:sp>
      <p:sp>
        <p:nvSpPr>
          <p:cNvPr id="216" name="Shape 212"/>
          <p:cNvSpPr/>
          <p:nvPr/>
        </p:nvSpPr>
        <p:spPr>
          <a:xfrm>
            <a:off x="9043562" y="4455103"/>
            <a:ext cx="140525" cy="140525"/>
          </a:xfrm>
          <a:prstGeom prst="ellipse">
            <a:avLst/>
          </a:prstGeom>
          <a:solidFill>
            <a:srgbClr val="071B30"/>
          </a:solidFill>
          <a:ln w="8890">
            <a:solidFill>
              <a:srgbClr val="315779"/>
            </a:solidFill>
            <a:prstDash val="solid"/>
          </a:ln>
        </p:spPr>
        <p:txBody>
          <a:bodyPr/>
          <a:p/>
        </p:txBody>
      </p:sp>
      <p:sp>
        <p:nvSpPr>
          <p:cNvPr id="217" name="Shape 213"/>
          <p:cNvSpPr/>
          <p:nvPr/>
        </p:nvSpPr>
        <p:spPr>
          <a:xfrm>
            <a:off x="9250217" y="4455103"/>
            <a:ext cx="140525" cy="140525"/>
          </a:xfrm>
          <a:prstGeom prst="ellipse">
            <a:avLst/>
          </a:prstGeom>
          <a:solidFill>
            <a:srgbClr val="071B30"/>
          </a:solidFill>
          <a:ln w="8890">
            <a:solidFill>
              <a:srgbClr val="315779"/>
            </a:solidFill>
            <a:prstDash val="solid"/>
          </a:ln>
        </p:spPr>
        <p:txBody>
          <a:bodyPr/>
          <a:p/>
        </p:txBody>
      </p:sp>
      <p:sp>
        <p:nvSpPr>
          <p:cNvPr id="218" name="Shape 214"/>
          <p:cNvSpPr/>
          <p:nvPr/>
        </p:nvSpPr>
        <p:spPr>
          <a:xfrm>
            <a:off x="9456871" y="4455103"/>
            <a:ext cx="140525" cy="140525"/>
          </a:xfrm>
          <a:prstGeom prst="ellipse">
            <a:avLst/>
          </a:prstGeom>
          <a:solidFill>
            <a:srgbClr val="071B30"/>
          </a:solidFill>
          <a:ln w="8890">
            <a:solidFill>
              <a:srgbClr val="315779"/>
            </a:solidFill>
            <a:prstDash val="solid"/>
          </a:ln>
        </p:spPr>
        <p:txBody>
          <a:bodyPr/>
          <a:p/>
        </p:txBody>
      </p:sp>
      <p:sp>
        <p:nvSpPr>
          <p:cNvPr id="219" name="Shape 215"/>
          <p:cNvSpPr/>
          <p:nvPr/>
        </p:nvSpPr>
        <p:spPr>
          <a:xfrm>
            <a:off x="9663526" y="4455103"/>
            <a:ext cx="140525" cy="140525"/>
          </a:xfrm>
          <a:prstGeom prst="ellipse">
            <a:avLst/>
          </a:prstGeom>
          <a:solidFill>
            <a:srgbClr val="071B30"/>
          </a:solidFill>
          <a:ln w="8890">
            <a:solidFill>
              <a:srgbClr val="315779"/>
            </a:solidFill>
            <a:prstDash val="solid"/>
          </a:ln>
        </p:spPr>
        <p:txBody>
          <a:bodyPr/>
          <a:p/>
        </p:txBody>
      </p:sp>
      <p:sp>
        <p:nvSpPr>
          <p:cNvPr id="220" name="Shape 216"/>
          <p:cNvSpPr/>
          <p:nvPr/>
        </p:nvSpPr>
        <p:spPr>
          <a:xfrm>
            <a:off x="9870180" y="4455103"/>
            <a:ext cx="140525" cy="140525"/>
          </a:xfrm>
          <a:prstGeom prst="ellipse">
            <a:avLst/>
          </a:prstGeom>
          <a:solidFill>
            <a:srgbClr val="071B30"/>
          </a:solidFill>
          <a:ln w="8890">
            <a:solidFill>
              <a:srgbClr val="315779"/>
            </a:solidFill>
            <a:prstDash val="solid"/>
          </a:ln>
        </p:spPr>
        <p:txBody>
          <a:bodyPr/>
          <a:p/>
        </p:txBody>
      </p:sp>
      <p:sp>
        <p:nvSpPr>
          <p:cNvPr id="221" name="Shape 217"/>
          <p:cNvSpPr/>
          <p:nvPr/>
        </p:nvSpPr>
        <p:spPr>
          <a:xfrm>
            <a:off x="10076834" y="4455103"/>
            <a:ext cx="140525" cy="140525"/>
          </a:xfrm>
          <a:prstGeom prst="ellipse">
            <a:avLst/>
          </a:prstGeom>
          <a:solidFill>
            <a:srgbClr val="071B30"/>
          </a:solidFill>
          <a:ln w="8890">
            <a:solidFill>
              <a:srgbClr val="315779"/>
            </a:solidFill>
            <a:prstDash val="solid"/>
          </a:ln>
        </p:spPr>
        <p:txBody>
          <a:bodyPr/>
          <a:p/>
        </p:txBody>
      </p:sp>
      <p:sp>
        <p:nvSpPr>
          <p:cNvPr id="222" name="Shape 218"/>
          <p:cNvSpPr/>
          <p:nvPr/>
        </p:nvSpPr>
        <p:spPr>
          <a:xfrm>
            <a:off x="10283489" y="4455103"/>
            <a:ext cx="140525" cy="140525"/>
          </a:xfrm>
          <a:prstGeom prst="ellipse">
            <a:avLst/>
          </a:prstGeom>
          <a:solidFill>
            <a:srgbClr val="071B30"/>
          </a:solidFill>
          <a:ln w="8890">
            <a:solidFill>
              <a:srgbClr val="315779"/>
            </a:solidFill>
            <a:prstDash val="solid"/>
          </a:ln>
        </p:spPr>
        <p:txBody>
          <a:bodyPr/>
          <a:p/>
        </p:txBody>
      </p:sp>
      <p:sp>
        <p:nvSpPr>
          <p:cNvPr id="223" name="Shape 219"/>
          <p:cNvSpPr/>
          <p:nvPr/>
        </p:nvSpPr>
        <p:spPr>
          <a:xfrm>
            <a:off x="10490143" y="4455103"/>
            <a:ext cx="140525" cy="140525"/>
          </a:xfrm>
          <a:prstGeom prst="ellipse">
            <a:avLst/>
          </a:prstGeom>
          <a:solidFill>
            <a:srgbClr val="071B30"/>
          </a:solidFill>
          <a:ln w="8890">
            <a:solidFill>
              <a:srgbClr val="315779"/>
            </a:solidFill>
            <a:prstDash val="solid"/>
          </a:ln>
        </p:spPr>
        <p:txBody>
          <a:bodyPr/>
          <a:p/>
        </p:txBody>
      </p:sp>
      <p:sp>
        <p:nvSpPr>
          <p:cNvPr id="224" name="Shape 220"/>
          <p:cNvSpPr/>
          <p:nvPr/>
        </p:nvSpPr>
        <p:spPr>
          <a:xfrm>
            <a:off x="10696798" y="4455103"/>
            <a:ext cx="140525" cy="140525"/>
          </a:xfrm>
          <a:prstGeom prst="ellipse">
            <a:avLst/>
          </a:prstGeom>
          <a:solidFill>
            <a:srgbClr val="071B30"/>
          </a:solidFill>
          <a:ln w="8890">
            <a:solidFill>
              <a:srgbClr val="315779"/>
            </a:solidFill>
            <a:prstDash val="solid"/>
          </a:ln>
        </p:spPr>
        <p:txBody>
          <a:bodyPr/>
          <a:p/>
        </p:txBody>
      </p:sp>
      <p:sp>
        <p:nvSpPr>
          <p:cNvPr id="225" name="Shape 221"/>
          <p:cNvSpPr/>
          <p:nvPr/>
        </p:nvSpPr>
        <p:spPr>
          <a:xfrm>
            <a:off x="8630254" y="4661758"/>
            <a:ext cx="140525" cy="140525"/>
          </a:xfrm>
          <a:prstGeom prst="ellipse">
            <a:avLst/>
          </a:prstGeom>
          <a:solidFill>
            <a:srgbClr val="071B30"/>
          </a:solidFill>
          <a:ln w="8890">
            <a:solidFill>
              <a:srgbClr val="315779"/>
            </a:solidFill>
            <a:prstDash val="solid"/>
          </a:ln>
        </p:spPr>
        <p:txBody>
          <a:bodyPr/>
          <a:p/>
        </p:txBody>
      </p:sp>
      <p:sp>
        <p:nvSpPr>
          <p:cNvPr id="226" name="Shape 222"/>
          <p:cNvSpPr/>
          <p:nvPr/>
        </p:nvSpPr>
        <p:spPr>
          <a:xfrm>
            <a:off x="8836908" y="4661758"/>
            <a:ext cx="140525" cy="140525"/>
          </a:xfrm>
          <a:prstGeom prst="ellipse">
            <a:avLst/>
          </a:prstGeom>
          <a:solidFill>
            <a:srgbClr val="071B30"/>
          </a:solidFill>
          <a:ln w="8890">
            <a:solidFill>
              <a:srgbClr val="315779"/>
            </a:solidFill>
            <a:prstDash val="solid"/>
          </a:ln>
        </p:spPr>
        <p:txBody>
          <a:bodyPr/>
          <a:p/>
        </p:txBody>
      </p:sp>
      <p:sp>
        <p:nvSpPr>
          <p:cNvPr id="227" name="Shape 223"/>
          <p:cNvSpPr/>
          <p:nvPr/>
        </p:nvSpPr>
        <p:spPr>
          <a:xfrm>
            <a:off x="9043562" y="4661758"/>
            <a:ext cx="140525" cy="140525"/>
          </a:xfrm>
          <a:prstGeom prst="ellipse">
            <a:avLst/>
          </a:prstGeom>
          <a:solidFill>
            <a:srgbClr val="071B30"/>
          </a:solidFill>
          <a:ln w="8890">
            <a:solidFill>
              <a:srgbClr val="315779"/>
            </a:solidFill>
            <a:prstDash val="solid"/>
          </a:ln>
        </p:spPr>
        <p:txBody>
          <a:bodyPr/>
          <a:p/>
        </p:txBody>
      </p:sp>
      <p:sp>
        <p:nvSpPr>
          <p:cNvPr id="228" name="Shape 224"/>
          <p:cNvSpPr/>
          <p:nvPr/>
        </p:nvSpPr>
        <p:spPr>
          <a:xfrm>
            <a:off x="9250217" y="4661758"/>
            <a:ext cx="140525" cy="140525"/>
          </a:xfrm>
          <a:prstGeom prst="ellipse">
            <a:avLst/>
          </a:prstGeom>
          <a:solidFill>
            <a:srgbClr val="071B30"/>
          </a:solidFill>
          <a:ln w="8890">
            <a:solidFill>
              <a:srgbClr val="315779"/>
            </a:solidFill>
            <a:prstDash val="solid"/>
          </a:ln>
        </p:spPr>
        <p:txBody>
          <a:bodyPr/>
          <a:p/>
        </p:txBody>
      </p:sp>
      <p:sp>
        <p:nvSpPr>
          <p:cNvPr id="229" name="Shape 225"/>
          <p:cNvSpPr/>
          <p:nvPr/>
        </p:nvSpPr>
        <p:spPr>
          <a:xfrm>
            <a:off x="9456871" y="4661758"/>
            <a:ext cx="140525" cy="140525"/>
          </a:xfrm>
          <a:prstGeom prst="ellipse">
            <a:avLst/>
          </a:prstGeom>
          <a:solidFill>
            <a:srgbClr val="071B30"/>
          </a:solidFill>
          <a:ln w="8890">
            <a:solidFill>
              <a:srgbClr val="315779"/>
            </a:solidFill>
            <a:prstDash val="solid"/>
          </a:ln>
        </p:spPr>
        <p:txBody>
          <a:bodyPr/>
          <a:p/>
        </p:txBody>
      </p:sp>
      <p:sp>
        <p:nvSpPr>
          <p:cNvPr id="230" name="Shape 226"/>
          <p:cNvSpPr/>
          <p:nvPr/>
        </p:nvSpPr>
        <p:spPr>
          <a:xfrm>
            <a:off x="9663526" y="4661758"/>
            <a:ext cx="140525" cy="140525"/>
          </a:xfrm>
          <a:prstGeom prst="ellipse">
            <a:avLst/>
          </a:prstGeom>
          <a:solidFill>
            <a:srgbClr val="071B30"/>
          </a:solidFill>
          <a:ln w="8890">
            <a:solidFill>
              <a:srgbClr val="315779"/>
            </a:solidFill>
            <a:prstDash val="solid"/>
          </a:ln>
        </p:spPr>
        <p:txBody>
          <a:bodyPr/>
          <a:p/>
        </p:txBody>
      </p:sp>
      <p:sp>
        <p:nvSpPr>
          <p:cNvPr id="231" name="Shape 227"/>
          <p:cNvSpPr/>
          <p:nvPr/>
        </p:nvSpPr>
        <p:spPr>
          <a:xfrm>
            <a:off x="9870180" y="4661758"/>
            <a:ext cx="140525" cy="140525"/>
          </a:xfrm>
          <a:prstGeom prst="ellipse">
            <a:avLst/>
          </a:prstGeom>
          <a:solidFill>
            <a:srgbClr val="071B30"/>
          </a:solidFill>
          <a:ln w="8890">
            <a:solidFill>
              <a:srgbClr val="315779"/>
            </a:solidFill>
            <a:prstDash val="solid"/>
          </a:ln>
        </p:spPr>
        <p:txBody>
          <a:bodyPr/>
          <a:p/>
        </p:txBody>
      </p:sp>
      <p:sp>
        <p:nvSpPr>
          <p:cNvPr id="232" name="Shape 228"/>
          <p:cNvSpPr/>
          <p:nvPr/>
        </p:nvSpPr>
        <p:spPr>
          <a:xfrm>
            <a:off x="10076834" y="4661758"/>
            <a:ext cx="140525" cy="140525"/>
          </a:xfrm>
          <a:prstGeom prst="ellipse">
            <a:avLst/>
          </a:prstGeom>
          <a:solidFill>
            <a:srgbClr val="071B30"/>
          </a:solidFill>
          <a:ln w="8890">
            <a:solidFill>
              <a:srgbClr val="315779"/>
            </a:solidFill>
            <a:prstDash val="solid"/>
          </a:ln>
        </p:spPr>
        <p:txBody>
          <a:bodyPr/>
          <a:p/>
        </p:txBody>
      </p:sp>
      <p:sp>
        <p:nvSpPr>
          <p:cNvPr id="233" name="Shape 229"/>
          <p:cNvSpPr/>
          <p:nvPr/>
        </p:nvSpPr>
        <p:spPr>
          <a:xfrm>
            <a:off x="10283489" y="4661758"/>
            <a:ext cx="140525" cy="140525"/>
          </a:xfrm>
          <a:prstGeom prst="ellipse">
            <a:avLst/>
          </a:prstGeom>
          <a:solidFill>
            <a:srgbClr val="071B30"/>
          </a:solidFill>
          <a:ln w="8890">
            <a:solidFill>
              <a:srgbClr val="315779"/>
            </a:solidFill>
            <a:prstDash val="solid"/>
          </a:ln>
        </p:spPr>
        <p:txBody>
          <a:bodyPr/>
          <a:p/>
        </p:txBody>
      </p:sp>
      <p:sp>
        <p:nvSpPr>
          <p:cNvPr id="234" name="Shape 230"/>
          <p:cNvSpPr/>
          <p:nvPr/>
        </p:nvSpPr>
        <p:spPr>
          <a:xfrm>
            <a:off x="10490143" y="4661758"/>
            <a:ext cx="140525" cy="140525"/>
          </a:xfrm>
          <a:prstGeom prst="ellipse">
            <a:avLst/>
          </a:prstGeom>
          <a:solidFill>
            <a:srgbClr val="071B30"/>
          </a:solidFill>
          <a:ln w="8890">
            <a:solidFill>
              <a:srgbClr val="315779"/>
            </a:solidFill>
            <a:prstDash val="solid"/>
          </a:ln>
        </p:spPr>
        <p:txBody>
          <a:bodyPr/>
          <a:p/>
        </p:txBody>
      </p:sp>
      <p:sp>
        <p:nvSpPr>
          <p:cNvPr id="235" name="Shape 231"/>
          <p:cNvSpPr/>
          <p:nvPr/>
        </p:nvSpPr>
        <p:spPr>
          <a:xfrm>
            <a:off x="10696798" y="4661758"/>
            <a:ext cx="140525" cy="140525"/>
          </a:xfrm>
          <a:prstGeom prst="ellipse">
            <a:avLst/>
          </a:prstGeom>
          <a:solidFill>
            <a:srgbClr val="071B30"/>
          </a:solidFill>
          <a:ln w="8890">
            <a:solidFill>
              <a:srgbClr val="315779"/>
            </a:solidFill>
            <a:prstDash val="solid"/>
          </a:ln>
        </p:spPr>
        <p:txBody>
          <a:bodyPr/>
          <a:p/>
        </p:txBody>
      </p:sp>
      <p:sp>
        <p:nvSpPr>
          <p:cNvPr id="236" name="Shape 232"/>
          <p:cNvSpPr/>
          <p:nvPr/>
        </p:nvSpPr>
        <p:spPr>
          <a:xfrm>
            <a:off x="8630254" y="4868412"/>
            <a:ext cx="140525" cy="140525"/>
          </a:xfrm>
          <a:prstGeom prst="ellipse">
            <a:avLst/>
          </a:prstGeom>
          <a:solidFill>
            <a:srgbClr val="071B30"/>
          </a:solidFill>
          <a:ln w="8890">
            <a:solidFill>
              <a:srgbClr val="315779"/>
            </a:solidFill>
            <a:prstDash val="solid"/>
          </a:ln>
        </p:spPr>
        <p:txBody>
          <a:bodyPr/>
          <a:p/>
        </p:txBody>
      </p:sp>
      <p:sp>
        <p:nvSpPr>
          <p:cNvPr id="237" name="Shape 233"/>
          <p:cNvSpPr/>
          <p:nvPr/>
        </p:nvSpPr>
        <p:spPr>
          <a:xfrm>
            <a:off x="8836908" y="4868412"/>
            <a:ext cx="140525" cy="140525"/>
          </a:xfrm>
          <a:prstGeom prst="ellipse">
            <a:avLst/>
          </a:prstGeom>
          <a:solidFill>
            <a:srgbClr val="071B30"/>
          </a:solidFill>
          <a:ln w="8890">
            <a:solidFill>
              <a:srgbClr val="315779"/>
            </a:solidFill>
            <a:prstDash val="solid"/>
          </a:ln>
        </p:spPr>
        <p:txBody>
          <a:bodyPr/>
          <a:p/>
        </p:txBody>
      </p:sp>
      <p:sp>
        <p:nvSpPr>
          <p:cNvPr id="238" name="Shape 234"/>
          <p:cNvSpPr/>
          <p:nvPr/>
        </p:nvSpPr>
        <p:spPr>
          <a:xfrm>
            <a:off x="9043562" y="4868412"/>
            <a:ext cx="140525" cy="140525"/>
          </a:xfrm>
          <a:prstGeom prst="ellipse">
            <a:avLst/>
          </a:prstGeom>
          <a:solidFill>
            <a:srgbClr val="071B30"/>
          </a:solidFill>
          <a:ln w="8890">
            <a:solidFill>
              <a:srgbClr val="315779"/>
            </a:solidFill>
            <a:prstDash val="solid"/>
          </a:ln>
        </p:spPr>
        <p:txBody>
          <a:bodyPr/>
          <a:p/>
        </p:txBody>
      </p:sp>
      <p:sp>
        <p:nvSpPr>
          <p:cNvPr id="239" name="Shape 235"/>
          <p:cNvSpPr/>
          <p:nvPr/>
        </p:nvSpPr>
        <p:spPr>
          <a:xfrm>
            <a:off x="9250217" y="4868412"/>
            <a:ext cx="140525" cy="140525"/>
          </a:xfrm>
          <a:prstGeom prst="ellipse">
            <a:avLst/>
          </a:prstGeom>
          <a:solidFill>
            <a:srgbClr val="071B30"/>
          </a:solidFill>
          <a:ln w="8890">
            <a:solidFill>
              <a:srgbClr val="315779"/>
            </a:solidFill>
            <a:prstDash val="solid"/>
          </a:ln>
        </p:spPr>
        <p:txBody>
          <a:bodyPr/>
          <a:p/>
        </p:txBody>
      </p:sp>
      <p:sp>
        <p:nvSpPr>
          <p:cNvPr id="240" name="Shape 236"/>
          <p:cNvSpPr/>
          <p:nvPr/>
        </p:nvSpPr>
        <p:spPr>
          <a:xfrm>
            <a:off x="9456871" y="4868412"/>
            <a:ext cx="140525" cy="140525"/>
          </a:xfrm>
          <a:prstGeom prst="ellipse">
            <a:avLst/>
          </a:prstGeom>
          <a:solidFill>
            <a:srgbClr val="071B30"/>
          </a:solidFill>
          <a:ln w="8890">
            <a:solidFill>
              <a:srgbClr val="315779"/>
            </a:solidFill>
            <a:prstDash val="solid"/>
          </a:ln>
        </p:spPr>
        <p:txBody>
          <a:bodyPr/>
          <a:p/>
        </p:txBody>
      </p:sp>
      <p:sp>
        <p:nvSpPr>
          <p:cNvPr id="241" name="Shape 237"/>
          <p:cNvSpPr/>
          <p:nvPr/>
        </p:nvSpPr>
        <p:spPr>
          <a:xfrm>
            <a:off x="9663526" y="4868412"/>
            <a:ext cx="140525" cy="140525"/>
          </a:xfrm>
          <a:prstGeom prst="ellipse">
            <a:avLst/>
          </a:prstGeom>
          <a:solidFill>
            <a:srgbClr val="071B30"/>
          </a:solidFill>
          <a:ln w="8890">
            <a:solidFill>
              <a:srgbClr val="315779"/>
            </a:solidFill>
            <a:prstDash val="solid"/>
          </a:ln>
        </p:spPr>
        <p:txBody>
          <a:bodyPr/>
          <a:p/>
        </p:txBody>
      </p:sp>
      <p:sp>
        <p:nvSpPr>
          <p:cNvPr id="242" name="Shape 238"/>
          <p:cNvSpPr/>
          <p:nvPr/>
        </p:nvSpPr>
        <p:spPr>
          <a:xfrm>
            <a:off x="9870180" y="4868412"/>
            <a:ext cx="140525" cy="140525"/>
          </a:xfrm>
          <a:prstGeom prst="ellipse">
            <a:avLst/>
          </a:prstGeom>
          <a:solidFill>
            <a:srgbClr val="071B30"/>
          </a:solidFill>
          <a:ln w="8890">
            <a:solidFill>
              <a:srgbClr val="315779"/>
            </a:solidFill>
            <a:prstDash val="solid"/>
          </a:ln>
        </p:spPr>
        <p:txBody>
          <a:bodyPr/>
          <a:p/>
        </p:txBody>
      </p:sp>
      <p:sp>
        <p:nvSpPr>
          <p:cNvPr id="243" name="Shape 239"/>
          <p:cNvSpPr/>
          <p:nvPr/>
        </p:nvSpPr>
        <p:spPr>
          <a:xfrm>
            <a:off x="10076834" y="4868412"/>
            <a:ext cx="140525" cy="140525"/>
          </a:xfrm>
          <a:prstGeom prst="ellipse">
            <a:avLst/>
          </a:prstGeom>
          <a:solidFill>
            <a:srgbClr val="071B30"/>
          </a:solidFill>
          <a:ln w="8890">
            <a:solidFill>
              <a:srgbClr val="315779"/>
            </a:solidFill>
            <a:prstDash val="solid"/>
          </a:ln>
        </p:spPr>
        <p:txBody>
          <a:bodyPr/>
          <a:p/>
        </p:txBody>
      </p:sp>
      <p:sp>
        <p:nvSpPr>
          <p:cNvPr id="244" name="Shape 240"/>
          <p:cNvSpPr/>
          <p:nvPr/>
        </p:nvSpPr>
        <p:spPr>
          <a:xfrm>
            <a:off x="10283489" y="4868412"/>
            <a:ext cx="140525" cy="140525"/>
          </a:xfrm>
          <a:prstGeom prst="ellipse">
            <a:avLst/>
          </a:prstGeom>
          <a:solidFill>
            <a:srgbClr val="071B30"/>
          </a:solidFill>
          <a:ln w="8890">
            <a:solidFill>
              <a:srgbClr val="315779"/>
            </a:solidFill>
            <a:prstDash val="solid"/>
          </a:ln>
        </p:spPr>
        <p:txBody>
          <a:bodyPr/>
          <a:p/>
        </p:txBody>
      </p:sp>
      <p:sp>
        <p:nvSpPr>
          <p:cNvPr id="245" name="Shape 241"/>
          <p:cNvSpPr/>
          <p:nvPr/>
        </p:nvSpPr>
        <p:spPr>
          <a:xfrm>
            <a:off x="10490143" y="4868412"/>
            <a:ext cx="140525" cy="140525"/>
          </a:xfrm>
          <a:prstGeom prst="ellipse">
            <a:avLst/>
          </a:prstGeom>
          <a:solidFill>
            <a:srgbClr val="071B30"/>
          </a:solidFill>
          <a:ln w="8890">
            <a:solidFill>
              <a:srgbClr val="315779"/>
            </a:solidFill>
            <a:prstDash val="solid"/>
          </a:ln>
        </p:spPr>
        <p:txBody>
          <a:bodyPr/>
          <a:p/>
        </p:txBody>
      </p:sp>
      <p:sp>
        <p:nvSpPr>
          <p:cNvPr id="246" name="Shape 242"/>
          <p:cNvSpPr/>
          <p:nvPr/>
        </p:nvSpPr>
        <p:spPr>
          <a:xfrm>
            <a:off x="10696798" y="4868412"/>
            <a:ext cx="140525" cy="140525"/>
          </a:xfrm>
          <a:prstGeom prst="ellipse">
            <a:avLst/>
          </a:prstGeom>
          <a:solidFill>
            <a:srgbClr val="071B30"/>
          </a:solidFill>
          <a:ln w="8890">
            <a:solidFill>
              <a:srgbClr val="315779"/>
            </a:solidFill>
            <a:prstDash val="solid"/>
          </a:ln>
        </p:spPr>
        <p:txBody>
          <a:bodyPr/>
          <a:p/>
        </p:txBody>
      </p:sp>
      <p:sp>
        <p:nvSpPr>
          <p:cNvPr id="247" name="Shape 243"/>
          <p:cNvSpPr/>
          <p:nvPr/>
        </p:nvSpPr>
        <p:spPr>
          <a:xfrm>
            <a:off x="8630254" y="5075066"/>
            <a:ext cx="140525" cy="140525"/>
          </a:xfrm>
          <a:prstGeom prst="ellipse">
            <a:avLst/>
          </a:prstGeom>
          <a:solidFill>
            <a:srgbClr val="071B30"/>
          </a:solidFill>
          <a:ln w="8890">
            <a:solidFill>
              <a:srgbClr val="315779"/>
            </a:solidFill>
            <a:prstDash val="solid"/>
          </a:ln>
        </p:spPr>
        <p:txBody>
          <a:bodyPr/>
          <a:p/>
        </p:txBody>
      </p:sp>
      <p:sp>
        <p:nvSpPr>
          <p:cNvPr id="248" name="Shape 244"/>
          <p:cNvSpPr/>
          <p:nvPr/>
        </p:nvSpPr>
        <p:spPr>
          <a:xfrm>
            <a:off x="8836908" y="5075066"/>
            <a:ext cx="140525" cy="140525"/>
          </a:xfrm>
          <a:prstGeom prst="ellipse">
            <a:avLst/>
          </a:prstGeom>
          <a:solidFill>
            <a:srgbClr val="071B30"/>
          </a:solidFill>
          <a:ln w="8890">
            <a:solidFill>
              <a:srgbClr val="315779"/>
            </a:solidFill>
            <a:prstDash val="solid"/>
          </a:ln>
        </p:spPr>
        <p:txBody>
          <a:bodyPr/>
          <a:p/>
        </p:txBody>
      </p:sp>
      <p:sp>
        <p:nvSpPr>
          <p:cNvPr id="249" name="Shape 245"/>
          <p:cNvSpPr/>
          <p:nvPr/>
        </p:nvSpPr>
        <p:spPr>
          <a:xfrm>
            <a:off x="9043562" y="5075066"/>
            <a:ext cx="140525" cy="140525"/>
          </a:xfrm>
          <a:prstGeom prst="ellipse">
            <a:avLst/>
          </a:prstGeom>
          <a:solidFill>
            <a:srgbClr val="071B30"/>
          </a:solidFill>
          <a:ln w="8890">
            <a:solidFill>
              <a:srgbClr val="315779"/>
            </a:solidFill>
            <a:prstDash val="solid"/>
          </a:ln>
        </p:spPr>
        <p:txBody>
          <a:bodyPr/>
          <a:p/>
        </p:txBody>
      </p:sp>
      <p:sp>
        <p:nvSpPr>
          <p:cNvPr id="250" name="Shape 246"/>
          <p:cNvSpPr/>
          <p:nvPr/>
        </p:nvSpPr>
        <p:spPr>
          <a:xfrm>
            <a:off x="9250217" y="5075066"/>
            <a:ext cx="140525" cy="140525"/>
          </a:xfrm>
          <a:prstGeom prst="ellipse">
            <a:avLst/>
          </a:prstGeom>
          <a:solidFill>
            <a:srgbClr val="071B30"/>
          </a:solidFill>
          <a:ln w="8890">
            <a:solidFill>
              <a:srgbClr val="315779"/>
            </a:solidFill>
            <a:prstDash val="solid"/>
          </a:ln>
        </p:spPr>
        <p:txBody>
          <a:bodyPr/>
          <a:p/>
        </p:txBody>
      </p:sp>
      <p:sp>
        <p:nvSpPr>
          <p:cNvPr id="251" name="Shape 247"/>
          <p:cNvSpPr/>
          <p:nvPr/>
        </p:nvSpPr>
        <p:spPr>
          <a:xfrm>
            <a:off x="9456871" y="5075066"/>
            <a:ext cx="140525" cy="140525"/>
          </a:xfrm>
          <a:prstGeom prst="ellipse">
            <a:avLst/>
          </a:prstGeom>
          <a:solidFill>
            <a:srgbClr val="071B30"/>
          </a:solidFill>
          <a:ln w="8890">
            <a:solidFill>
              <a:srgbClr val="315779"/>
            </a:solidFill>
            <a:prstDash val="solid"/>
          </a:ln>
        </p:spPr>
        <p:txBody>
          <a:bodyPr/>
          <a:p/>
        </p:txBody>
      </p:sp>
      <p:sp>
        <p:nvSpPr>
          <p:cNvPr id="252" name="Shape 248"/>
          <p:cNvSpPr/>
          <p:nvPr/>
        </p:nvSpPr>
        <p:spPr>
          <a:xfrm>
            <a:off x="9663526" y="5075066"/>
            <a:ext cx="140525" cy="140525"/>
          </a:xfrm>
          <a:prstGeom prst="ellipse">
            <a:avLst/>
          </a:prstGeom>
          <a:solidFill>
            <a:srgbClr val="071B30"/>
          </a:solidFill>
          <a:ln w="8890">
            <a:solidFill>
              <a:srgbClr val="315779"/>
            </a:solidFill>
            <a:prstDash val="solid"/>
          </a:ln>
        </p:spPr>
        <p:txBody>
          <a:bodyPr/>
          <a:p/>
        </p:txBody>
      </p:sp>
      <p:sp>
        <p:nvSpPr>
          <p:cNvPr id="253" name="Shape 249"/>
          <p:cNvSpPr/>
          <p:nvPr/>
        </p:nvSpPr>
        <p:spPr>
          <a:xfrm>
            <a:off x="9870180" y="5075066"/>
            <a:ext cx="140525" cy="140525"/>
          </a:xfrm>
          <a:prstGeom prst="ellipse">
            <a:avLst/>
          </a:prstGeom>
          <a:solidFill>
            <a:srgbClr val="071B30"/>
          </a:solidFill>
          <a:ln w="8890">
            <a:solidFill>
              <a:srgbClr val="315779"/>
            </a:solidFill>
            <a:prstDash val="solid"/>
          </a:ln>
        </p:spPr>
        <p:txBody>
          <a:bodyPr/>
          <a:p/>
        </p:txBody>
      </p:sp>
      <p:sp>
        <p:nvSpPr>
          <p:cNvPr id="254" name="Shape 250"/>
          <p:cNvSpPr/>
          <p:nvPr/>
        </p:nvSpPr>
        <p:spPr>
          <a:xfrm>
            <a:off x="10076834" y="5075066"/>
            <a:ext cx="140525" cy="140525"/>
          </a:xfrm>
          <a:prstGeom prst="ellipse">
            <a:avLst/>
          </a:prstGeom>
          <a:solidFill>
            <a:srgbClr val="071B30"/>
          </a:solidFill>
          <a:ln w="8890">
            <a:solidFill>
              <a:srgbClr val="315779"/>
            </a:solidFill>
            <a:prstDash val="solid"/>
          </a:ln>
        </p:spPr>
        <p:txBody>
          <a:bodyPr/>
          <a:p/>
        </p:txBody>
      </p:sp>
      <p:sp>
        <p:nvSpPr>
          <p:cNvPr id="255" name="Shape 251"/>
          <p:cNvSpPr/>
          <p:nvPr/>
        </p:nvSpPr>
        <p:spPr>
          <a:xfrm>
            <a:off x="10283489" y="5075066"/>
            <a:ext cx="140525" cy="140525"/>
          </a:xfrm>
          <a:prstGeom prst="ellipse">
            <a:avLst/>
          </a:prstGeom>
          <a:solidFill>
            <a:srgbClr val="071B30"/>
          </a:solidFill>
          <a:ln w="8890">
            <a:solidFill>
              <a:srgbClr val="315779"/>
            </a:solidFill>
            <a:prstDash val="solid"/>
          </a:ln>
        </p:spPr>
        <p:txBody>
          <a:bodyPr/>
          <a:p/>
        </p:txBody>
      </p:sp>
      <p:sp>
        <p:nvSpPr>
          <p:cNvPr id="256" name="Shape 252"/>
          <p:cNvSpPr/>
          <p:nvPr/>
        </p:nvSpPr>
        <p:spPr>
          <a:xfrm>
            <a:off x="10490143" y="5075066"/>
            <a:ext cx="140525" cy="140525"/>
          </a:xfrm>
          <a:prstGeom prst="ellipse">
            <a:avLst/>
          </a:prstGeom>
          <a:solidFill>
            <a:srgbClr val="071B30"/>
          </a:solidFill>
          <a:ln w="8890">
            <a:solidFill>
              <a:srgbClr val="315779"/>
            </a:solidFill>
            <a:prstDash val="solid"/>
          </a:ln>
        </p:spPr>
        <p:txBody>
          <a:bodyPr/>
          <a:p/>
        </p:txBody>
      </p:sp>
      <p:sp>
        <p:nvSpPr>
          <p:cNvPr id="257" name="Shape 253"/>
          <p:cNvSpPr/>
          <p:nvPr/>
        </p:nvSpPr>
        <p:spPr>
          <a:xfrm>
            <a:off x="10696798" y="5075066"/>
            <a:ext cx="140525" cy="140525"/>
          </a:xfrm>
          <a:prstGeom prst="ellipse">
            <a:avLst/>
          </a:prstGeom>
          <a:solidFill>
            <a:srgbClr val="071B30"/>
          </a:solidFill>
          <a:ln w="8890">
            <a:solidFill>
              <a:srgbClr val="315779"/>
            </a:solidFill>
            <a:prstDash val="solid"/>
          </a:ln>
        </p:spPr>
        <p:txBody>
          <a:bodyPr/>
          <a:p/>
        </p:txBody>
      </p:sp>
      <p:sp>
        <p:nvSpPr>
          <p:cNvPr id="258" name="Text 254"/>
          <p:cNvSpPr/>
          <p:nvPr/>
        </p:nvSpPr>
        <p:spPr>
          <a:xfrm>
            <a:off x="8284464" y="5550408"/>
            <a:ext cx="2898648" cy="310896"/>
          </a:xfrm>
          <a:prstGeom prst="rect">
            <a:avLst/>
          </a:prstGeom>
          <a:noFill/>
          <a:ln/>
        </p:spPr>
        <p:txBody>
          <a:bodyPr wrap="square" lIns="0" tIns="0" rIns="0" bIns="0" rtlCol="0" anchor="ctr">
            <a:normAutofit/>
          </a:bodyPr>
          <a:lstStyle/>
          <a:p>
            <a:pPr algn="ctr" indent="0" marL="0">
              <a:lnSpc>
                <a:spcPct val="100000"/>
              </a:lnSpc>
              <a:buNone/>
            </a:pPr>
            <a:r>
              <a:rPr lang="en-US" sz="1950" b="1" dirty="0">
                <a:solidFill>
                  <a:srgbClr val="10263D"/>
                </a:solidFill>
                <a:latin typeface="Inter" pitchFamily="34" charset="0"/>
                <a:ea typeface="Inter" pitchFamily="34" charset="-122"/>
                <a:cs typeface="Inter" pitchFamily="34" charset="-120"/>
              </a:rPr>
              <a:t>11 × 10</a:t>
            </a:r>
            <a:endParaRPr lang="en-US" sz="1950" dirty="0"/>
          </a:p>
        </p:txBody>
      </p:sp>
      <p:sp>
        <p:nvSpPr>
          <p:cNvPr id="259" name="Text 255"/>
          <p:cNvSpPr/>
          <p:nvPr/>
        </p:nvSpPr>
        <p:spPr>
          <a:xfrm>
            <a:off x="694944" y="6044184"/>
            <a:ext cx="1042416"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0263D"/>
                </a:solidFill>
                <a:latin typeface="Inter" pitchFamily="34" charset="0"/>
                <a:ea typeface="Inter" pitchFamily="34" charset="-122"/>
                <a:cs typeface="Inter" pitchFamily="34" charset="-120"/>
              </a:rPr>
              <a:t>Gewinnregel</a:t>
            </a:r>
            <a:endParaRPr lang="en-US" sz="1120" dirty="0"/>
          </a:p>
        </p:txBody>
      </p:sp>
      <p:sp>
        <p:nvSpPr>
          <p:cNvPr id="260" name="Shape 256"/>
          <p:cNvSpPr/>
          <p:nvPr/>
        </p:nvSpPr>
        <p:spPr>
          <a:xfrm>
            <a:off x="1746504" y="6007608"/>
            <a:ext cx="2322576" cy="292608"/>
          </a:xfrm>
          <a:prstGeom prst="roundRect">
            <a:avLst>
              <a:gd name="adj" fmla="val 25000"/>
            </a:avLst>
          </a:prstGeom>
          <a:solidFill>
            <a:srgbClr val="EEF4F9"/>
          </a:solidFill>
          <a:ln w="12700">
            <a:solidFill>
              <a:srgbClr val="EEF4F9">
                <a:alpha val="0"/>
              </a:srgbClr>
            </a:solidFill>
            <a:prstDash val="solid"/>
          </a:ln>
        </p:spPr>
        <p:txBody>
          <a:bodyPr/>
          <a:p/>
        </p:txBody>
      </p:sp>
      <p:sp>
        <p:nvSpPr>
          <p:cNvPr id="261" name="Text 257"/>
          <p:cNvSpPr/>
          <p:nvPr/>
        </p:nvSpPr>
        <p:spPr>
          <a:xfrm>
            <a:off x="1883664" y="6080760"/>
            <a:ext cx="2057400" cy="146304"/>
          </a:xfrm>
          <a:prstGeom prst="rect">
            <a:avLst/>
          </a:prstGeom>
          <a:noFill/>
          <a:ln/>
        </p:spPr>
        <p:txBody>
          <a:bodyPr wrap="square" lIns="0" tIns="0" rIns="0" bIns="0" rtlCol="0" anchor="ctr">
            <a:normAutofit/>
          </a:bodyPr>
          <a:lstStyle/>
          <a:p>
            <a:pPr algn="ctr" indent="0" marL="0">
              <a:lnSpc>
                <a:spcPct val="100000"/>
              </a:lnSpc>
              <a:buNone/>
            </a:pPr>
            <a:r>
              <a:rPr lang="en-US" sz="1040" b="1" dirty="0">
                <a:solidFill>
                  <a:srgbClr val="2478F6"/>
                </a:solidFill>
                <a:latin typeface="Inter" pitchFamily="34" charset="0"/>
                <a:ea typeface="Inter" pitchFamily="34" charset="-122"/>
                <a:cs typeface="Inter" pitchFamily="34" charset="-120"/>
              </a:rPr>
              <a:t>4 in einer Reihe</a:t>
            </a:r>
            <a:endParaRPr lang="en-US" sz="1040" dirty="0"/>
          </a:p>
        </p:txBody>
      </p:sp>
      <p:sp>
        <p:nvSpPr>
          <p:cNvPr id="262" name="Text 258"/>
          <p:cNvSpPr/>
          <p:nvPr/>
        </p:nvSpPr>
        <p:spPr>
          <a:xfrm>
            <a:off x="4425696" y="6053328"/>
            <a:ext cx="6940296" cy="21031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Ungültige Eingaben werden abgefangen · Nur ein gültiger Spielzug wechselt den Spieler.</a:t>
            </a:r>
            <a:endParaRPr lang="en-US" sz="10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05  /  ABLAUF</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Vom Startmenü bis zum Ergebnis</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Jeder gültige Zug führt durch eine definierte Folge von Zustandsänderungen und Prüfungen.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05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594360" y="2834640"/>
            <a:ext cx="2601468" cy="2048256"/>
          </a:xfrm>
          <a:prstGeom prst="roundRect">
            <a:avLst>
              <a:gd name="adj" fmla="val 5804"/>
            </a:avLst>
          </a:prstGeom>
          <a:solidFill>
            <a:srgbClr val="FFFFFF"/>
          </a:solidFill>
          <a:ln w="8255">
            <a:solidFill>
              <a:srgbClr val="D8E3EE"/>
            </a:solidFill>
            <a:prstDash val="solid"/>
          </a:ln>
        </p:spPr>
        <p:txBody>
          <a:bodyPr/>
          <a:p/>
        </p:txBody>
      </p:sp>
      <p:sp>
        <p:nvSpPr>
          <p:cNvPr id="27" name="Shape 23"/>
          <p:cNvSpPr/>
          <p:nvPr/>
        </p:nvSpPr>
        <p:spPr>
          <a:xfrm>
            <a:off x="594360" y="2834640"/>
            <a:ext cx="50292" cy="2048256"/>
          </a:xfrm>
          <a:prstGeom prst="rect">
            <a:avLst/>
          </a:prstGeom>
          <a:solidFill>
            <a:srgbClr val="2478F6"/>
          </a:solidFill>
          <a:ln w="12700">
            <a:solidFill>
              <a:srgbClr val="2478F6">
                <a:alpha val="0"/>
              </a:srgbClr>
            </a:solidFill>
            <a:prstDash val="solid"/>
          </a:ln>
        </p:spPr>
        <p:txBody>
          <a:bodyPr/>
          <a:p/>
        </p:txBody>
      </p:sp>
      <p:sp>
        <p:nvSpPr>
          <p:cNvPr id="28" name="Text 24"/>
          <p:cNvSpPr/>
          <p:nvPr/>
        </p:nvSpPr>
        <p:spPr>
          <a:xfrm>
            <a:off x="768096" y="3017520"/>
            <a:ext cx="2272284"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01</a:t>
            </a:r>
            <a:endParaRPr lang="en-US" sz="1100" dirty="0"/>
          </a:p>
        </p:txBody>
      </p:sp>
      <p:sp>
        <p:nvSpPr>
          <p:cNvPr id="29" name="Text 25"/>
          <p:cNvSpPr/>
          <p:nvPr/>
        </p:nvSpPr>
        <p:spPr>
          <a:xfrm>
            <a:off x="758952" y="3364992"/>
            <a:ext cx="2281428"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Konfigurieren</a:t>
            </a:r>
            <a:endParaRPr lang="en-US" sz="1520" dirty="0"/>
          </a:p>
        </p:txBody>
      </p:sp>
      <p:sp>
        <p:nvSpPr>
          <p:cNvPr id="30" name="Text 26"/>
          <p:cNvSpPr/>
          <p:nvPr/>
        </p:nvSpPr>
        <p:spPr>
          <a:xfrm>
            <a:off x="758952" y="3776472"/>
            <a:ext cx="2308860"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Spielerzahl und eindeutige Namen erfassen</a:t>
            </a:r>
            <a:endParaRPr lang="en-US" sz="1140" dirty="0"/>
          </a:p>
        </p:txBody>
      </p:sp>
      <p:sp>
        <p:nvSpPr>
          <p:cNvPr id="31" name="Text 27"/>
          <p:cNvSpPr/>
          <p:nvPr/>
        </p:nvSpPr>
        <p:spPr>
          <a:xfrm>
            <a:off x="3182112" y="3429000"/>
            <a:ext cx="256032" cy="41148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2478F6"/>
                </a:solidFill>
                <a:latin typeface="Inter" pitchFamily="34" charset="0"/>
                <a:ea typeface="Inter" pitchFamily="34" charset="-122"/>
                <a:cs typeface="Inter" pitchFamily="34" charset="-120"/>
              </a:rPr>
              <a:t>›</a:t>
            </a:r>
            <a:endParaRPr lang="en-US" sz="2600" dirty="0"/>
          </a:p>
        </p:txBody>
      </p:sp>
      <p:sp>
        <p:nvSpPr>
          <p:cNvPr id="32" name="Shape 28"/>
          <p:cNvSpPr/>
          <p:nvPr/>
        </p:nvSpPr>
        <p:spPr>
          <a:xfrm>
            <a:off x="3396996" y="2834640"/>
            <a:ext cx="2601468" cy="2048256"/>
          </a:xfrm>
          <a:prstGeom prst="roundRect">
            <a:avLst>
              <a:gd name="adj" fmla="val 5804"/>
            </a:avLst>
          </a:prstGeom>
          <a:solidFill>
            <a:srgbClr val="FFFFFF"/>
          </a:solidFill>
          <a:ln w="8255">
            <a:solidFill>
              <a:srgbClr val="D8E3EE"/>
            </a:solidFill>
            <a:prstDash val="solid"/>
          </a:ln>
        </p:spPr>
        <p:txBody>
          <a:bodyPr/>
          <a:p/>
        </p:txBody>
      </p:sp>
      <p:sp>
        <p:nvSpPr>
          <p:cNvPr id="33" name="Shape 29"/>
          <p:cNvSpPr/>
          <p:nvPr/>
        </p:nvSpPr>
        <p:spPr>
          <a:xfrm>
            <a:off x="3396996" y="2834640"/>
            <a:ext cx="50292" cy="2048256"/>
          </a:xfrm>
          <a:prstGeom prst="rect">
            <a:avLst/>
          </a:prstGeom>
          <a:solidFill>
            <a:srgbClr val="2478F6"/>
          </a:solidFill>
          <a:ln w="12700">
            <a:solidFill>
              <a:srgbClr val="2478F6">
                <a:alpha val="0"/>
              </a:srgbClr>
            </a:solidFill>
            <a:prstDash val="solid"/>
          </a:ln>
        </p:spPr>
        <p:txBody>
          <a:bodyPr/>
          <a:p/>
        </p:txBody>
      </p:sp>
      <p:sp>
        <p:nvSpPr>
          <p:cNvPr id="34" name="Text 30"/>
          <p:cNvSpPr/>
          <p:nvPr/>
        </p:nvSpPr>
        <p:spPr>
          <a:xfrm>
            <a:off x="3570732" y="3017520"/>
            <a:ext cx="2272284"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02</a:t>
            </a:r>
            <a:endParaRPr lang="en-US" sz="1100" dirty="0"/>
          </a:p>
        </p:txBody>
      </p:sp>
      <p:sp>
        <p:nvSpPr>
          <p:cNvPr id="35" name="Text 31"/>
          <p:cNvSpPr/>
          <p:nvPr/>
        </p:nvSpPr>
        <p:spPr>
          <a:xfrm>
            <a:off x="3561588" y="3364992"/>
            <a:ext cx="2281428"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Stein einwerfen</a:t>
            </a:r>
            <a:endParaRPr lang="en-US" sz="1520" dirty="0"/>
          </a:p>
        </p:txBody>
      </p:sp>
      <p:sp>
        <p:nvSpPr>
          <p:cNvPr id="36" name="Text 32"/>
          <p:cNvSpPr/>
          <p:nvPr/>
        </p:nvSpPr>
        <p:spPr>
          <a:xfrm>
            <a:off x="3561588" y="3776472"/>
            <a:ext cx="2308860"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Spalte validieren und freie Zeile bestimmen</a:t>
            </a:r>
            <a:endParaRPr lang="en-US" sz="1140" dirty="0"/>
          </a:p>
        </p:txBody>
      </p:sp>
      <p:sp>
        <p:nvSpPr>
          <p:cNvPr id="37" name="Text 33"/>
          <p:cNvSpPr/>
          <p:nvPr/>
        </p:nvSpPr>
        <p:spPr>
          <a:xfrm>
            <a:off x="5984748" y="3429000"/>
            <a:ext cx="256032" cy="41148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2478F6"/>
                </a:solidFill>
                <a:latin typeface="Inter" pitchFamily="34" charset="0"/>
                <a:ea typeface="Inter" pitchFamily="34" charset="-122"/>
                <a:cs typeface="Inter" pitchFamily="34" charset="-120"/>
              </a:rPr>
              <a:t>›</a:t>
            </a:r>
            <a:endParaRPr lang="en-US" sz="2600" dirty="0"/>
          </a:p>
        </p:txBody>
      </p:sp>
      <p:sp>
        <p:nvSpPr>
          <p:cNvPr id="38" name="Shape 34"/>
          <p:cNvSpPr/>
          <p:nvPr/>
        </p:nvSpPr>
        <p:spPr>
          <a:xfrm>
            <a:off x="6199632" y="2834640"/>
            <a:ext cx="2601468" cy="2048256"/>
          </a:xfrm>
          <a:prstGeom prst="roundRect">
            <a:avLst>
              <a:gd name="adj" fmla="val 5804"/>
            </a:avLst>
          </a:prstGeom>
          <a:solidFill>
            <a:srgbClr val="FFFFFF"/>
          </a:solidFill>
          <a:ln w="8255">
            <a:solidFill>
              <a:srgbClr val="D8E3EE"/>
            </a:solidFill>
            <a:prstDash val="solid"/>
          </a:ln>
        </p:spPr>
        <p:txBody>
          <a:bodyPr/>
          <a:p/>
        </p:txBody>
      </p:sp>
      <p:sp>
        <p:nvSpPr>
          <p:cNvPr id="39" name="Shape 35"/>
          <p:cNvSpPr/>
          <p:nvPr/>
        </p:nvSpPr>
        <p:spPr>
          <a:xfrm>
            <a:off x="6199632" y="2834640"/>
            <a:ext cx="50292" cy="2048256"/>
          </a:xfrm>
          <a:prstGeom prst="rect">
            <a:avLst/>
          </a:prstGeom>
          <a:solidFill>
            <a:srgbClr val="2478F6"/>
          </a:solidFill>
          <a:ln w="12700">
            <a:solidFill>
              <a:srgbClr val="2478F6">
                <a:alpha val="0"/>
              </a:srgbClr>
            </a:solidFill>
            <a:prstDash val="solid"/>
          </a:ln>
        </p:spPr>
        <p:txBody>
          <a:bodyPr/>
          <a:p/>
        </p:txBody>
      </p:sp>
      <p:sp>
        <p:nvSpPr>
          <p:cNvPr id="40" name="Text 36"/>
          <p:cNvSpPr/>
          <p:nvPr/>
        </p:nvSpPr>
        <p:spPr>
          <a:xfrm>
            <a:off x="6373368" y="3017520"/>
            <a:ext cx="2272284"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03</a:t>
            </a:r>
            <a:endParaRPr lang="en-US" sz="1100" dirty="0"/>
          </a:p>
        </p:txBody>
      </p:sp>
      <p:sp>
        <p:nvSpPr>
          <p:cNvPr id="41" name="Text 37"/>
          <p:cNvSpPr/>
          <p:nvPr/>
        </p:nvSpPr>
        <p:spPr>
          <a:xfrm>
            <a:off x="6364224" y="3364992"/>
            <a:ext cx="2281428"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Ergebnis prüfen</a:t>
            </a:r>
            <a:endParaRPr lang="en-US" sz="1520" dirty="0"/>
          </a:p>
        </p:txBody>
      </p:sp>
      <p:sp>
        <p:nvSpPr>
          <p:cNvPr id="42" name="Text 38"/>
          <p:cNvSpPr/>
          <p:nvPr/>
        </p:nvSpPr>
        <p:spPr>
          <a:xfrm>
            <a:off x="6364224" y="3776472"/>
            <a:ext cx="2308860"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Sieg, Remis oder nächsten Spieler auswählen</a:t>
            </a:r>
            <a:endParaRPr lang="en-US" sz="1140" dirty="0"/>
          </a:p>
        </p:txBody>
      </p:sp>
      <p:sp>
        <p:nvSpPr>
          <p:cNvPr id="43" name="Text 39"/>
          <p:cNvSpPr/>
          <p:nvPr/>
        </p:nvSpPr>
        <p:spPr>
          <a:xfrm>
            <a:off x="8787384" y="3429000"/>
            <a:ext cx="256032" cy="41148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2478F6"/>
                </a:solidFill>
                <a:latin typeface="Inter" pitchFamily="34" charset="0"/>
                <a:ea typeface="Inter" pitchFamily="34" charset="-122"/>
                <a:cs typeface="Inter" pitchFamily="34" charset="-120"/>
              </a:rPr>
              <a:t>›</a:t>
            </a:r>
            <a:endParaRPr lang="en-US" sz="2600" dirty="0"/>
          </a:p>
        </p:txBody>
      </p:sp>
      <p:sp>
        <p:nvSpPr>
          <p:cNvPr id="44" name="Shape 40"/>
          <p:cNvSpPr/>
          <p:nvPr/>
        </p:nvSpPr>
        <p:spPr>
          <a:xfrm>
            <a:off x="9002268" y="2834640"/>
            <a:ext cx="2601468" cy="2048256"/>
          </a:xfrm>
          <a:prstGeom prst="roundRect">
            <a:avLst>
              <a:gd name="adj" fmla="val 5804"/>
            </a:avLst>
          </a:prstGeom>
          <a:solidFill>
            <a:srgbClr val="FFFFFF"/>
          </a:solidFill>
          <a:ln w="8255">
            <a:solidFill>
              <a:srgbClr val="D8E3EE"/>
            </a:solidFill>
            <a:prstDash val="solid"/>
          </a:ln>
        </p:spPr>
        <p:txBody>
          <a:bodyPr/>
          <a:p/>
        </p:txBody>
      </p:sp>
      <p:sp>
        <p:nvSpPr>
          <p:cNvPr id="45" name="Shape 41"/>
          <p:cNvSpPr/>
          <p:nvPr/>
        </p:nvSpPr>
        <p:spPr>
          <a:xfrm>
            <a:off x="9002268" y="2834640"/>
            <a:ext cx="50292" cy="2048256"/>
          </a:xfrm>
          <a:prstGeom prst="rect">
            <a:avLst/>
          </a:prstGeom>
          <a:solidFill>
            <a:srgbClr val="2478F6"/>
          </a:solidFill>
          <a:ln w="12700">
            <a:solidFill>
              <a:srgbClr val="2478F6">
                <a:alpha val="0"/>
              </a:srgbClr>
            </a:solidFill>
            <a:prstDash val="solid"/>
          </a:ln>
        </p:spPr>
        <p:txBody>
          <a:bodyPr/>
          <a:p/>
        </p:txBody>
      </p:sp>
      <p:sp>
        <p:nvSpPr>
          <p:cNvPr id="46" name="Text 42"/>
          <p:cNvSpPr/>
          <p:nvPr/>
        </p:nvSpPr>
        <p:spPr>
          <a:xfrm>
            <a:off x="9176004" y="3017520"/>
            <a:ext cx="2272284"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04</a:t>
            </a:r>
            <a:endParaRPr lang="en-US" sz="1100" dirty="0"/>
          </a:p>
        </p:txBody>
      </p:sp>
      <p:sp>
        <p:nvSpPr>
          <p:cNvPr id="47" name="Text 43"/>
          <p:cNvSpPr/>
          <p:nvPr/>
        </p:nvSpPr>
        <p:spPr>
          <a:xfrm>
            <a:off x="9166860" y="3364992"/>
            <a:ext cx="2281428"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Fortsetzen</a:t>
            </a:r>
            <a:endParaRPr lang="en-US" sz="1520" dirty="0"/>
          </a:p>
        </p:txBody>
      </p:sp>
      <p:sp>
        <p:nvSpPr>
          <p:cNvPr id="48" name="Text 44"/>
          <p:cNvSpPr/>
          <p:nvPr/>
        </p:nvSpPr>
        <p:spPr>
          <a:xfrm>
            <a:off x="9166860" y="3776472"/>
            <a:ext cx="2308860"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Nächster Zug oder Rückkehr zum Menü</a:t>
            </a:r>
            <a:endParaRPr lang="en-US" sz="1140" dirty="0"/>
          </a:p>
        </p:txBody>
      </p:sp>
      <p:sp>
        <p:nvSpPr>
          <p:cNvPr id="49" name="Shape 45"/>
          <p:cNvSpPr/>
          <p:nvPr/>
        </p:nvSpPr>
        <p:spPr>
          <a:xfrm>
            <a:off x="694944" y="5248656"/>
            <a:ext cx="10762488" cy="685800"/>
          </a:xfrm>
          <a:prstGeom prst="roundRect">
            <a:avLst>
              <a:gd name="adj" fmla="val 16000"/>
            </a:avLst>
          </a:prstGeom>
          <a:solidFill>
            <a:srgbClr val="EEF4F9"/>
          </a:solidFill>
          <a:ln w="12700">
            <a:solidFill>
              <a:srgbClr val="EEF4F9">
                <a:alpha val="0"/>
              </a:srgbClr>
            </a:solidFill>
            <a:prstDash val="solid"/>
          </a:ln>
        </p:spPr>
        <p:txBody>
          <a:bodyPr/>
          <a:p/>
        </p:txBody>
      </p:sp>
      <p:sp>
        <p:nvSpPr>
          <p:cNvPr id="50" name="Shape 46"/>
          <p:cNvSpPr/>
          <p:nvPr/>
        </p:nvSpPr>
        <p:spPr>
          <a:xfrm>
            <a:off x="694944" y="5248656"/>
            <a:ext cx="59436" cy="685800"/>
          </a:xfrm>
          <a:prstGeom prst="rect">
            <a:avLst/>
          </a:prstGeom>
          <a:solidFill>
            <a:srgbClr val="2478F6"/>
          </a:solidFill>
          <a:ln w="12700">
            <a:solidFill>
              <a:srgbClr val="2478F6">
                <a:alpha val="0"/>
              </a:srgbClr>
            </a:solidFill>
            <a:prstDash val="solid"/>
          </a:ln>
        </p:spPr>
        <p:txBody>
          <a:bodyPr/>
          <a:p/>
        </p:txBody>
      </p:sp>
      <p:sp>
        <p:nvSpPr>
          <p:cNvPr id="51" name="Text 47"/>
          <p:cNvSpPr/>
          <p:nvPr/>
        </p:nvSpPr>
        <p:spPr>
          <a:xfrm>
            <a:off x="978408" y="5404104"/>
            <a:ext cx="1536192" cy="320040"/>
          </a:xfrm>
          <a:prstGeom prst="rect">
            <a:avLst/>
          </a:prstGeom>
          <a:noFill/>
          <a:ln/>
        </p:spPr>
        <p:txBody>
          <a:bodyPr wrap="square" lIns="0" tIns="0" rIns="0" bIns="0" rtlCol="0" anchor="ctr">
            <a:normAutofit/>
          </a:bodyPr>
          <a:lstStyle/>
          <a:p>
            <a:pPr algn="l" indent="0" marL="0">
              <a:lnSpc>
                <a:spcPct val="100000"/>
              </a:lnSpc>
              <a:buNone/>
            </a:pPr>
            <a:r>
              <a:rPr lang="en-US" sz="1430" b="1" dirty="0">
                <a:solidFill>
                  <a:srgbClr val="10263D"/>
                </a:solidFill>
                <a:latin typeface="Inter" pitchFamily="34" charset="0"/>
                <a:ea typeface="Inter" pitchFamily="34" charset="-122"/>
                <a:cs typeface="Inter" pitchFamily="34" charset="-120"/>
              </a:rPr>
              <a:t>Zentrale Regel</a:t>
            </a:r>
            <a:endParaRPr lang="en-US" sz="1430" dirty="0"/>
          </a:p>
        </p:txBody>
      </p:sp>
      <p:sp>
        <p:nvSpPr>
          <p:cNvPr id="52" name="Text 48"/>
          <p:cNvSpPr/>
          <p:nvPr/>
        </p:nvSpPr>
        <p:spPr>
          <a:xfrm>
            <a:off x="2770632" y="5404104"/>
            <a:ext cx="8284464" cy="320040"/>
          </a:xfrm>
          <a:prstGeom prst="rect">
            <a:avLst/>
          </a:prstGeom>
          <a:noFill/>
          <a:ln/>
        </p:spPr>
        <p:txBody>
          <a:bodyPr wrap="square" lIns="0" tIns="0" rIns="0" bIns="0" rtlCol="0" anchor="ctr">
            <a:normAutofit/>
          </a:bodyPr>
          <a:lstStyle/>
          <a:p>
            <a:pPr algn="l" indent="0" marL="0">
              <a:lnSpc>
                <a:spcPct val="100000"/>
              </a:lnSpc>
              <a:buNone/>
            </a:pPr>
            <a:r>
              <a:rPr lang="en-US" sz="1320" dirty="0">
                <a:solidFill>
                  <a:srgbClr val="557087"/>
                </a:solidFill>
                <a:latin typeface="Inter" pitchFamily="34" charset="0"/>
                <a:ea typeface="Inter" pitchFamily="34" charset="-122"/>
                <a:cs typeface="Inter" pitchFamily="34" charset="-120"/>
              </a:rPr>
              <a:t>Eine ungültige Eingabe erzeugt keinen Spielzug und keinen Spielerwechsel.</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06  /  ARCHITEKTUR</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Vier Typen. Klare Verantwortlichkeiten.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Die Daten und Aufgaben sind in einzelne C++-Typen gegliedert.</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06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40080" y="2788920"/>
            <a:ext cx="4325112" cy="2990088"/>
          </a:xfrm>
          <a:prstGeom prst="roundRect">
            <a:avLst>
              <a:gd name="adj" fmla="val 3976"/>
            </a:avLst>
          </a:prstGeom>
          <a:solidFill>
            <a:srgbClr val="0A2544"/>
          </a:solidFill>
          <a:ln w="8255">
            <a:solidFill>
              <a:srgbClr val="245072"/>
            </a:solidFill>
            <a:prstDash val="solid"/>
          </a:ln>
        </p:spPr>
        <p:txBody>
          <a:bodyPr/>
          <a:p/>
        </p:txBody>
      </p:sp>
      <p:sp>
        <p:nvSpPr>
          <p:cNvPr id="27" name="Shape 23"/>
          <p:cNvSpPr/>
          <p:nvPr/>
        </p:nvSpPr>
        <p:spPr>
          <a:xfrm>
            <a:off x="841248" y="3072384"/>
            <a:ext cx="59436" cy="402336"/>
          </a:xfrm>
          <a:prstGeom prst="rect">
            <a:avLst/>
          </a:prstGeom>
          <a:solidFill>
            <a:srgbClr val="35C8EF"/>
          </a:solidFill>
          <a:ln w="12700">
            <a:solidFill>
              <a:srgbClr val="35C8EF">
                <a:alpha val="0"/>
              </a:srgbClr>
            </a:solidFill>
            <a:prstDash val="solid"/>
          </a:ln>
        </p:spPr>
        <p:txBody>
          <a:bodyPr/>
          <a:p/>
        </p:txBody>
      </p:sp>
      <p:sp>
        <p:nvSpPr>
          <p:cNvPr id="28" name="Text 24"/>
          <p:cNvSpPr/>
          <p:nvPr/>
        </p:nvSpPr>
        <p:spPr>
          <a:xfrm>
            <a:off x="1069848" y="3054096"/>
            <a:ext cx="3291840" cy="493776"/>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Inter" pitchFamily="34" charset="0"/>
                <a:ea typeface="Inter" pitchFamily="34" charset="-122"/>
                <a:cs typeface="Inter" pitchFamily="34" charset="-120"/>
              </a:rPr>
              <a:t>Game</a:t>
            </a:r>
            <a:endParaRPr lang="en-US" sz="2600" dirty="0"/>
          </a:p>
        </p:txBody>
      </p:sp>
      <p:sp>
        <p:nvSpPr>
          <p:cNvPr id="29" name="Text 25"/>
          <p:cNvSpPr/>
          <p:nvPr/>
        </p:nvSpPr>
        <p:spPr>
          <a:xfrm>
            <a:off x="886968" y="3840480"/>
            <a:ext cx="3730752" cy="1124712"/>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D9E8F4"/>
                </a:solidFill>
                <a:latin typeface="Inter" pitchFamily="34" charset="0"/>
                <a:ea typeface="Inter" pitchFamily="34" charset="-122"/>
                <a:cs typeface="Inter" pitchFamily="34" charset="-120"/>
              </a:rPr>
              <a:t>Steuert das Hauptmenü und den Spielablauf.</a:t>
            </a:r>
            <a:endParaRPr lang="en-US" sz="1400" dirty="0"/>
          </a:p>
          <a:p>
            <a:pPr algn="l" indent="0" marL="0">
              <a:lnSpc>
                <a:spcPct val="100000"/>
              </a:lnSpc>
              <a:buNone/>
            </a:pPr>
            <a:r>
              <a:rPr lang="en-US" sz="1400" dirty="0">
                <a:solidFill>
                  <a:srgbClr val="D9E8F4"/>
                </a:solidFill>
                <a:latin typeface="Inter" pitchFamily="34" charset="0"/>
                <a:ea typeface="Inter" pitchFamily="34" charset="-122"/>
                <a:cs typeface="Inter" pitchFamily="34" charset="-120"/>
              </a:rPr>
              <a:t>Verwaltet aktive Spieler, Züge, Spielstände und Highscores.</a:t>
            </a:r>
            <a:endParaRPr lang="en-US" sz="1400" dirty="0"/>
          </a:p>
        </p:txBody>
      </p:sp>
      <p:sp>
        <p:nvSpPr>
          <p:cNvPr id="30" name="Shape 26"/>
          <p:cNvSpPr/>
          <p:nvPr/>
        </p:nvSpPr>
        <p:spPr>
          <a:xfrm>
            <a:off x="5413248" y="2788920"/>
            <a:ext cx="2816352" cy="1344168"/>
          </a:xfrm>
          <a:prstGeom prst="roundRect">
            <a:avLst>
              <a:gd name="adj" fmla="val 8844"/>
            </a:avLst>
          </a:prstGeom>
          <a:solidFill>
            <a:srgbClr val="FFFFFF"/>
          </a:solidFill>
          <a:ln w="8255">
            <a:solidFill>
              <a:srgbClr val="D8E3EE"/>
            </a:solidFill>
            <a:prstDash val="solid"/>
          </a:ln>
        </p:spPr>
        <p:txBody>
          <a:bodyPr/>
          <a:p/>
        </p:txBody>
      </p:sp>
      <p:sp>
        <p:nvSpPr>
          <p:cNvPr id="31" name="Shape 27"/>
          <p:cNvSpPr/>
          <p:nvPr/>
        </p:nvSpPr>
        <p:spPr>
          <a:xfrm>
            <a:off x="5586984" y="3017520"/>
            <a:ext cx="50292" cy="310896"/>
          </a:xfrm>
          <a:prstGeom prst="rect">
            <a:avLst/>
          </a:prstGeom>
          <a:solidFill>
            <a:srgbClr val="2478F6"/>
          </a:solidFill>
          <a:ln w="12700">
            <a:solidFill>
              <a:srgbClr val="2478F6">
                <a:alpha val="0"/>
              </a:srgbClr>
            </a:solidFill>
            <a:prstDash val="solid"/>
          </a:ln>
        </p:spPr>
        <p:txBody>
          <a:bodyPr/>
          <a:p/>
        </p:txBody>
      </p:sp>
      <p:sp>
        <p:nvSpPr>
          <p:cNvPr id="32" name="Text 28"/>
          <p:cNvSpPr/>
          <p:nvPr/>
        </p:nvSpPr>
        <p:spPr>
          <a:xfrm>
            <a:off x="5769864" y="2990088"/>
            <a:ext cx="2286000"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Board</a:t>
            </a:r>
            <a:endParaRPr lang="en-US" sz="1620" dirty="0"/>
          </a:p>
        </p:txBody>
      </p:sp>
      <p:sp>
        <p:nvSpPr>
          <p:cNvPr id="33" name="Text 29"/>
          <p:cNvSpPr/>
          <p:nvPr/>
        </p:nvSpPr>
        <p:spPr>
          <a:xfrm>
            <a:off x="5614416" y="3502152"/>
            <a:ext cx="2414016" cy="457200"/>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Raster, Spielzüge und Gewinnprüfung</a:t>
            </a:r>
            <a:endParaRPr lang="en-US" sz="1210" dirty="0"/>
          </a:p>
        </p:txBody>
      </p:sp>
      <p:sp>
        <p:nvSpPr>
          <p:cNvPr id="34" name="Shape 30"/>
          <p:cNvSpPr/>
          <p:nvPr/>
        </p:nvSpPr>
        <p:spPr>
          <a:xfrm>
            <a:off x="8394192" y="2788920"/>
            <a:ext cx="3008376" cy="1344168"/>
          </a:xfrm>
          <a:prstGeom prst="roundRect">
            <a:avLst>
              <a:gd name="adj" fmla="val 8844"/>
            </a:avLst>
          </a:prstGeom>
          <a:solidFill>
            <a:srgbClr val="FFFFFF"/>
          </a:solidFill>
          <a:ln w="8255">
            <a:solidFill>
              <a:srgbClr val="D8E3EE"/>
            </a:solidFill>
            <a:prstDash val="solid"/>
          </a:ln>
        </p:spPr>
        <p:txBody>
          <a:bodyPr/>
          <a:p/>
        </p:txBody>
      </p:sp>
      <p:sp>
        <p:nvSpPr>
          <p:cNvPr id="35" name="Shape 31"/>
          <p:cNvSpPr/>
          <p:nvPr/>
        </p:nvSpPr>
        <p:spPr>
          <a:xfrm>
            <a:off x="8567928" y="3017520"/>
            <a:ext cx="50292" cy="310896"/>
          </a:xfrm>
          <a:prstGeom prst="rect">
            <a:avLst/>
          </a:prstGeom>
          <a:solidFill>
            <a:srgbClr val="35C8EF"/>
          </a:solidFill>
          <a:ln w="12700">
            <a:solidFill>
              <a:srgbClr val="35C8EF">
                <a:alpha val="0"/>
              </a:srgbClr>
            </a:solidFill>
            <a:prstDash val="solid"/>
          </a:ln>
        </p:spPr>
        <p:txBody>
          <a:bodyPr/>
          <a:p/>
        </p:txBody>
      </p:sp>
      <p:sp>
        <p:nvSpPr>
          <p:cNvPr id="36" name="Text 32"/>
          <p:cNvSpPr/>
          <p:nvPr/>
        </p:nvSpPr>
        <p:spPr>
          <a:xfrm>
            <a:off x="8750808" y="2990088"/>
            <a:ext cx="2478024"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Player</a:t>
            </a:r>
            <a:endParaRPr lang="en-US" sz="1620" dirty="0"/>
          </a:p>
        </p:txBody>
      </p:sp>
      <p:sp>
        <p:nvSpPr>
          <p:cNvPr id="37" name="Text 33"/>
          <p:cNvSpPr/>
          <p:nvPr/>
        </p:nvSpPr>
        <p:spPr>
          <a:xfrm>
            <a:off x="8595360" y="3502152"/>
            <a:ext cx="2606040" cy="457200"/>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Name und eindeutiges Symbol</a:t>
            </a:r>
            <a:endParaRPr lang="en-US" sz="1210" dirty="0"/>
          </a:p>
        </p:txBody>
      </p:sp>
      <p:sp>
        <p:nvSpPr>
          <p:cNvPr id="38" name="Shape 34"/>
          <p:cNvSpPr/>
          <p:nvPr/>
        </p:nvSpPr>
        <p:spPr>
          <a:xfrm>
            <a:off x="5413248" y="4434840"/>
            <a:ext cx="5989320" cy="1344168"/>
          </a:xfrm>
          <a:prstGeom prst="roundRect">
            <a:avLst>
              <a:gd name="adj" fmla="val 8844"/>
            </a:avLst>
          </a:prstGeom>
          <a:solidFill>
            <a:srgbClr val="FFFFFF"/>
          </a:solidFill>
          <a:ln w="8255">
            <a:solidFill>
              <a:srgbClr val="D8E3EE"/>
            </a:solidFill>
            <a:prstDash val="solid"/>
          </a:ln>
        </p:spPr>
        <p:txBody>
          <a:bodyPr/>
          <a:p/>
        </p:txBody>
      </p:sp>
      <p:sp>
        <p:nvSpPr>
          <p:cNvPr id="39" name="Shape 35"/>
          <p:cNvSpPr/>
          <p:nvPr/>
        </p:nvSpPr>
        <p:spPr>
          <a:xfrm>
            <a:off x="5586984" y="4663440"/>
            <a:ext cx="50292" cy="310896"/>
          </a:xfrm>
          <a:prstGeom prst="rect">
            <a:avLst/>
          </a:prstGeom>
          <a:solidFill>
            <a:srgbClr val="59C1B0"/>
          </a:solidFill>
          <a:ln w="12700">
            <a:solidFill>
              <a:srgbClr val="59C1B0">
                <a:alpha val="0"/>
              </a:srgbClr>
            </a:solidFill>
            <a:prstDash val="solid"/>
          </a:ln>
        </p:spPr>
        <p:txBody>
          <a:bodyPr/>
          <a:p/>
        </p:txBody>
      </p:sp>
      <p:sp>
        <p:nvSpPr>
          <p:cNvPr id="40" name="Text 36"/>
          <p:cNvSpPr/>
          <p:nvPr/>
        </p:nvSpPr>
        <p:spPr>
          <a:xfrm>
            <a:off x="5769864" y="4636008"/>
            <a:ext cx="5458968"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Move</a:t>
            </a:r>
            <a:endParaRPr lang="en-US" sz="1620" dirty="0"/>
          </a:p>
        </p:txBody>
      </p:sp>
      <p:sp>
        <p:nvSpPr>
          <p:cNvPr id="41" name="Text 37"/>
          <p:cNvSpPr/>
          <p:nvPr/>
        </p:nvSpPr>
        <p:spPr>
          <a:xfrm>
            <a:off x="5614416" y="5148072"/>
            <a:ext cx="5586984" cy="457200"/>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Zeile · Spalte · Spielerindex für die Rückgängig-Historie</a:t>
            </a:r>
            <a:endParaRPr lang="en-US" sz="1210" dirty="0"/>
          </a:p>
        </p:txBody>
      </p:sp>
      <p:sp>
        <p:nvSpPr>
          <p:cNvPr id="42" name="Shape 38"/>
          <p:cNvSpPr/>
          <p:nvPr/>
        </p:nvSpPr>
        <p:spPr>
          <a:xfrm>
            <a:off x="4965192" y="4261104"/>
            <a:ext cx="310896" cy="0"/>
          </a:xfrm>
          <a:prstGeom prst="line">
            <a:avLst/>
          </a:prstGeom>
          <a:noFill/>
          <a:ln w="34290">
            <a:solidFill>
              <a:srgbClr val="2478F6"/>
            </a:solidFill>
            <a:prstDash val="solid"/>
          </a:ln>
        </p:spPr>
        <p:txBody>
          <a:bodyPr/>
          <a:p/>
        </p:txBody>
      </p:sp>
      <p:sp>
        <p:nvSpPr>
          <p:cNvPr id="43" name="Text 39"/>
          <p:cNvSpPr/>
          <p:nvPr/>
        </p:nvSpPr>
        <p:spPr>
          <a:xfrm>
            <a:off x="5458968" y="5916168"/>
            <a:ext cx="5669280" cy="274320"/>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557087"/>
                </a:solidFill>
                <a:latin typeface="Inter" pitchFamily="34" charset="0"/>
                <a:ea typeface="Inter" pitchFamily="34" charset="-122"/>
                <a:cs typeface="Inter" pitchFamily="34" charset="-120"/>
              </a:rPr>
              <a:t>1 Board  ·  2–4 Player  ·  0..* Move</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07  /  C++-STRUKTUR</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Quelltext getrennt nach Verantwortung</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Header deklarieren Schnittstellen, CPP-Dateien enthalten die zugehörige Implementierung.</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07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21792" y="2651760"/>
            <a:ext cx="3931920" cy="3236976"/>
          </a:xfrm>
          <a:prstGeom prst="roundRect">
            <a:avLst>
              <a:gd name="adj" fmla="val 3672"/>
            </a:avLst>
          </a:prstGeom>
          <a:solidFill>
            <a:srgbClr val="0A2544"/>
          </a:solidFill>
          <a:ln w="8255">
            <a:solidFill>
              <a:srgbClr val="245072"/>
            </a:solidFill>
            <a:prstDash val="solid"/>
          </a:ln>
        </p:spPr>
        <p:txBody>
          <a:bodyPr/>
          <a:p/>
        </p:txBody>
      </p:sp>
      <p:sp>
        <p:nvSpPr>
          <p:cNvPr id="27" name="Text 23"/>
          <p:cNvSpPr/>
          <p:nvPr/>
        </p:nvSpPr>
        <p:spPr>
          <a:xfrm>
            <a:off x="932688" y="2889504"/>
            <a:ext cx="3383280" cy="246888"/>
          </a:xfrm>
          <a:prstGeom prst="rect">
            <a:avLst/>
          </a:prstGeom>
          <a:noFill/>
          <a:ln/>
        </p:spPr>
        <p:txBody>
          <a:bodyPr wrap="square" lIns="0" tIns="0" rIns="0" bIns="0" rtlCol="0" anchor="ctr">
            <a:normAutofit/>
          </a:bodyPr>
          <a:lstStyle/>
          <a:p>
            <a:pPr algn="l" indent="0" marL="0">
              <a:lnSpc>
                <a:spcPct val="100000"/>
              </a:lnSpc>
              <a:buNone/>
            </a:pPr>
            <a:r>
              <a:rPr lang="en-US" sz="1130" b="1" spc="100" kern="0" dirty="0">
                <a:solidFill>
                  <a:srgbClr val="35C8EF"/>
                </a:solidFill>
                <a:latin typeface="Inter" pitchFamily="34" charset="0"/>
                <a:ea typeface="Inter" pitchFamily="34" charset="-122"/>
                <a:cs typeface="Inter" pitchFamily="34" charset="-120"/>
              </a:rPr>
              <a:t>PROJEKTSTRUKTUR</a:t>
            </a:r>
            <a:endParaRPr lang="en-US" sz="1130" dirty="0"/>
          </a:p>
        </p:txBody>
      </p:sp>
      <p:sp>
        <p:nvSpPr>
          <p:cNvPr id="28" name="Text 24"/>
          <p:cNvSpPr/>
          <p:nvPr/>
        </p:nvSpPr>
        <p:spPr>
          <a:xfrm>
            <a:off x="932688" y="3374136"/>
            <a:ext cx="3291840" cy="2350008"/>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vier-gewinnt-gym-edition/</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include/</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Player.h</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Board.h</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Game.h</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src/</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main.cpp</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Board.cpp</a:t>
            </a:r>
            <a:endParaRPr lang="en-US" sz="1400" dirty="0"/>
          </a:p>
          <a:p>
            <a:pPr algn="l" indent="0" marL="0">
              <a:lnSpc>
                <a:spcPct val="100000"/>
              </a:lnSpc>
              <a:buNone/>
            </a:pPr>
            <a:r>
              <a:rPr lang="en-US" sz="1400" dirty="0">
                <a:solidFill>
                  <a:srgbClr val="E7F3FF"/>
                </a:solidFill>
                <a:latin typeface="Liberation Mono" pitchFamily="34" charset="0"/>
                <a:ea typeface="Liberation Mono" pitchFamily="34" charset="-122"/>
                <a:cs typeface="Liberation Mono" pitchFamily="34" charset="-120"/>
              </a:rPr>
              <a:t>    Game.cpp</a:t>
            </a:r>
            <a:endParaRPr lang="en-US" sz="1400" dirty="0"/>
          </a:p>
        </p:txBody>
      </p:sp>
      <p:sp>
        <p:nvSpPr>
          <p:cNvPr id="29" name="Shape 25"/>
          <p:cNvSpPr/>
          <p:nvPr/>
        </p:nvSpPr>
        <p:spPr>
          <a:xfrm>
            <a:off x="4828032" y="2642616"/>
            <a:ext cx="6748272" cy="1837944"/>
          </a:xfrm>
          <a:prstGeom prst="roundRect">
            <a:avLst>
              <a:gd name="adj" fmla="val 7960"/>
            </a:avLst>
          </a:prstGeom>
          <a:solidFill>
            <a:srgbClr val="071B30"/>
          </a:solidFill>
          <a:ln w="12700">
            <a:solidFill>
              <a:srgbClr val="071B30">
                <a:alpha val="0"/>
              </a:srgbClr>
            </a:solidFill>
            <a:prstDash val="solid"/>
          </a:ln>
        </p:spPr>
        <p:txBody>
          <a:bodyPr/>
          <a:p/>
        </p:txBody>
      </p:sp>
      <p:sp>
        <p:nvSpPr>
          <p:cNvPr id="30" name="Shape 26"/>
          <p:cNvSpPr/>
          <p:nvPr/>
        </p:nvSpPr>
        <p:spPr>
          <a:xfrm>
            <a:off x="4828032" y="2642616"/>
            <a:ext cx="6748272" cy="384048"/>
          </a:xfrm>
          <a:prstGeom prst="roundRect">
            <a:avLst>
              <a:gd name="adj" fmla="val 33333"/>
            </a:avLst>
          </a:prstGeom>
          <a:solidFill>
            <a:srgbClr val="102D4A"/>
          </a:solidFill>
          <a:ln w="12700">
            <a:solidFill>
              <a:srgbClr val="102D4A">
                <a:alpha val="0"/>
              </a:srgbClr>
            </a:solidFill>
            <a:prstDash val="solid"/>
          </a:ln>
        </p:spPr>
        <p:txBody>
          <a:bodyPr/>
          <a:p/>
        </p:txBody>
      </p:sp>
      <p:sp>
        <p:nvSpPr>
          <p:cNvPr id="31" name="Shape 27"/>
          <p:cNvSpPr/>
          <p:nvPr/>
        </p:nvSpPr>
        <p:spPr>
          <a:xfrm>
            <a:off x="4988052" y="2784348"/>
            <a:ext cx="100584" cy="100584"/>
          </a:xfrm>
          <a:prstGeom prst="ellipse">
            <a:avLst/>
          </a:prstGeom>
          <a:solidFill>
            <a:srgbClr val="F07478"/>
          </a:solidFill>
          <a:ln w="12700">
            <a:solidFill>
              <a:srgbClr val="FFFFFF">
                <a:alpha val="0"/>
              </a:srgbClr>
            </a:solidFill>
            <a:prstDash val="solid"/>
          </a:ln>
        </p:spPr>
        <p:txBody>
          <a:bodyPr/>
          <a:p/>
        </p:txBody>
      </p:sp>
      <p:sp>
        <p:nvSpPr>
          <p:cNvPr id="32" name="Shape 28"/>
          <p:cNvSpPr/>
          <p:nvPr/>
        </p:nvSpPr>
        <p:spPr>
          <a:xfrm>
            <a:off x="5152644" y="2784348"/>
            <a:ext cx="100584" cy="100584"/>
          </a:xfrm>
          <a:prstGeom prst="ellipse">
            <a:avLst/>
          </a:prstGeom>
          <a:solidFill>
            <a:srgbClr val="E3B55D"/>
          </a:solidFill>
          <a:ln w="12700">
            <a:solidFill>
              <a:srgbClr val="FFFFFF">
                <a:alpha val="0"/>
              </a:srgbClr>
            </a:solidFill>
            <a:prstDash val="solid"/>
          </a:ln>
        </p:spPr>
        <p:txBody>
          <a:bodyPr/>
          <a:p/>
        </p:txBody>
      </p:sp>
      <p:sp>
        <p:nvSpPr>
          <p:cNvPr id="33" name="Shape 29"/>
          <p:cNvSpPr/>
          <p:nvPr/>
        </p:nvSpPr>
        <p:spPr>
          <a:xfrm>
            <a:off x="5317236" y="2784348"/>
            <a:ext cx="100584" cy="100584"/>
          </a:xfrm>
          <a:prstGeom prst="ellipse">
            <a:avLst/>
          </a:prstGeom>
          <a:solidFill>
            <a:srgbClr val="57C1AB"/>
          </a:solidFill>
          <a:ln w="12700">
            <a:solidFill>
              <a:srgbClr val="FFFFFF">
                <a:alpha val="0"/>
              </a:srgbClr>
            </a:solidFill>
            <a:prstDash val="solid"/>
          </a:ln>
        </p:spPr>
        <p:txBody>
          <a:bodyPr/>
          <a:p/>
        </p:txBody>
      </p:sp>
      <p:sp>
        <p:nvSpPr>
          <p:cNvPr id="34" name="Text 30"/>
          <p:cNvSpPr/>
          <p:nvPr/>
        </p:nvSpPr>
        <p:spPr>
          <a:xfrm>
            <a:off x="5065776" y="3246120"/>
            <a:ext cx="6291072" cy="1069848"/>
          </a:xfrm>
          <a:prstGeom prst="rect">
            <a:avLst/>
          </a:prstGeom>
          <a:noFill/>
          <a:ln/>
        </p:spPr>
        <p:txBody>
          <a:bodyPr wrap="square" lIns="0" tIns="0" rIns="0" bIns="0" rtlCol="0" anchor="t">
            <a:normAutofit/>
          </a:bodyPr>
          <a:lstStyle/>
          <a:p>
            <a:pPr algn="l" indent="0" marL="0">
              <a:lnSpc>
                <a:spcPct val="100000"/>
              </a:lnSpc>
              <a:buNone/>
            </a:pPr>
            <a:r>
              <a:rPr lang="en-US" sz="1370" dirty="0">
                <a:solidFill>
                  <a:srgbClr val="E2F5FF"/>
                </a:solidFill>
                <a:latin typeface="Liberation Mono" pitchFamily="34" charset="0"/>
                <a:ea typeface="Liberation Mono" pitchFamily="34" charset="-122"/>
                <a:cs typeface="Liberation Mono" pitchFamily="34" charset="-120"/>
              </a:rPr>
              <a:t>Board::Board(int playerCount)</a:t>
            </a:r>
            <a:endParaRPr lang="en-US" sz="1370" dirty="0"/>
          </a:p>
          <a:p>
            <a:pPr algn="l" indent="0" marL="0">
              <a:lnSpc>
                <a:spcPct val="100000"/>
              </a:lnSpc>
              <a:buNone/>
            </a:pPr>
            <a:r>
              <a:rPr lang="en-US" sz="1370" dirty="0">
                <a:solidFill>
                  <a:srgbClr val="E2F5FF"/>
                </a:solidFill>
                <a:latin typeface="Liberation Mono" pitchFamily="34" charset="0"/>
                <a:ea typeface="Liberation Mono" pitchFamily="34" charset="-122"/>
                <a:cs typeface="Liberation Mono" pitchFamily="34" charset="-120"/>
              </a:rPr>
              <a:t> : rows_(6 + 2 * (playerCount - 2)),</a:t>
            </a:r>
            <a:endParaRPr lang="en-US" sz="1370" dirty="0"/>
          </a:p>
          <a:p>
            <a:pPr algn="l" indent="0" marL="0">
              <a:lnSpc>
                <a:spcPct val="100000"/>
              </a:lnSpc>
              <a:buNone/>
            </a:pPr>
            <a:r>
              <a:rPr lang="en-US" sz="1370" dirty="0">
                <a:solidFill>
                  <a:srgbClr val="E2F5FF"/>
                </a:solidFill>
                <a:latin typeface="Liberation Mono" pitchFamily="34" charset="0"/>
                <a:ea typeface="Liberation Mono" pitchFamily="34" charset="-122"/>
                <a:cs typeface="Liberation Mono" pitchFamily="34" charset="-120"/>
              </a:rPr>
              <a:t>   columns_(7 + 2 * (playerCount - 2)),</a:t>
            </a:r>
            <a:endParaRPr lang="en-US" sz="1370" dirty="0"/>
          </a:p>
          <a:p>
            <a:pPr algn="l" indent="0" marL="0">
              <a:lnSpc>
                <a:spcPct val="100000"/>
              </a:lnSpc>
              <a:buNone/>
            </a:pPr>
            <a:r>
              <a:rPr lang="en-US" sz="1370" dirty="0">
                <a:solidFill>
                  <a:srgbClr val="E2F5FF"/>
                </a:solidFill>
                <a:latin typeface="Liberation Mono" pitchFamily="34" charset="0"/>
                <a:ea typeface="Liberation Mono" pitchFamily="34" charset="-122"/>
                <a:cs typeface="Liberation Mono" pitchFamily="34" charset="-120"/>
              </a:rPr>
              <a:t>   grid_(rows_, std::vector&lt;char&gt;(columns_, '.')) {}</a:t>
            </a:r>
            <a:endParaRPr lang="en-US" sz="1370" dirty="0"/>
          </a:p>
        </p:txBody>
      </p:sp>
      <p:sp>
        <p:nvSpPr>
          <p:cNvPr id="35" name="Text 31"/>
          <p:cNvSpPr/>
          <p:nvPr/>
        </p:nvSpPr>
        <p:spPr>
          <a:xfrm>
            <a:off x="4882896" y="4791456"/>
            <a:ext cx="6428232" cy="256032"/>
          </a:xfrm>
          <a:prstGeom prst="rect">
            <a:avLst/>
          </a:prstGeom>
          <a:noFill/>
          <a:ln/>
        </p:spPr>
        <p:txBody>
          <a:bodyPr wrap="square" lIns="0" tIns="0" rIns="0" bIns="0" rtlCol="0" anchor="ctr">
            <a:normAutofit/>
          </a:bodyPr>
          <a:lstStyle/>
          <a:p>
            <a:pPr algn="l" indent="0" marL="0">
              <a:lnSpc>
                <a:spcPct val="100000"/>
              </a:lnSpc>
              <a:buNone/>
            </a:pPr>
            <a:r>
              <a:rPr lang="en-US" sz="1270" b="1" dirty="0">
                <a:solidFill>
                  <a:srgbClr val="2478F6"/>
                </a:solidFill>
                <a:latin typeface="Inter" pitchFamily="34" charset="0"/>
                <a:ea typeface="Inter" pitchFamily="34" charset="-122"/>
                <a:cs typeface="Inter" pitchFamily="34" charset="-120"/>
              </a:rPr>
              <a:t>EINE REGEL, ZENTRAL DEFINIERT</a:t>
            </a:r>
            <a:endParaRPr lang="en-US" sz="1270" dirty="0"/>
          </a:p>
        </p:txBody>
      </p:sp>
      <p:sp>
        <p:nvSpPr>
          <p:cNvPr id="36" name="Text 32"/>
          <p:cNvSpPr/>
          <p:nvPr/>
        </p:nvSpPr>
        <p:spPr>
          <a:xfrm>
            <a:off x="4882896" y="5221224"/>
            <a:ext cx="6419088" cy="740664"/>
          </a:xfrm>
          <a:prstGeom prst="rect">
            <a:avLst/>
          </a:prstGeom>
          <a:noFill/>
          <a:ln/>
        </p:spPr>
        <p:txBody>
          <a:bodyPr wrap="square" lIns="0" tIns="0" rIns="0" bIns="0" rtlCol="0" anchor="t">
            <a:normAutofit/>
          </a:bodyPr>
          <a:lstStyle/>
          <a:p>
            <a:pPr algn="l" indent="0" marL="0">
              <a:lnSpc>
                <a:spcPct val="100000"/>
              </a:lnSpc>
              <a:buNone/>
            </a:pPr>
            <a:r>
              <a:rPr lang="en-US" sz="1430" dirty="0">
                <a:solidFill>
                  <a:srgbClr val="557087"/>
                </a:solidFill>
                <a:latin typeface="Inter" pitchFamily="34" charset="0"/>
                <a:ea typeface="Inter" pitchFamily="34" charset="-122"/>
                <a:cs typeface="Inter" pitchFamily="34" charset="-120"/>
              </a:rPr>
              <a:t>Neue Spielfeldgrößen werden im Konstruktor berechnet. Alle Spielmodi nutzen danach dieselbe Board-Logik.</a:t>
            </a:r>
            <a:endParaRPr lang="en-US" sz="14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08  /  ALGORITHMUS</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Gewinnprüfung in vier Richtungsachsen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Nach jedem gültigen Zug wird vom letzten Stein aus in beide Richtungen gezählt.</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08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76656" y="2798064"/>
            <a:ext cx="3776472" cy="3273552"/>
          </a:xfrm>
          <a:prstGeom prst="roundRect">
            <a:avLst>
              <a:gd name="adj" fmla="val 3911"/>
            </a:avLst>
          </a:prstGeom>
          <a:solidFill>
            <a:srgbClr val="0A2544"/>
          </a:solidFill>
          <a:ln w="12700">
            <a:solidFill>
              <a:srgbClr val="0A2544">
                <a:alpha val="0"/>
              </a:srgbClr>
            </a:solidFill>
            <a:prstDash val="solid"/>
          </a:ln>
        </p:spPr>
        <p:txBody>
          <a:bodyPr/>
          <a:p/>
        </p:txBody>
      </p:sp>
      <p:sp>
        <p:nvSpPr>
          <p:cNvPr id="27" name="Shape 23"/>
          <p:cNvSpPr/>
          <p:nvPr/>
        </p:nvSpPr>
        <p:spPr>
          <a:xfrm>
            <a:off x="885139" y="3006547"/>
            <a:ext cx="341986" cy="341986"/>
          </a:xfrm>
          <a:prstGeom prst="ellipse">
            <a:avLst/>
          </a:prstGeom>
          <a:solidFill>
            <a:srgbClr val="071B30"/>
          </a:solidFill>
          <a:ln w="8890">
            <a:solidFill>
              <a:srgbClr val="315779"/>
            </a:solidFill>
            <a:prstDash val="solid"/>
          </a:ln>
        </p:spPr>
        <p:txBody>
          <a:bodyPr/>
          <a:p/>
        </p:txBody>
      </p:sp>
      <p:sp>
        <p:nvSpPr>
          <p:cNvPr id="28" name="Shape 24"/>
          <p:cNvSpPr/>
          <p:nvPr/>
        </p:nvSpPr>
        <p:spPr>
          <a:xfrm>
            <a:off x="1388059" y="3006547"/>
            <a:ext cx="341986" cy="341986"/>
          </a:xfrm>
          <a:prstGeom prst="ellipse">
            <a:avLst/>
          </a:prstGeom>
          <a:solidFill>
            <a:srgbClr val="071B30"/>
          </a:solidFill>
          <a:ln w="8890">
            <a:solidFill>
              <a:srgbClr val="315779"/>
            </a:solidFill>
            <a:prstDash val="solid"/>
          </a:ln>
        </p:spPr>
        <p:txBody>
          <a:bodyPr/>
          <a:p/>
        </p:txBody>
      </p:sp>
      <p:sp>
        <p:nvSpPr>
          <p:cNvPr id="29" name="Shape 25"/>
          <p:cNvSpPr/>
          <p:nvPr/>
        </p:nvSpPr>
        <p:spPr>
          <a:xfrm>
            <a:off x="1890979" y="3006547"/>
            <a:ext cx="341986" cy="341986"/>
          </a:xfrm>
          <a:prstGeom prst="ellipse">
            <a:avLst/>
          </a:prstGeom>
          <a:solidFill>
            <a:srgbClr val="071B30"/>
          </a:solidFill>
          <a:ln w="8890">
            <a:solidFill>
              <a:srgbClr val="315779"/>
            </a:solidFill>
            <a:prstDash val="solid"/>
          </a:ln>
        </p:spPr>
        <p:txBody>
          <a:bodyPr/>
          <a:p/>
        </p:txBody>
      </p:sp>
      <p:sp>
        <p:nvSpPr>
          <p:cNvPr id="30" name="Shape 26"/>
          <p:cNvSpPr/>
          <p:nvPr/>
        </p:nvSpPr>
        <p:spPr>
          <a:xfrm>
            <a:off x="2393899" y="3006547"/>
            <a:ext cx="341986" cy="341986"/>
          </a:xfrm>
          <a:prstGeom prst="ellipse">
            <a:avLst/>
          </a:prstGeom>
          <a:solidFill>
            <a:srgbClr val="071B30"/>
          </a:solidFill>
          <a:ln w="8890">
            <a:solidFill>
              <a:srgbClr val="315779"/>
            </a:solidFill>
            <a:prstDash val="solid"/>
          </a:ln>
        </p:spPr>
        <p:txBody>
          <a:bodyPr/>
          <a:p/>
        </p:txBody>
      </p:sp>
      <p:sp>
        <p:nvSpPr>
          <p:cNvPr id="31" name="Shape 27"/>
          <p:cNvSpPr/>
          <p:nvPr/>
        </p:nvSpPr>
        <p:spPr>
          <a:xfrm>
            <a:off x="2896819" y="3006547"/>
            <a:ext cx="341986" cy="341986"/>
          </a:xfrm>
          <a:prstGeom prst="ellipse">
            <a:avLst/>
          </a:prstGeom>
          <a:solidFill>
            <a:srgbClr val="071B30"/>
          </a:solidFill>
          <a:ln w="8890">
            <a:solidFill>
              <a:srgbClr val="315779"/>
            </a:solidFill>
            <a:prstDash val="solid"/>
          </a:ln>
        </p:spPr>
        <p:txBody>
          <a:bodyPr/>
          <a:p/>
        </p:txBody>
      </p:sp>
      <p:sp>
        <p:nvSpPr>
          <p:cNvPr id="32" name="Shape 28"/>
          <p:cNvSpPr/>
          <p:nvPr/>
        </p:nvSpPr>
        <p:spPr>
          <a:xfrm>
            <a:off x="3399739" y="3006547"/>
            <a:ext cx="341986" cy="341986"/>
          </a:xfrm>
          <a:prstGeom prst="ellipse">
            <a:avLst/>
          </a:prstGeom>
          <a:solidFill>
            <a:srgbClr val="071B30"/>
          </a:solidFill>
          <a:ln w="8890">
            <a:solidFill>
              <a:srgbClr val="315779"/>
            </a:solidFill>
            <a:prstDash val="solid"/>
          </a:ln>
        </p:spPr>
        <p:txBody>
          <a:bodyPr/>
          <a:p/>
        </p:txBody>
      </p:sp>
      <p:sp>
        <p:nvSpPr>
          <p:cNvPr id="33" name="Shape 29"/>
          <p:cNvSpPr/>
          <p:nvPr/>
        </p:nvSpPr>
        <p:spPr>
          <a:xfrm>
            <a:off x="3902659" y="3006547"/>
            <a:ext cx="341986" cy="341986"/>
          </a:xfrm>
          <a:prstGeom prst="ellipse">
            <a:avLst/>
          </a:prstGeom>
          <a:solidFill>
            <a:srgbClr val="071B30"/>
          </a:solidFill>
          <a:ln w="8890">
            <a:solidFill>
              <a:srgbClr val="315779"/>
            </a:solidFill>
            <a:prstDash val="solid"/>
          </a:ln>
        </p:spPr>
        <p:txBody>
          <a:bodyPr/>
          <a:p/>
        </p:txBody>
      </p:sp>
      <p:sp>
        <p:nvSpPr>
          <p:cNvPr id="34" name="Shape 30"/>
          <p:cNvSpPr/>
          <p:nvPr/>
        </p:nvSpPr>
        <p:spPr>
          <a:xfrm>
            <a:off x="885139" y="3509467"/>
            <a:ext cx="341986" cy="341986"/>
          </a:xfrm>
          <a:prstGeom prst="ellipse">
            <a:avLst/>
          </a:prstGeom>
          <a:solidFill>
            <a:srgbClr val="071B30"/>
          </a:solidFill>
          <a:ln w="8890">
            <a:solidFill>
              <a:srgbClr val="315779"/>
            </a:solidFill>
            <a:prstDash val="solid"/>
          </a:ln>
        </p:spPr>
        <p:txBody>
          <a:bodyPr/>
          <a:p/>
        </p:txBody>
      </p:sp>
      <p:sp>
        <p:nvSpPr>
          <p:cNvPr id="35" name="Shape 31"/>
          <p:cNvSpPr/>
          <p:nvPr/>
        </p:nvSpPr>
        <p:spPr>
          <a:xfrm>
            <a:off x="1388059" y="3509467"/>
            <a:ext cx="341986" cy="341986"/>
          </a:xfrm>
          <a:prstGeom prst="ellipse">
            <a:avLst/>
          </a:prstGeom>
          <a:solidFill>
            <a:srgbClr val="071B30"/>
          </a:solidFill>
          <a:ln w="8890">
            <a:solidFill>
              <a:srgbClr val="315779"/>
            </a:solidFill>
            <a:prstDash val="solid"/>
          </a:ln>
        </p:spPr>
        <p:txBody>
          <a:bodyPr/>
          <a:p/>
        </p:txBody>
      </p:sp>
      <p:sp>
        <p:nvSpPr>
          <p:cNvPr id="36" name="Shape 32"/>
          <p:cNvSpPr/>
          <p:nvPr/>
        </p:nvSpPr>
        <p:spPr>
          <a:xfrm>
            <a:off x="1890979" y="3509467"/>
            <a:ext cx="341986" cy="341986"/>
          </a:xfrm>
          <a:prstGeom prst="ellipse">
            <a:avLst/>
          </a:prstGeom>
          <a:solidFill>
            <a:srgbClr val="071B30"/>
          </a:solidFill>
          <a:ln w="8890">
            <a:solidFill>
              <a:srgbClr val="315779"/>
            </a:solidFill>
            <a:prstDash val="solid"/>
          </a:ln>
        </p:spPr>
        <p:txBody>
          <a:bodyPr/>
          <a:p/>
        </p:txBody>
      </p:sp>
      <p:sp>
        <p:nvSpPr>
          <p:cNvPr id="37" name="Shape 33"/>
          <p:cNvSpPr/>
          <p:nvPr/>
        </p:nvSpPr>
        <p:spPr>
          <a:xfrm>
            <a:off x="2393899" y="3509467"/>
            <a:ext cx="341986" cy="341986"/>
          </a:xfrm>
          <a:prstGeom prst="ellipse">
            <a:avLst/>
          </a:prstGeom>
          <a:solidFill>
            <a:srgbClr val="071B30"/>
          </a:solidFill>
          <a:ln w="8890">
            <a:solidFill>
              <a:srgbClr val="315779"/>
            </a:solidFill>
            <a:prstDash val="solid"/>
          </a:ln>
        </p:spPr>
        <p:txBody>
          <a:bodyPr/>
          <a:p/>
        </p:txBody>
      </p:sp>
      <p:sp>
        <p:nvSpPr>
          <p:cNvPr id="38" name="Shape 34"/>
          <p:cNvSpPr/>
          <p:nvPr/>
        </p:nvSpPr>
        <p:spPr>
          <a:xfrm>
            <a:off x="2896819" y="3509467"/>
            <a:ext cx="341986" cy="341986"/>
          </a:xfrm>
          <a:prstGeom prst="ellipse">
            <a:avLst/>
          </a:prstGeom>
          <a:solidFill>
            <a:srgbClr val="071B30"/>
          </a:solidFill>
          <a:ln w="8890">
            <a:solidFill>
              <a:srgbClr val="315779"/>
            </a:solidFill>
            <a:prstDash val="solid"/>
          </a:ln>
        </p:spPr>
        <p:txBody>
          <a:bodyPr/>
          <a:p/>
        </p:txBody>
      </p:sp>
      <p:sp>
        <p:nvSpPr>
          <p:cNvPr id="39" name="Shape 35"/>
          <p:cNvSpPr/>
          <p:nvPr/>
        </p:nvSpPr>
        <p:spPr>
          <a:xfrm>
            <a:off x="3399739" y="3509467"/>
            <a:ext cx="341986" cy="341986"/>
          </a:xfrm>
          <a:prstGeom prst="ellipse">
            <a:avLst/>
          </a:prstGeom>
          <a:solidFill>
            <a:srgbClr val="071B30"/>
          </a:solidFill>
          <a:ln w="8890">
            <a:solidFill>
              <a:srgbClr val="315779"/>
            </a:solidFill>
            <a:prstDash val="solid"/>
          </a:ln>
        </p:spPr>
        <p:txBody>
          <a:bodyPr/>
          <a:p/>
        </p:txBody>
      </p:sp>
      <p:sp>
        <p:nvSpPr>
          <p:cNvPr id="40" name="Shape 36"/>
          <p:cNvSpPr/>
          <p:nvPr/>
        </p:nvSpPr>
        <p:spPr>
          <a:xfrm>
            <a:off x="3902659" y="3509467"/>
            <a:ext cx="341986" cy="341986"/>
          </a:xfrm>
          <a:prstGeom prst="ellipse">
            <a:avLst/>
          </a:prstGeom>
          <a:solidFill>
            <a:srgbClr val="071B30"/>
          </a:solidFill>
          <a:ln w="8890">
            <a:solidFill>
              <a:srgbClr val="315779"/>
            </a:solidFill>
            <a:prstDash val="solid"/>
          </a:ln>
        </p:spPr>
        <p:txBody>
          <a:bodyPr/>
          <a:p/>
        </p:txBody>
      </p:sp>
      <p:sp>
        <p:nvSpPr>
          <p:cNvPr id="41" name="Shape 37"/>
          <p:cNvSpPr/>
          <p:nvPr/>
        </p:nvSpPr>
        <p:spPr>
          <a:xfrm>
            <a:off x="885139" y="4012387"/>
            <a:ext cx="341986" cy="341986"/>
          </a:xfrm>
          <a:prstGeom prst="ellipse">
            <a:avLst/>
          </a:prstGeom>
          <a:solidFill>
            <a:srgbClr val="071B30"/>
          </a:solidFill>
          <a:ln w="8890">
            <a:solidFill>
              <a:srgbClr val="315779"/>
            </a:solidFill>
            <a:prstDash val="solid"/>
          </a:ln>
        </p:spPr>
        <p:txBody>
          <a:bodyPr/>
          <a:p/>
        </p:txBody>
      </p:sp>
      <p:sp>
        <p:nvSpPr>
          <p:cNvPr id="42" name="Shape 38"/>
          <p:cNvSpPr/>
          <p:nvPr/>
        </p:nvSpPr>
        <p:spPr>
          <a:xfrm>
            <a:off x="1388059" y="4012387"/>
            <a:ext cx="341986" cy="341986"/>
          </a:xfrm>
          <a:prstGeom prst="ellipse">
            <a:avLst/>
          </a:prstGeom>
          <a:solidFill>
            <a:srgbClr val="071B30"/>
          </a:solidFill>
          <a:ln w="8890">
            <a:solidFill>
              <a:srgbClr val="315779"/>
            </a:solidFill>
            <a:prstDash val="solid"/>
          </a:ln>
        </p:spPr>
        <p:txBody>
          <a:bodyPr/>
          <a:p/>
        </p:txBody>
      </p:sp>
      <p:sp>
        <p:nvSpPr>
          <p:cNvPr id="43" name="Shape 39"/>
          <p:cNvSpPr/>
          <p:nvPr/>
        </p:nvSpPr>
        <p:spPr>
          <a:xfrm>
            <a:off x="1890979" y="4012387"/>
            <a:ext cx="341986" cy="341986"/>
          </a:xfrm>
          <a:prstGeom prst="ellipse">
            <a:avLst/>
          </a:prstGeom>
          <a:solidFill>
            <a:srgbClr val="071B30"/>
          </a:solidFill>
          <a:ln w="8890">
            <a:solidFill>
              <a:srgbClr val="315779"/>
            </a:solidFill>
            <a:prstDash val="solid"/>
          </a:ln>
        </p:spPr>
        <p:txBody>
          <a:bodyPr/>
          <a:p/>
        </p:txBody>
      </p:sp>
      <p:sp>
        <p:nvSpPr>
          <p:cNvPr id="44" name="Shape 40"/>
          <p:cNvSpPr/>
          <p:nvPr/>
        </p:nvSpPr>
        <p:spPr>
          <a:xfrm>
            <a:off x="2393899" y="4012387"/>
            <a:ext cx="341986" cy="341986"/>
          </a:xfrm>
          <a:prstGeom prst="ellipse">
            <a:avLst/>
          </a:prstGeom>
          <a:solidFill>
            <a:srgbClr val="F35E61"/>
          </a:solidFill>
          <a:ln w="8890">
            <a:solidFill>
              <a:srgbClr val="FFFFFF"/>
            </a:solidFill>
            <a:prstDash val="solid"/>
          </a:ln>
        </p:spPr>
        <p:txBody>
          <a:bodyPr/>
          <a:p/>
        </p:txBody>
      </p:sp>
      <p:sp>
        <p:nvSpPr>
          <p:cNvPr id="45" name="Shape 41"/>
          <p:cNvSpPr/>
          <p:nvPr/>
        </p:nvSpPr>
        <p:spPr>
          <a:xfrm>
            <a:off x="2896819" y="4012387"/>
            <a:ext cx="341986" cy="341986"/>
          </a:xfrm>
          <a:prstGeom prst="ellipse">
            <a:avLst/>
          </a:prstGeom>
          <a:solidFill>
            <a:srgbClr val="071B30"/>
          </a:solidFill>
          <a:ln w="8890">
            <a:solidFill>
              <a:srgbClr val="315779"/>
            </a:solidFill>
            <a:prstDash val="solid"/>
          </a:ln>
        </p:spPr>
        <p:txBody>
          <a:bodyPr/>
          <a:p/>
        </p:txBody>
      </p:sp>
      <p:sp>
        <p:nvSpPr>
          <p:cNvPr id="46" name="Shape 42"/>
          <p:cNvSpPr/>
          <p:nvPr/>
        </p:nvSpPr>
        <p:spPr>
          <a:xfrm>
            <a:off x="3399739" y="4012387"/>
            <a:ext cx="341986" cy="341986"/>
          </a:xfrm>
          <a:prstGeom prst="ellipse">
            <a:avLst/>
          </a:prstGeom>
          <a:solidFill>
            <a:srgbClr val="071B30"/>
          </a:solidFill>
          <a:ln w="8890">
            <a:solidFill>
              <a:srgbClr val="315779"/>
            </a:solidFill>
            <a:prstDash val="solid"/>
          </a:ln>
        </p:spPr>
        <p:txBody>
          <a:bodyPr/>
          <a:p/>
        </p:txBody>
      </p:sp>
      <p:sp>
        <p:nvSpPr>
          <p:cNvPr id="47" name="Shape 43"/>
          <p:cNvSpPr/>
          <p:nvPr/>
        </p:nvSpPr>
        <p:spPr>
          <a:xfrm>
            <a:off x="3902659" y="4012387"/>
            <a:ext cx="341986" cy="341986"/>
          </a:xfrm>
          <a:prstGeom prst="ellipse">
            <a:avLst/>
          </a:prstGeom>
          <a:solidFill>
            <a:srgbClr val="071B30"/>
          </a:solidFill>
          <a:ln w="8890">
            <a:solidFill>
              <a:srgbClr val="315779"/>
            </a:solidFill>
            <a:prstDash val="solid"/>
          </a:ln>
        </p:spPr>
        <p:txBody>
          <a:bodyPr/>
          <a:p/>
        </p:txBody>
      </p:sp>
      <p:sp>
        <p:nvSpPr>
          <p:cNvPr id="48" name="Shape 44"/>
          <p:cNvSpPr/>
          <p:nvPr/>
        </p:nvSpPr>
        <p:spPr>
          <a:xfrm>
            <a:off x="885139" y="4515307"/>
            <a:ext cx="341986" cy="341986"/>
          </a:xfrm>
          <a:prstGeom prst="ellipse">
            <a:avLst/>
          </a:prstGeom>
          <a:solidFill>
            <a:srgbClr val="071B30"/>
          </a:solidFill>
          <a:ln w="8890">
            <a:solidFill>
              <a:srgbClr val="315779"/>
            </a:solidFill>
            <a:prstDash val="solid"/>
          </a:ln>
        </p:spPr>
        <p:txBody>
          <a:bodyPr/>
          <a:p/>
        </p:txBody>
      </p:sp>
      <p:sp>
        <p:nvSpPr>
          <p:cNvPr id="49" name="Shape 45"/>
          <p:cNvSpPr/>
          <p:nvPr/>
        </p:nvSpPr>
        <p:spPr>
          <a:xfrm>
            <a:off x="1388059" y="4515307"/>
            <a:ext cx="341986" cy="341986"/>
          </a:xfrm>
          <a:prstGeom prst="ellipse">
            <a:avLst/>
          </a:prstGeom>
          <a:solidFill>
            <a:srgbClr val="071B30"/>
          </a:solidFill>
          <a:ln w="8890">
            <a:solidFill>
              <a:srgbClr val="315779"/>
            </a:solidFill>
            <a:prstDash val="solid"/>
          </a:ln>
        </p:spPr>
        <p:txBody>
          <a:bodyPr/>
          <a:p/>
        </p:txBody>
      </p:sp>
      <p:sp>
        <p:nvSpPr>
          <p:cNvPr id="50" name="Shape 46"/>
          <p:cNvSpPr/>
          <p:nvPr/>
        </p:nvSpPr>
        <p:spPr>
          <a:xfrm>
            <a:off x="1890979" y="4515307"/>
            <a:ext cx="341986" cy="341986"/>
          </a:xfrm>
          <a:prstGeom prst="ellipse">
            <a:avLst/>
          </a:prstGeom>
          <a:solidFill>
            <a:srgbClr val="F35E61"/>
          </a:solidFill>
          <a:ln w="8890">
            <a:solidFill>
              <a:srgbClr val="FFFFFF"/>
            </a:solidFill>
            <a:prstDash val="solid"/>
          </a:ln>
        </p:spPr>
        <p:txBody>
          <a:bodyPr/>
          <a:p/>
        </p:txBody>
      </p:sp>
      <p:sp>
        <p:nvSpPr>
          <p:cNvPr id="51" name="Shape 47"/>
          <p:cNvSpPr/>
          <p:nvPr/>
        </p:nvSpPr>
        <p:spPr>
          <a:xfrm>
            <a:off x="2393899" y="4515307"/>
            <a:ext cx="341986" cy="341986"/>
          </a:xfrm>
          <a:prstGeom prst="ellipse">
            <a:avLst/>
          </a:prstGeom>
          <a:solidFill>
            <a:srgbClr val="48A2FF"/>
          </a:solidFill>
          <a:ln w="8890">
            <a:solidFill>
              <a:srgbClr val="FFFFFF"/>
            </a:solidFill>
            <a:prstDash val="solid"/>
          </a:ln>
        </p:spPr>
        <p:txBody>
          <a:bodyPr/>
          <a:p/>
        </p:txBody>
      </p:sp>
      <p:sp>
        <p:nvSpPr>
          <p:cNvPr id="52" name="Shape 48"/>
          <p:cNvSpPr/>
          <p:nvPr/>
        </p:nvSpPr>
        <p:spPr>
          <a:xfrm>
            <a:off x="2896819" y="4515307"/>
            <a:ext cx="341986" cy="341986"/>
          </a:xfrm>
          <a:prstGeom prst="ellipse">
            <a:avLst/>
          </a:prstGeom>
          <a:solidFill>
            <a:srgbClr val="071B30"/>
          </a:solidFill>
          <a:ln w="8890">
            <a:solidFill>
              <a:srgbClr val="315779"/>
            </a:solidFill>
            <a:prstDash val="solid"/>
          </a:ln>
        </p:spPr>
        <p:txBody>
          <a:bodyPr/>
          <a:p/>
        </p:txBody>
      </p:sp>
      <p:sp>
        <p:nvSpPr>
          <p:cNvPr id="53" name="Shape 49"/>
          <p:cNvSpPr/>
          <p:nvPr/>
        </p:nvSpPr>
        <p:spPr>
          <a:xfrm>
            <a:off x="3399739" y="4515307"/>
            <a:ext cx="341986" cy="341986"/>
          </a:xfrm>
          <a:prstGeom prst="ellipse">
            <a:avLst/>
          </a:prstGeom>
          <a:solidFill>
            <a:srgbClr val="071B30"/>
          </a:solidFill>
          <a:ln w="8890">
            <a:solidFill>
              <a:srgbClr val="315779"/>
            </a:solidFill>
            <a:prstDash val="solid"/>
          </a:ln>
        </p:spPr>
        <p:txBody>
          <a:bodyPr/>
          <a:p/>
        </p:txBody>
      </p:sp>
      <p:sp>
        <p:nvSpPr>
          <p:cNvPr id="54" name="Shape 50"/>
          <p:cNvSpPr/>
          <p:nvPr/>
        </p:nvSpPr>
        <p:spPr>
          <a:xfrm>
            <a:off x="3902659" y="4515307"/>
            <a:ext cx="341986" cy="341986"/>
          </a:xfrm>
          <a:prstGeom prst="ellipse">
            <a:avLst/>
          </a:prstGeom>
          <a:solidFill>
            <a:srgbClr val="071B30"/>
          </a:solidFill>
          <a:ln w="8890">
            <a:solidFill>
              <a:srgbClr val="315779"/>
            </a:solidFill>
            <a:prstDash val="solid"/>
          </a:ln>
        </p:spPr>
        <p:txBody>
          <a:bodyPr/>
          <a:p/>
        </p:txBody>
      </p:sp>
      <p:sp>
        <p:nvSpPr>
          <p:cNvPr id="55" name="Shape 51"/>
          <p:cNvSpPr/>
          <p:nvPr/>
        </p:nvSpPr>
        <p:spPr>
          <a:xfrm>
            <a:off x="885139" y="5018227"/>
            <a:ext cx="341986" cy="341986"/>
          </a:xfrm>
          <a:prstGeom prst="ellipse">
            <a:avLst/>
          </a:prstGeom>
          <a:solidFill>
            <a:srgbClr val="071B30"/>
          </a:solidFill>
          <a:ln w="8890">
            <a:solidFill>
              <a:srgbClr val="315779"/>
            </a:solidFill>
            <a:prstDash val="solid"/>
          </a:ln>
        </p:spPr>
        <p:txBody>
          <a:bodyPr/>
          <a:p/>
        </p:txBody>
      </p:sp>
      <p:sp>
        <p:nvSpPr>
          <p:cNvPr id="56" name="Shape 52"/>
          <p:cNvSpPr/>
          <p:nvPr/>
        </p:nvSpPr>
        <p:spPr>
          <a:xfrm>
            <a:off x="1388059" y="5018227"/>
            <a:ext cx="341986" cy="341986"/>
          </a:xfrm>
          <a:prstGeom prst="ellipse">
            <a:avLst/>
          </a:prstGeom>
          <a:solidFill>
            <a:srgbClr val="F35E61"/>
          </a:solidFill>
          <a:ln w="8890">
            <a:solidFill>
              <a:srgbClr val="FFFFFF"/>
            </a:solidFill>
            <a:prstDash val="solid"/>
          </a:ln>
        </p:spPr>
        <p:txBody>
          <a:bodyPr/>
          <a:p/>
        </p:txBody>
      </p:sp>
      <p:sp>
        <p:nvSpPr>
          <p:cNvPr id="57" name="Shape 53"/>
          <p:cNvSpPr/>
          <p:nvPr/>
        </p:nvSpPr>
        <p:spPr>
          <a:xfrm>
            <a:off x="1890979" y="5018227"/>
            <a:ext cx="341986" cy="341986"/>
          </a:xfrm>
          <a:prstGeom prst="ellipse">
            <a:avLst/>
          </a:prstGeom>
          <a:solidFill>
            <a:srgbClr val="48A2FF"/>
          </a:solidFill>
          <a:ln w="8890">
            <a:solidFill>
              <a:srgbClr val="FFFFFF"/>
            </a:solidFill>
            <a:prstDash val="solid"/>
          </a:ln>
        </p:spPr>
        <p:txBody>
          <a:bodyPr/>
          <a:p/>
        </p:txBody>
      </p:sp>
      <p:sp>
        <p:nvSpPr>
          <p:cNvPr id="58" name="Shape 54"/>
          <p:cNvSpPr/>
          <p:nvPr/>
        </p:nvSpPr>
        <p:spPr>
          <a:xfrm>
            <a:off x="2393899" y="5018227"/>
            <a:ext cx="341986" cy="341986"/>
          </a:xfrm>
          <a:prstGeom prst="ellipse">
            <a:avLst/>
          </a:prstGeom>
          <a:solidFill>
            <a:srgbClr val="48A2FF"/>
          </a:solidFill>
          <a:ln w="8890">
            <a:solidFill>
              <a:srgbClr val="FFFFFF"/>
            </a:solidFill>
            <a:prstDash val="solid"/>
          </a:ln>
        </p:spPr>
        <p:txBody>
          <a:bodyPr/>
          <a:p/>
        </p:txBody>
      </p:sp>
      <p:sp>
        <p:nvSpPr>
          <p:cNvPr id="59" name="Shape 55"/>
          <p:cNvSpPr/>
          <p:nvPr/>
        </p:nvSpPr>
        <p:spPr>
          <a:xfrm>
            <a:off x="2896819" y="5018227"/>
            <a:ext cx="341986" cy="341986"/>
          </a:xfrm>
          <a:prstGeom prst="ellipse">
            <a:avLst/>
          </a:prstGeom>
          <a:solidFill>
            <a:srgbClr val="071B30"/>
          </a:solidFill>
          <a:ln w="8890">
            <a:solidFill>
              <a:srgbClr val="315779"/>
            </a:solidFill>
            <a:prstDash val="solid"/>
          </a:ln>
        </p:spPr>
        <p:txBody>
          <a:bodyPr/>
          <a:p/>
        </p:txBody>
      </p:sp>
      <p:sp>
        <p:nvSpPr>
          <p:cNvPr id="60" name="Shape 56"/>
          <p:cNvSpPr/>
          <p:nvPr/>
        </p:nvSpPr>
        <p:spPr>
          <a:xfrm>
            <a:off x="3399739" y="5018227"/>
            <a:ext cx="341986" cy="341986"/>
          </a:xfrm>
          <a:prstGeom prst="ellipse">
            <a:avLst/>
          </a:prstGeom>
          <a:solidFill>
            <a:srgbClr val="071B30"/>
          </a:solidFill>
          <a:ln w="8890">
            <a:solidFill>
              <a:srgbClr val="315779"/>
            </a:solidFill>
            <a:prstDash val="solid"/>
          </a:ln>
        </p:spPr>
        <p:txBody>
          <a:bodyPr/>
          <a:p/>
        </p:txBody>
      </p:sp>
      <p:sp>
        <p:nvSpPr>
          <p:cNvPr id="61" name="Shape 57"/>
          <p:cNvSpPr/>
          <p:nvPr/>
        </p:nvSpPr>
        <p:spPr>
          <a:xfrm>
            <a:off x="3902659" y="5018227"/>
            <a:ext cx="341986" cy="341986"/>
          </a:xfrm>
          <a:prstGeom prst="ellipse">
            <a:avLst/>
          </a:prstGeom>
          <a:solidFill>
            <a:srgbClr val="071B30"/>
          </a:solidFill>
          <a:ln w="8890">
            <a:solidFill>
              <a:srgbClr val="315779"/>
            </a:solidFill>
            <a:prstDash val="solid"/>
          </a:ln>
        </p:spPr>
        <p:txBody>
          <a:bodyPr/>
          <a:p/>
        </p:txBody>
      </p:sp>
      <p:sp>
        <p:nvSpPr>
          <p:cNvPr id="62" name="Shape 58"/>
          <p:cNvSpPr/>
          <p:nvPr/>
        </p:nvSpPr>
        <p:spPr>
          <a:xfrm>
            <a:off x="885139" y="5521147"/>
            <a:ext cx="341986" cy="341986"/>
          </a:xfrm>
          <a:prstGeom prst="ellipse">
            <a:avLst/>
          </a:prstGeom>
          <a:solidFill>
            <a:srgbClr val="F35E61"/>
          </a:solidFill>
          <a:ln w="8890">
            <a:solidFill>
              <a:srgbClr val="FFFFFF"/>
            </a:solidFill>
            <a:prstDash val="solid"/>
          </a:ln>
        </p:spPr>
        <p:txBody>
          <a:bodyPr/>
          <a:p/>
        </p:txBody>
      </p:sp>
      <p:sp>
        <p:nvSpPr>
          <p:cNvPr id="63" name="Shape 59"/>
          <p:cNvSpPr/>
          <p:nvPr/>
        </p:nvSpPr>
        <p:spPr>
          <a:xfrm>
            <a:off x="1388059" y="5521147"/>
            <a:ext cx="341986" cy="341986"/>
          </a:xfrm>
          <a:prstGeom prst="ellipse">
            <a:avLst/>
          </a:prstGeom>
          <a:solidFill>
            <a:srgbClr val="48A2FF"/>
          </a:solidFill>
          <a:ln w="8890">
            <a:solidFill>
              <a:srgbClr val="FFFFFF"/>
            </a:solidFill>
            <a:prstDash val="solid"/>
          </a:ln>
        </p:spPr>
        <p:txBody>
          <a:bodyPr/>
          <a:p/>
        </p:txBody>
      </p:sp>
      <p:sp>
        <p:nvSpPr>
          <p:cNvPr id="64" name="Shape 60"/>
          <p:cNvSpPr/>
          <p:nvPr/>
        </p:nvSpPr>
        <p:spPr>
          <a:xfrm>
            <a:off x="1890979" y="5521147"/>
            <a:ext cx="341986" cy="341986"/>
          </a:xfrm>
          <a:prstGeom prst="ellipse">
            <a:avLst/>
          </a:prstGeom>
          <a:solidFill>
            <a:srgbClr val="48A2FF"/>
          </a:solidFill>
          <a:ln w="8890">
            <a:solidFill>
              <a:srgbClr val="FFFFFF"/>
            </a:solidFill>
            <a:prstDash val="solid"/>
          </a:ln>
        </p:spPr>
        <p:txBody>
          <a:bodyPr/>
          <a:p/>
        </p:txBody>
      </p:sp>
      <p:sp>
        <p:nvSpPr>
          <p:cNvPr id="65" name="Shape 61"/>
          <p:cNvSpPr/>
          <p:nvPr/>
        </p:nvSpPr>
        <p:spPr>
          <a:xfrm>
            <a:off x="2393899" y="5521147"/>
            <a:ext cx="341986" cy="341986"/>
          </a:xfrm>
          <a:prstGeom prst="ellipse">
            <a:avLst/>
          </a:prstGeom>
          <a:solidFill>
            <a:srgbClr val="48A2FF"/>
          </a:solidFill>
          <a:ln w="8890">
            <a:solidFill>
              <a:srgbClr val="FFFFFF"/>
            </a:solidFill>
            <a:prstDash val="solid"/>
          </a:ln>
        </p:spPr>
        <p:txBody>
          <a:bodyPr/>
          <a:p/>
        </p:txBody>
      </p:sp>
      <p:sp>
        <p:nvSpPr>
          <p:cNvPr id="66" name="Shape 62"/>
          <p:cNvSpPr/>
          <p:nvPr/>
        </p:nvSpPr>
        <p:spPr>
          <a:xfrm>
            <a:off x="2896819" y="5521147"/>
            <a:ext cx="341986" cy="341986"/>
          </a:xfrm>
          <a:prstGeom prst="ellipse">
            <a:avLst/>
          </a:prstGeom>
          <a:solidFill>
            <a:srgbClr val="071B30"/>
          </a:solidFill>
          <a:ln w="8890">
            <a:solidFill>
              <a:srgbClr val="315779"/>
            </a:solidFill>
            <a:prstDash val="solid"/>
          </a:ln>
        </p:spPr>
        <p:txBody>
          <a:bodyPr/>
          <a:p/>
        </p:txBody>
      </p:sp>
      <p:sp>
        <p:nvSpPr>
          <p:cNvPr id="67" name="Shape 63"/>
          <p:cNvSpPr/>
          <p:nvPr/>
        </p:nvSpPr>
        <p:spPr>
          <a:xfrm>
            <a:off x="3399739" y="5521147"/>
            <a:ext cx="341986" cy="341986"/>
          </a:xfrm>
          <a:prstGeom prst="ellipse">
            <a:avLst/>
          </a:prstGeom>
          <a:solidFill>
            <a:srgbClr val="071B30"/>
          </a:solidFill>
          <a:ln w="8890">
            <a:solidFill>
              <a:srgbClr val="315779"/>
            </a:solidFill>
            <a:prstDash val="solid"/>
          </a:ln>
        </p:spPr>
        <p:txBody>
          <a:bodyPr/>
          <a:p/>
        </p:txBody>
      </p:sp>
      <p:sp>
        <p:nvSpPr>
          <p:cNvPr id="68" name="Shape 64"/>
          <p:cNvSpPr/>
          <p:nvPr/>
        </p:nvSpPr>
        <p:spPr>
          <a:xfrm>
            <a:off x="3902659" y="5521147"/>
            <a:ext cx="341986" cy="341986"/>
          </a:xfrm>
          <a:prstGeom prst="ellipse">
            <a:avLst/>
          </a:prstGeom>
          <a:solidFill>
            <a:srgbClr val="071B30"/>
          </a:solidFill>
          <a:ln w="8890">
            <a:solidFill>
              <a:srgbClr val="315779"/>
            </a:solidFill>
            <a:prstDash val="solid"/>
          </a:ln>
        </p:spPr>
        <p:txBody>
          <a:bodyPr/>
          <a:p/>
        </p:txBody>
      </p:sp>
      <p:sp>
        <p:nvSpPr>
          <p:cNvPr id="69" name="Text 65"/>
          <p:cNvSpPr/>
          <p:nvPr/>
        </p:nvSpPr>
        <p:spPr>
          <a:xfrm>
            <a:off x="722376" y="6291072"/>
            <a:ext cx="4023360" cy="155448"/>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557087"/>
                </a:solidFill>
                <a:latin typeface="Inter" pitchFamily="34" charset="0"/>
                <a:ea typeface="Inter" pitchFamily="34" charset="-122"/>
                <a:cs typeface="Inter" pitchFamily="34" charset="-120"/>
              </a:rPr>
              <a:t>BEISPIEL: DIAGONALE VIERERREIHE</a:t>
            </a:r>
            <a:endParaRPr lang="en-US" sz="940" dirty="0"/>
          </a:p>
        </p:txBody>
      </p:sp>
      <p:sp>
        <p:nvSpPr>
          <p:cNvPr id="70" name="Shape 66"/>
          <p:cNvSpPr/>
          <p:nvPr/>
        </p:nvSpPr>
        <p:spPr>
          <a:xfrm>
            <a:off x="5020056" y="2706624"/>
            <a:ext cx="6437376" cy="950976"/>
          </a:xfrm>
          <a:prstGeom prst="roundRect">
            <a:avLst>
              <a:gd name="adj" fmla="val 12500"/>
            </a:avLst>
          </a:prstGeom>
          <a:solidFill>
            <a:srgbClr val="FFFFFF"/>
          </a:solidFill>
          <a:ln w="8255">
            <a:solidFill>
              <a:srgbClr val="D8E3EE"/>
            </a:solidFill>
            <a:prstDash val="solid"/>
          </a:ln>
        </p:spPr>
        <p:txBody>
          <a:bodyPr/>
          <a:p/>
        </p:txBody>
      </p:sp>
      <p:sp>
        <p:nvSpPr>
          <p:cNvPr id="71" name="Text 67"/>
          <p:cNvSpPr/>
          <p:nvPr/>
        </p:nvSpPr>
        <p:spPr>
          <a:xfrm>
            <a:off x="5303520" y="2962656"/>
            <a:ext cx="5971032" cy="411480"/>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10263D"/>
                </a:solidFill>
                <a:latin typeface="Inter" pitchFamily="34" charset="0"/>
                <a:ea typeface="Inter" pitchFamily="34" charset="-122"/>
                <a:cs typeface="Inter" pitchFamily="34" charset="-120"/>
              </a:rPr>
              <a:t>Horizontal   ·   Vertikal   ·   Diagonal ↘   ·   Diagonal ↙</a:t>
            </a:r>
            <a:endParaRPr lang="en-US" sz="1400" dirty="0"/>
          </a:p>
        </p:txBody>
      </p:sp>
      <p:sp>
        <p:nvSpPr>
          <p:cNvPr id="72" name="Shape 68"/>
          <p:cNvSpPr/>
          <p:nvPr/>
        </p:nvSpPr>
        <p:spPr>
          <a:xfrm>
            <a:off x="5020056" y="3858768"/>
            <a:ext cx="6437376" cy="1828800"/>
          </a:xfrm>
          <a:prstGeom prst="roundRect">
            <a:avLst>
              <a:gd name="adj" fmla="val 8000"/>
            </a:avLst>
          </a:prstGeom>
          <a:solidFill>
            <a:srgbClr val="071B30"/>
          </a:solidFill>
          <a:ln w="12700">
            <a:solidFill>
              <a:srgbClr val="071B30">
                <a:alpha val="0"/>
              </a:srgbClr>
            </a:solidFill>
            <a:prstDash val="solid"/>
          </a:ln>
        </p:spPr>
        <p:txBody>
          <a:bodyPr/>
          <a:p/>
        </p:txBody>
      </p:sp>
      <p:sp>
        <p:nvSpPr>
          <p:cNvPr id="73" name="Shape 69"/>
          <p:cNvSpPr/>
          <p:nvPr/>
        </p:nvSpPr>
        <p:spPr>
          <a:xfrm>
            <a:off x="5020056" y="3858768"/>
            <a:ext cx="6437376" cy="384048"/>
          </a:xfrm>
          <a:prstGeom prst="roundRect">
            <a:avLst>
              <a:gd name="adj" fmla="val 33333"/>
            </a:avLst>
          </a:prstGeom>
          <a:solidFill>
            <a:srgbClr val="102D4A"/>
          </a:solidFill>
          <a:ln w="12700">
            <a:solidFill>
              <a:srgbClr val="102D4A">
                <a:alpha val="0"/>
              </a:srgbClr>
            </a:solidFill>
            <a:prstDash val="solid"/>
          </a:ln>
        </p:spPr>
        <p:txBody>
          <a:bodyPr/>
          <a:p/>
        </p:txBody>
      </p:sp>
      <p:sp>
        <p:nvSpPr>
          <p:cNvPr id="74" name="Shape 70"/>
          <p:cNvSpPr/>
          <p:nvPr/>
        </p:nvSpPr>
        <p:spPr>
          <a:xfrm>
            <a:off x="5180076" y="4000500"/>
            <a:ext cx="100584" cy="100584"/>
          </a:xfrm>
          <a:prstGeom prst="ellipse">
            <a:avLst/>
          </a:prstGeom>
          <a:solidFill>
            <a:srgbClr val="F07478"/>
          </a:solidFill>
          <a:ln w="12700">
            <a:solidFill>
              <a:srgbClr val="FFFFFF">
                <a:alpha val="0"/>
              </a:srgbClr>
            </a:solidFill>
            <a:prstDash val="solid"/>
          </a:ln>
        </p:spPr>
        <p:txBody>
          <a:bodyPr/>
          <a:p/>
        </p:txBody>
      </p:sp>
      <p:sp>
        <p:nvSpPr>
          <p:cNvPr id="75" name="Shape 71"/>
          <p:cNvSpPr/>
          <p:nvPr/>
        </p:nvSpPr>
        <p:spPr>
          <a:xfrm>
            <a:off x="5344668" y="4000500"/>
            <a:ext cx="100584" cy="100584"/>
          </a:xfrm>
          <a:prstGeom prst="ellipse">
            <a:avLst/>
          </a:prstGeom>
          <a:solidFill>
            <a:srgbClr val="E3B55D"/>
          </a:solidFill>
          <a:ln w="12700">
            <a:solidFill>
              <a:srgbClr val="FFFFFF">
                <a:alpha val="0"/>
              </a:srgbClr>
            </a:solidFill>
            <a:prstDash val="solid"/>
          </a:ln>
        </p:spPr>
        <p:txBody>
          <a:bodyPr/>
          <a:p/>
        </p:txBody>
      </p:sp>
      <p:sp>
        <p:nvSpPr>
          <p:cNvPr id="76" name="Shape 72"/>
          <p:cNvSpPr/>
          <p:nvPr/>
        </p:nvSpPr>
        <p:spPr>
          <a:xfrm>
            <a:off x="5509260" y="4000500"/>
            <a:ext cx="100584" cy="100584"/>
          </a:xfrm>
          <a:prstGeom prst="ellipse">
            <a:avLst/>
          </a:prstGeom>
          <a:solidFill>
            <a:srgbClr val="57C1AB"/>
          </a:solidFill>
          <a:ln w="12700">
            <a:solidFill>
              <a:srgbClr val="FFFFFF">
                <a:alpha val="0"/>
              </a:srgbClr>
            </a:solidFill>
            <a:prstDash val="solid"/>
          </a:ln>
        </p:spPr>
        <p:txBody>
          <a:bodyPr/>
          <a:p/>
        </p:txBody>
      </p:sp>
      <p:sp>
        <p:nvSpPr>
          <p:cNvPr id="77" name="Text 73"/>
          <p:cNvSpPr/>
          <p:nvPr/>
        </p:nvSpPr>
        <p:spPr>
          <a:xfrm>
            <a:off x="5257800" y="4462272"/>
            <a:ext cx="5980176" cy="1060704"/>
          </a:xfrm>
          <a:prstGeom prst="rect">
            <a:avLst/>
          </a:prstGeom>
          <a:noFill/>
          <a:ln/>
        </p:spPr>
        <p:txBody>
          <a:bodyPr wrap="square" lIns="0" tIns="0" rIns="0" bIns="0" rtlCol="0" anchor="t">
            <a:normAutofit/>
          </a:bodyPr>
          <a:lstStyle/>
          <a:p>
            <a:pPr algn="l" indent="0" marL="0">
              <a:lnSpc>
                <a:spcPct val="100000"/>
              </a:lnSpc>
              <a:buNone/>
            </a:pPr>
            <a:r>
              <a:rPr lang="en-US" sz="1390" dirty="0">
                <a:solidFill>
                  <a:srgbClr val="E2F5FF"/>
                </a:solidFill>
                <a:latin typeface="Liberation Mono" pitchFamily="34" charset="0"/>
                <a:ea typeface="Liberation Mono" pitchFamily="34" charset="-122"/>
                <a:cs typeface="Liberation Mono" pitchFamily="34" charset="-120"/>
              </a:rPr>
              <a:t>int length = 1</a:t>
            </a:r>
            <a:endParaRPr lang="en-US" sz="1390" dirty="0"/>
          </a:p>
          <a:p>
            <a:pPr algn="l" indent="0" marL="0">
              <a:lnSpc>
                <a:spcPct val="100000"/>
              </a:lnSpc>
              <a:buNone/>
            </a:pPr>
            <a:r>
              <a:rPr lang="en-US" sz="1390" dirty="0">
                <a:solidFill>
                  <a:srgbClr val="E2F5FF"/>
                </a:solidFill>
                <a:latin typeface="Liberation Mono" pitchFamily="34" charset="0"/>
                <a:ea typeface="Liberation Mono" pitchFamily="34" charset="-122"/>
                <a:cs typeface="Liberation Mono" pitchFamily="34" charset="-120"/>
              </a:rPr>
              <a:t>  + countDirection(...,  dr,  dc, symbol)</a:t>
            </a:r>
            <a:endParaRPr lang="en-US" sz="1390" dirty="0"/>
          </a:p>
          <a:p>
            <a:pPr algn="l" indent="0" marL="0">
              <a:lnSpc>
                <a:spcPct val="100000"/>
              </a:lnSpc>
              <a:buNone/>
            </a:pPr>
            <a:r>
              <a:rPr lang="en-US" sz="1390" dirty="0">
                <a:solidFill>
                  <a:srgbClr val="E2F5FF"/>
                </a:solidFill>
                <a:latin typeface="Liberation Mono" pitchFamily="34" charset="0"/>
                <a:ea typeface="Liberation Mono" pitchFamily="34" charset="-122"/>
                <a:cs typeface="Liberation Mono" pitchFamily="34" charset="-120"/>
              </a:rPr>
              <a:t>  + countDirection(..., -dr, -dc, symbol);</a:t>
            </a:r>
            <a:endParaRPr lang="en-US" sz="1390" dirty="0"/>
          </a:p>
          <a:p>
            <a:pPr algn="l" indent="0" marL="0">
              <a:lnSpc>
                <a:spcPct val="100000"/>
              </a:lnSpc>
              <a:buNone/>
            </a:pPr>
            <a:r>
              <a:rPr lang="en-US" sz="1390" dirty="0">
                <a:solidFill>
                  <a:srgbClr val="E2F5FF"/>
                </a:solidFill>
                <a:latin typeface="Liberation Mono" pitchFamily="34" charset="0"/>
                <a:ea typeface="Liberation Mono" pitchFamily="34" charset="-122"/>
                <a:cs typeface="Liberation Mono" pitchFamily="34" charset="-120"/>
              </a:rPr>
              <a:t>if (length &gt;= 4) return true;</a:t>
            </a:r>
            <a:endParaRPr lang="en-US" sz="1390" dirty="0"/>
          </a:p>
        </p:txBody>
      </p:sp>
      <p:sp>
        <p:nvSpPr>
          <p:cNvPr id="78" name="Text 74"/>
          <p:cNvSpPr/>
          <p:nvPr/>
        </p:nvSpPr>
        <p:spPr>
          <a:xfrm>
            <a:off x="5129784" y="5952744"/>
            <a:ext cx="6236208" cy="347472"/>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557087"/>
                </a:solidFill>
                <a:latin typeface="Inter" pitchFamily="34" charset="0"/>
                <a:ea typeface="Inter" pitchFamily="34" charset="-122"/>
                <a:cs typeface="Inter" pitchFamily="34" charset="-120"/>
              </a:rPr>
              <a:t>Nur vier Achsen nötig: jede deckt ihre Gegenrichtung mit ab.</a:t>
            </a:r>
            <a:endParaRPr lang="en-US" sz="11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09  /  PERSISTENZ</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Spielstände sichern und kontrolliert laden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Die Partie wird lokal als Text gespeichert. Beim Laden wird zuerst geprüft, danach übernommen.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09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594360" y="2651760"/>
            <a:ext cx="5148072" cy="3493008"/>
          </a:xfrm>
          <a:prstGeom prst="roundRect">
            <a:avLst>
              <a:gd name="adj" fmla="val 3403"/>
            </a:avLst>
          </a:prstGeom>
          <a:solidFill>
            <a:srgbClr val="0A2544"/>
          </a:solidFill>
          <a:ln w="8255">
            <a:solidFill>
              <a:srgbClr val="245072"/>
            </a:solidFill>
            <a:prstDash val="solid"/>
          </a:ln>
        </p:spPr>
        <p:txBody>
          <a:bodyPr/>
          <a:p/>
        </p:txBody>
      </p:sp>
      <p:sp>
        <p:nvSpPr>
          <p:cNvPr id="27" name="Text 23"/>
          <p:cNvSpPr/>
          <p:nvPr/>
        </p:nvSpPr>
        <p:spPr>
          <a:xfrm>
            <a:off x="868680" y="2907792"/>
            <a:ext cx="4480560" cy="256032"/>
          </a:xfrm>
          <a:prstGeom prst="rect">
            <a:avLst/>
          </a:prstGeom>
          <a:noFill/>
          <a:ln/>
        </p:spPr>
        <p:txBody>
          <a:bodyPr wrap="square" lIns="0" tIns="0" rIns="0" bIns="0" rtlCol="0" anchor="ctr">
            <a:normAutofit/>
          </a:bodyPr>
          <a:lstStyle/>
          <a:p>
            <a:pPr algn="l" indent="0" marL="0">
              <a:lnSpc>
                <a:spcPct val="100000"/>
              </a:lnSpc>
              <a:buNone/>
            </a:pPr>
            <a:r>
              <a:rPr lang="en-US" sz="1110" b="1" spc="100" kern="0" dirty="0">
                <a:solidFill>
                  <a:srgbClr val="35C8EF"/>
                </a:solidFill>
                <a:latin typeface="Inter" pitchFamily="34" charset="0"/>
                <a:ea typeface="Inter" pitchFamily="34" charset="-122"/>
                <a:cs typeface="Inter" pitchFamily="34" charset="-120"/>
              </a:rPr>
              <a:t>SAVEGAME-FORMAT</a:t>
            </a:r>
            <a:endParaRPr lang="en-US" sz="1110" dirty="0"/>
          </a:p>
        </p:txBody>
      </p:sp>
      <p:sp>
        <p:nvSpPr>
          <p:cNvPr id="28" name="Text 24"/>
          <p:cNvSpPr/>
          <p:nvPr/>
        </p:nvSpPr>
        <p:spPr>
          <a:xfrm>
            <a:off x="896112" y="3474720"/>
            <a:ext cx="4389120" cy="1965960"/>
          </a:xfrm>
          <a:prstGeom prst="rect">
            <a:avLst/>
          </a:prstGeom>
          <a:noFill/>
          <a:ln/>
        </p:spPr>
        <p:txBody>
          <a:bodyPr wrap="square" lIns="0" tIns="0" rIns="0" bIns="0" rtlCol="0" anchor="t">
            <a:normAutofit/>
          </a:bodyPr>
          <a:lstStyle/>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GYM1</a:t>
            </a:r>
            <a:endParaRPr lang="en-US" sz="1840" dirty="0"/>
          </a:p>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2 1 6 7 3</a:t>
            </a:r>
            <a:endParaRPr lang="en-US" sz="1840" dirty="0"/>
          </a:p>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"Julian" R</a:t>
            </a:r>
            <a:endParaRPr lang="en-US" sz="1840" dirty="0"/>
          </a:p>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"Daniel" B</a:t>
            </a:r>
            <a:endParaRPr lang="en-US" sz="1840" dirty="0"/>
          </a:p>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 Zugliste ...</a:t>
            </a:r>
            <a:endParaRPr lang="en-US" sz="1840" dirty="0"/>
          </a:p>
          <a:p>
            <a:pPr algn="l" indent="0" marL="0">
              <a:lnSpc>
                <a:spcPct val="100000"/>
              </a:lnSpc>
              <a:buNone/>
            </a:pPr>
            <a:r>
              <a:rPr lang="en-US" sz="1840" dirty="0">
                <a:solidFill>
                  <a:srgbClr val="FFFFFF"/>
                </a:solidFill>
                <a:latin typeface="Liberation Mono" pitchFamily="34" charset="0"/>
                <a:ea typeface="Liberation Mono" pitchFamily="34" charset="-122"/>
                <a:cs typeface="Liberation Mono" pitchFamily="34" charset="-120"/>
              </a:rPr>
              <a:t>... Spielfeld ...</a:t>
            </a:r>
            <a:endParaRPr lang="en-US" sz="1840" dirty="0"/>
          </a:p>
        </p:txBody>
      </p:sp>
      <p:sp>
        <p:nvSpPr>
          <p:cNvPr id="29" name="Text 25"/>
          <p:cNvSpPr/>
          <p:nvPr/>
        </p:nvSpPr>
        <p:spPr>
          <a:xfrm>
            <a:off x="877824" y="5687568"/>
            <a:ext cx="4507992" cy="219456"/>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A7BDD0"/>
                </a:solidFill>
                <a:latin typeface="Inter" pitchFamily="34" charset="0"/>
                <a:ea typeface="Inter" pitchFamily="34" charset="-122"/>
                <a:cs typeface="Inter" pitchFamily="34" charset="-120"/>
              </a:rPr>
              <a:t>Schematischer Ausschnitt · Formatversion + Zustand</a:t>
            </a:r>
            <a:endParaRPr lang="en-US" sz="950" dirty="0"/>
          </a:p>
        </p:txBody>
      </p:sp>
      <p:sp>
        <p:nvSpPr>
          <p:cNvPr id="30" name="Shape 26"/>
          <p:cNvSpPr/>
          <p:nvPr/>
        </p:nvSpPr>
        <p:spPr>
          <a:xfrm>
            <a:off x="6071616" y="2770632"/>
            <a:ext cx="1685544" cy="2441448"/>
          </a:xfrm>
          <a:prstGeom prst="roundRect">
            <a:avLst>
              <a:gd name="adj" fmla="val 7052"/>
            </a:avLst>
          </a:prstGeom>
          <a:solidFill>
            <a:srgbClr val="FFFFFF"/>
          </a:solidFill>
          <a:ln w="8255">
            <a:solidFill>
              <a:srgbClr val="D8E3EE"/>
            </a:solidFill>
            <a:prstDash val="solid"/>
          </a:ln>
        </p:spPr>
        <p:txBody>
          <a:bodyPr/>
          <a:p/>
        </p:txBody>
      </p:sp>
      <p:sp>
        <p:nvSpPr>
          <p:cNvPr id="31" name="Shape 27"/>
          <p:cNvSpPr/>
          <p:nvPr/>
        </p:nvSpPr>
        <p:spPr>
          <a:xfrm>
            <a:off x="6071616" y="2770632"/>
            <a:ext cx="50292" cy="2441448"/>
          </a:xfrm>
          <a:prstGeom prst="rect">
            <a:avLst/>
          </a:prstGeom>
          <a:solidFill>
            <a:srgbClr val="2478F6"/>
          </a:solidFill>
          <a:ln w="12700">
            <a:solidFill>
              <a:srgbClr val="2478F6">
                <a:alpha val="0"/>
              </a:srgbClr>
            </a:solidFill>
            <a:prstDash val="solid"/>
          </a:ln>
        </p:spPr>
        <p:txBody>
          <a:bodyPr/>
          <a:p/>
        </p:txBody>
      </p:sp>
      <p:sp>
        <p:nvSpPr>
          <p:cNvPr id="32" name="Text 28"/>
          <p:cNvSpPr/>
          <p:nvPr/>
        </p:nvSpPr>
        <p:spPr>
          <a:xfrm>
            <a:off x="6245352" y="2953512"/>
            <a:ext cx="135636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01</a:t>
            </a:r>
            <a:endParaRPr lang="en-US" sz="1100" dirty="0"/>
          </a:p>
        </p:txBody>
      </p:sp>
      <p:sp>
        <p:nvSpPr>
          <p:cNvPr id="33" name="Text 29"/>
          <p:cNvSpPr/>
          <p:nvPr/>
        </p:nvSpPr>
        <p:spPr>
          <a:xfrm>
            <a:off x="6236208" y="3300984"/>
            <a:ext cx="1365504"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Einlesen</a:t>
            </a:r>
            <a:endParaRPr lang="en-US" sz="1520" dirty="0"/>
          </a:p>
        </p:txBody>
      </p:sp>
      <p:sp>
        <p:nvSpPr>
          <p:cNvPr id="34" name="Text 30"/>
          <p:cNvSpPr/>
          <p:nvPr/>
        </p:nvSpPr>
        <p:spPr>
          <a:xfrm>
            <a:off x="6236208" y="3712464"/>
            <a:ext cx="1392936"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Signatur, Dimensionen, Namen und Züge prüfen</a:t>
            </a:r>
            <a:endParaRPr lang="en-US" sz="1140" dirty="0"/>
          </a:p>
        </p:txBody>
      </p:sp>
      <p:sp>
        <p:nvSpPr>
          <p:cNvPr id="35" name="Text 31"/>
          <p:cNvSpPr/>
          <p:nvPr/>
        </p:nvSpPr>
        <p:spPr>
          <a:xfrm>
            <a:off x="7743444" y="3364992"/>
            <a:ext cx="256032" cy="41148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2478F6"/>
                </a:solidFill>
                <a:latin typeface="Inter" pitchFamily="34" charset="0"/>
                <a:ea typeface="Inter" pitchFamily="34" charset="-122"/>
                <a:cs typeface="Inter" pitchFamily="34" charset="-120"/>
              </a:rPr>
              <a:t>›</a:t>
            </a:r>
            <a:endParaRPr lang="en-US" sz="2600" dirty="0"/>
          </a:p>
        </p:txBody>
      </p:sp>
      <p:sp>
        <p:nvSpPr>
          <p:cNvPr id="36" name="Shape 32"/>
          <p:cNvSpPr/>
          <p:nvPr/>
        </p:nvSpPr>
        <p:spPr>
          <a:xfrm>
            <a:off x="7958328" y="2770632"/>
            <a:ext cx="1685544" cy="2441448"/>
          </a:xfrm>
          <a:prstGeom prst="roundRect">
            <a:avLst>
              <a:gd name="adj" fmla="val 7052"/>
            </a:avLst>
          </a:prstGeom>
          <a:solidFill>
            <a:srgbClr val="FFFFFF"/>
          </a:solidFill>
          <a:ln w="8255">
            <a:solidFill>
              <a:srgbClr val="D8E3EE"/>
            </a:solidFill>
            <a:prstDash val="solid"/>
          </a:ln>
        </p:spPr>
        <p:txBody>
          <a:bodyPr/>
          <a:p/>
        </p:txBody>
      </p:sp>
      <p:sp>
        <p:nvSpPr>
          <p:cNvPr id="37" name="Shape 33"/>
          <p:cNvSpPr/>
          <p:nvPr/>
        </p:nvSpPr>
        <p:spPr>
          <a:xfrm>
            <a:off x="7958328" y="2770632"/>
            <a:ext cx="50292" cy="2441448"/>
          </a:xfrm>
          <a:prstGeom prst="rect">
            <a:avLst/>
          </a:prstGeom>
          <a:solidFill>
            <a:srgbClr val="2478F6"/>
          </a:solidFill>
          <a:ln w="12700">
            <a:solidFill>
              <a:srgbClr val="2478F6">
                <a:alpha val="0"/>
              </a:srgbClr>
            </a:solidFill>
            <a:prstDash val="solid"/>
          </a:ln>
        </p:spPr>
        <p:txBody>
          <a:bodyPr/>
          <a:p/>
        </p:txBody>
      </p:sp>
      <p:sp>
        <p:nvSpPr>
          <p:cNvPr id="38" name="Text 34"/>
          <p:cNvSpPr/>
          <p:nvPr/>
        </p:nvSpPr>
        <p:spPr>
          <a:xfrm>
            <a:off x="8132064" y="2953512"/>
            <a:ext cx="135636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02</a:t>
            </a:r>
            <a:endParaRPr lang="en-US" sz="1100" dirty="0"/>
          </a:p>
        </p:txBody>
      </p:sp>
      <p:sp>
        <p:nvSpPr>
          <p:cNvPr id="39" name="Text 35"/>
          <p:cNvSpPr/>
          <p:nvPr/>
        </p:nvSpPr>
        <p:spPr>
          <a:xfrm>
            <a:off x="8122920" y="3300984"/>
            <a:ext cx="1365504"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Rekonstruieren</a:t>
            </a:r>
            <a:endParaRPr lang="en-US" sz="1520" dirty="0"/>
          </a:p>
        </p:txBody>
      </p:sp>
      <p:sp>
        <p:nvSpPr>
          <p:cNvPr id="40" name="Text 36"/>
          <p:cNvSpPr/>
          <p:nvPr/>
        </p:nvSpPr>
        <p:spPr>
          <a:xfrm>
            <a:off x="8122920" y="3712464"/>
            <a:ext cx="1392936"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Temporäres Board für gültige Spielzüge</a:t>
            </a:r>
            <a:endParaRPr lang="en-US" sz="1140" dirty="0"/>
          </a:p>
        </p:txBody>
      </p:sp>
      <p:sp>
        <p:nvSpPr>
          <p:cNvPr id="41" name="Text 37"/>
          <p:cNvSpPr/>
          <p:nvPr/>
        </p:nvSpPr>
        <p:spPr>
          <a:xfrm>
            <a:off x="9630156" y="3364992"/>
            <a:ext cx="256032" cy="41148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2478F6"/>
                </a:solidFill>
                <a:latin typeface="Inter" pitchFamily="34" charset="0"/>
                <a:ea typeface="Inter" pitchFamily="34" charset="-122"/>
                <a:cs typeface="Inter" pitchFamily="34" charset="-120"/>
              </a:rPr>
              <a:t>›</a:t>
            </a:r>
            <a:endParaRPr lang="en-US" sz="2600" dirty="0"/>
          </a:p>
        </p:txBody>
      </p:sp>
      <p:sp>
        <p:nvSpPr>
          <p:cNvPr id="42" name="Shape 38"/>
          <p:cNvSpPr/>
          <p:nvPr/>
        </p:nvSpPr>
        <p:spPr>
          <a:xfrm>
            <a:off x="9845040" y="2770632"/>
            <a:ext cx="1685544" cy="2441448"/>
          </a:xfrm>
          <a:prstGeom prst="roundRect">
            <a:avLst>
              <a:gd name="adj" fmla="val 7052"/>
            </a:avLst>
          </a:prstGeom>
          <a:solidFill>
            <a:srgbClr val="FFFFFF"/>
          </a:solidFill>
          <a:ln w="8255">
            <a:solidFill>
              <a:srgbClr val="D8E3EE"/>
            </a:solidFill>
            <a:prstDash val="solid"/>
          </a:ln>
        </p:spPr>
        <p:txBody>
          <a:bodyPr/>
          <a:p/>
        </p:txBody>
      </p:sp>
      <p:sp>
        <p:nvSpPr>
          <p:cNvPr id="43" name="Shape 39"/>
          <p:cNvSpPr/>
          <p:nvPr/>
        </p:nvSpPr>
        <p:spPr>
          <a:xfrm>
            <a:off x="9845040" y="2770632"/>
            <a:ext cx="50292" cy="2441448"/>
          </a:xfrm>
          <a:prstGeom prst="rect">
            <a:avLst/>
          </a:prstGeom>
          <a:solidFill>
            <a:srgbClr val="2478F6"/>
          </a:solidFill>
          <a:ln w="12700">
            <a:solidFill>
              <a:srgbClr val="2478F6">
                <a:alpha val="0"/>
              </a:srgbClr>
            </a:solidFill>
            <a:prstDash val="solid"/>
          </a:ln>
        </p:spPr>
        <p:txBody>
          <a:bodyPr/>
          <a:p/>
        </p:txBody>
      </p:sp>
      <p:sp>
        <p:nvSpPr>
          <p:cNvPr id="44" name="Text 40"/>
          <p:cNvSpPr/>
          <p:nvPr/>
        </p:nvSpPr>
        <p:spPr>
          <a:xfrm>
            <a:off x="10018776" y="2953512"/>
            <a:ext cx="135636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78F6"/>
                </a:solidFill>
                <a:latin typeface="Inter" pitchFamily="34" charset="0"/>
                <a:ea typeface="Inter" pitchFamily="34" charset="-122"/>
                <a:cs typeface="Inter" pitchFamily="34" charset="-120"/>
              </a:rPr>
              <a:t>03</a:t>
            </a:r>
            <a:endParaRPr lang="en-US" sz="1100" dirty="0"/>
          </a:p>
        </p:txBody>
      </p:sp>
      <p:sp>
        <p:nvSpPr>
          <p:cNvPr id="45" name="Text 41"/>
          <p:cNvSpPr/>
          <p:nvPr/>
        </p:nvSpPr>
        <p:spPr>
          <a:xfrm>
            <a:off x="10009632" y="3300984"/>
            <a:ext cx="1365504" cy="320040"/>
          </a:xfrm>
          <a:prstGeom prst="rect">
            <a:avLst/>
          </a:prstGeom>
          <a:noFill/>
          <a:ln/>
        </p:spPr>
        <p:txBody>
          <a:bodyPr wrap="square" lIns="0" tIns="0" rIns="0" bIns="0" rtlCol="0" anchor="ctr">
            <a:normAutofit/>
          </a:bodyPr>
          <a:lstStyle/>
          <a:p>
            <a:pPr algn="l" indent="0" marL="0">
              <a:lnSpc>
                <a:spcPct val="100000"/>
              </a:lnSpc>
              <a:buNone/>
            </a:pPr>
            <a:r>
              <a:rPr lang="en-US" sz="1520" b="1" dirty="0">
                <a:solidFill>
                  <a:srgbClr val="10263D"/>
                </a:solidFill>
                <a:latin typeface="Inter" pitchFamily="34" charset="0"/>
                <a:ea typeface="Inter" pitchFamily="34" charset="-122"/>
                <a:cs typeface="Inter" pitchFamily="34" charset="-120"/>
              </a:rPr>
              <a:t>Übernehmen</a:t>
            </a:r>
            <a:endParaRPr lang="en-US" sz="1520" dirty="0"/>
          </a:p>
        </p:txBody>
      </p:sp>
      <p:sp>
        <p:nvSpPr>
          <p:cNvPr id="46" name="Text 42"/>
          <p:cNvSpPr/>
          <p:nvPr/>
        </p:nvSpPr>
        <p:spPr>
          <a:xfrm>
            <a:off x="10009632" y="3712464"/>
            <a:ext cx="1392936" cy="585216"/>
          </a:xfrm>
          <a:prstGeom prst="rect">
            <a:avLst/>
          </a:prstGeom>
          <a:noFill/>
          <a:ln/>
        </p:spPr>
        <p:txBody>
          <a:bodyPr wrap="square" lIns="0" tIns="0" rIns="0" bIns="0" rtlCol="0" anchor="t">
            <a:normAutofit/>
          </a:bodyPr>
          <a:lstStyle/>
          <a:p>
            <a:pPr algn="l" indent="0" marL="0">
              <a:lnSpc>
                <a:spcPct val="100000"/>
              </a:lnSpc>
              <a:buNone/>
            </a:pPr>
            <a:r>
              <a:rPr lang="en-US" sz="1140" dirty="0">
                <a:solidFill>
                  <a:srgbClr val="557087"/>
                </a:solidFill>
                <a:latin typeface="Inter" pitchFamily="34" charset="0"/>
                <a:ea typeface="Inter" pitchFamily="34" charset="-122"/>
                <a:cs typeface="Inter" pitchFamily="34" charset="-120"/>
              </a:rPr>
              <a:t>Erst nach Validierung echten Zustand ersetzen</a:t>
            </a:r>
            <a:endParaRPr lang="en-US" sz="1140" dirty="0"/>
          </a:p>
        </p:txBody>
      </p:sp>
      <p:sp>
        <p:nvSpPr>
          <p:cNvPr id="47" name="Text 43"/>
          <p:cNvSpPr/>
          <p:nvPr/>
        </p:nvSpPr>
        <p:spPr>
          <a:xfrm>
            <a:off x="6190488" y="5623560"/>
            <a:ext cx="5239512" cy="438912"/>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557087"/>
                </a:solidFill>
                <a:latin typeface="Inter" pitchFamily="34" charset="0"/>
                <a:ea typeface="Inter" pitchFamily="34" charset="-122"/>
                <a:cs typeface="Inter" pitchFamily="34" charset="-120"/>
              </a:rPr>
              <a:t>Fehlerhafte Dateien → Laden ablehnen, Spielzustand bleibt erhalten.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10  /  FUNKTIONEN</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Mehr als nur Steine setzen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Ergänzende Konsolenbefehle verbessern die Bedienbarkeit, ohne die Regeln zu verändern.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10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67512" y="2715768"/>
            <a:ext cx="3456432" cy="1298448"/>
          </a:xfrm>
          <a:prstGeom prst="roundRect">
            <a:avLst>
              <a:gd name="adj" fmla="val 9155"/>
            </a:avLst>
          </a:prstGeom>
          <a:solidFill>
            <a:srgbClr val="FFFFFF"/>
          </a:solidFill>
          <a:ln w="8255">
            <a:solidFill>
              <a:srgbClr val="D8E3EE"/>
            </a:solidFill>
            <a:prstDash val="solid"/>
          </a:ln>
        </p:spPr>
        <p:txBody>
          <a:bodyPr/>
          <a:p/>
        </p:txBody>
      </p:sp>
      <p:sp>
        <p:nvSpPr>
          <p:cNvPr id="27" name="Shape 23"/>
          <p:cNvSpPr/>
          <p:nvPr/>
        </p:nvSpPr>
        <p:spPr>
          <a:xfrm>
            <a:off x="822960" y="2916936"/>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28" name="Text 24"/>
          <p:cNvSpPr/>
          <p:nvPr/>
        </p:nvSpPr>
        <p:spPr>
          <a:xfrm>
            <a:off x="841248" y="3026664"/>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V 4</a:t>
            </a:r>
            <a:endParaRPr lang="en-US" sz="1600" dirty="0"/>
          </a:p>
        </p:txBody>
      </p:sp>
      <p:sp>
        <p:nvSpPr>
          <p:cNvPr id="29" name="Text 25"/>
          <p:cNvSpPr/>
          <p:nvPr/>
        </p:nvSpPr>
        <p:spPr>
          <a:xfrm>
            <a:off x="1645920" y="2953512"/>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Spaltenvorschau</a:t>
            </a:r>
            <a:endParaRPr lang="en-US" sz="1380" dirty="0"/>
          </a:p>
        </p:txBody>
      </p:sp>
      <p:sp>
        <p:nvSpPr>
          <p:cNvPr id="30" name="Text 26"/>
          <p:cNvSpPr/>
          <p:nvPr/>
        </p:nvSpPr>
        <p:spPr>
          <a:xfrm>
            <a:off x="1645920" y="3447288"/>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nur Anzeige</a:t>
            </a:r>
            <a:endParaRPr lang="en-US" sz="1070" dirty="0"/>
          </a:p>
        </p:txBody>
      </p:sp>
      <p:sp>
        <p:nvSpPr>
          <p:cNvPr id="31" name="Shape 27"/>
          <p:cNvSpPr/>
          <p:nvPr/>
        </p:nvSpPr>
        <p:spPr>
          <a:xfrm>
            <a:off x="4407408" y="2715768"/>
            <a:ext cx="3456432" cy="1298448"/>
          </a:xfrm>
          <a:prstGeom prst="roundRect">
            <a:avLst>
              <a:gd name="adj" fmla="val 9155"/>
            </a:avLst>
          </a:prstGeom>
          <a:solidFill>
            <a:srgbClr val="FFFFFF"/>
          </a:solidFill>
          <a:ln w="8255">
            <a:solidFill>
              <a:srgbClr val="D8E3EE"/>
            </a:solidFill>
            <a:prstDash val="solid"/>
          </a:ln>
        </p:spPr>
        <p:txBody>
          <a:bodyPr/>
          <a:p/>
        </p:txBody>
      </p:sp>
      <p:sp>
        <p:nvSpPr>
          <p:cNvPr id="32" name="Shape 28"/>
          <p:cNvSpPr/>
          <p:nvPr/>
        </p:nvSpPr>
        <p:spPr>
          <a:xfrm>
            <a:off x="4562856" y="2916936"/>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33" name="Text 29"/>
          <p:cNvSpPr/>
          <p:nvPr/>
        </p:nvSpPr>
        <p:spPr>
          <a:xfrm>
            <a:off x="4581144" y="3026664"/>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U</a:t>
            </a:r>
            <a:endParaRPr lang="en-US" sz="1600" dirty="0"/>
          </a:p>
        </p:txBody>
      </p:sp>
      <p:sp>
        <p:nvSpPr>
          <p:cNvPr id="34" name="Text 30"/>
          <p:cNvSpPr/>
          <p:nvPr/>
        </p:nvSpPr>
        <p:spPr>
          <a:xfrm>
            <a:off x="5385816" y="2953512"/>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Letzten Zug zurücknehmen</a:t>
            </a:r>
            <a:endParaRPr lang="en-US" sz="1380" dirty="0"/>
          </a:p>
        </p:txBody>
      </p:sp>
      <p:sp>
        <p:nvSpPr>
          <p:cNvPr id="35" name="Text 31"/>
          <p:cNvSpPr/>
          <p:nvPr/>
        </p:nvSpPr>
        <p:spPr>
          <a:xfrm>
            <a:off x="5385816" y="3447288"/>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Zughistorie</a:t>
            </a:r>
            <a:endParaRPr lang="en-US" sz="1070" dirty="0"/>
          </a:p>
        </p:txBody>
      </p:sp>
      <p:sp>
        <p:nvSpPr>
          <p:cNvPr id="36" name="Shape 32"/>
          <p:cNvSpPr/>
          <p:nvPr/>
        </p:nvSpPr>
        <p:spPr>
          <a:xfrm>
            <a:off x="8147304" y="2715768"/>
            <a:ext cx="3456432" cy="1298448"/>
          </a:xfrm>
          <a:prstGeom prst="roundRect">
            <a:avLst>
              <a:gd name="adj" fmla="val 9155"/>
            </a:avLst>
          </a:prstGeom>
          <a:solidFill>
            <a:srgbClr val="FFFFFF"/>
          </a:solidFill>
          <a:ln w="8255">
            <a:solidFill>
              <a:srgbClr val="D8E3EE"/>
            </a:solidFill>
            <a:prstDash val="solid"/>
          </a:ln>
        </p:spPr>
        <p:txBody>
          <a:bodyPr/>
          <a:p/>
        </p:txBody>
      </p:sp>
      <p:sp>
        <p:nvSpPr>
          <p:cNvPr id="37" name="Shape 33"/>
          <p:cNvSpPr/>
          <p:nvPr/>
        </p:nvSpPr>
        <p:spPr>
          <a:xfrm>
            <a:off x="8302752" y="2916936"/>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38" name="Text 34"/>
          <p:cNvSpPr/>
          <p:nvPr/>
        </p:nvSpPr>
        <p:spPr>
          <a:xfrm>
            <a:off x="8321040" y="3026664"/>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S</a:t>
            </a:r>
            <a:endParaRPr lang="en-US" sz="1600" dirty="0"/>
          </a:p>
        </p:txBody>
      </p:sp>
      <p:sp>
        <p:nvSpPr>
          <p:cNvPr id="39" name="Text 35"/>
          <p:cNvSpPr/>
          <p:nvPr/>
        </p:nvSpPr>
        <p:spPr>
          <a:xfrm>
            <a:off x="9125712" y="2953512"/>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Spielstand speichern</a:t>
            </a:r>
            <a:endParaRPr lang="en-US" sz="1380" dirty="0"/>
          </a:p>
        </p:txBody>
      </p:sp>
      <p:sp>
        <p:nvSpPr>
          <p:cNvPr id="40" name="Text 36"/>
          <p:cNvSpPr/>
          <p:nvPr/>
        </p:nvSpPr>
        <p:spPr>
          <a:xfrm>
            <a:off x="9125712" y="3447288"/>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lokale Datei</a:t>
            </a:r>
            <a:endParaRPr lang="en-US" sz="1070" dirty="0"/>
          </a:p>
        </p:txBody>
      </p:sp>
      <p:sp>
        <p:nvSpPr>
          <p:cNvPr id="41" name="Shape 37"/>
          <p:cNvSpPr/>
          <p:nvPr/>
        </p:nvSpPr>
        <p:spPr>
          <a:xfrm>
            <a:off x="667512" y="4288536"/>
            <a:ext cx="3456432" cy="1298448"/>
          </a:xfrm>
          <a:prstGeom prst="roundRect">
            <a:avLst>
              <a:gd name="adj" fmla="val 9155"/>
            </a:avLst>
          </a:prstGeom>
          <a:solidFill>
            <a:srgbClr val="FFFFFF"/>
          </a:solidFill>
          <a:ln w="8255">
            <a:solidFill>
              <a:srgbClr val="D8E3EE"/>
            </a:solidFill>
            <a:prstDash val="solid"/>
          </a:ln>
        </p:spPr>
        <p:txBody>
          <a:bodyPr/>
          <a:p/>
        </p:txBody>
      </p:sp>
      <p:sp>
        <p:nvSpPr>
          <p:cNvPr id="42" name="Shape 38"/>
          <p:cNvSpPr/>
          <p:nvPr/>
        </p:nvSpPr>
        <p:spPr>
          <a:xfrm>
            <a:off x="822960" y="4489704"/>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43" name="Text 39"/>
          <p:cNvSpPr/>
          <p:nvPr/>
        </p:nvSpPr>
        <p:spPr>
          <a:xfrm>
            <a:off x="841248" y="4599432"/>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H</a:t>
            </a:r>
            <a:endParaRPr lang="en-US" sz="1600" dirty="0"/>
          </a:p>
        </p:txBody>
      </p:sp>
      <p:sp>
        <p:nvSpPr>
          <p:cNvPr id="44" name="Text 40"/>
          <p:cNvSpPr/>
          <p:nvPr/>
        </p:nvSpPr>
        <p:spPr>
          <a:xfrm>
            <a:off x="1645920" y="4526280"/>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Hilfetext</a:t>
            </a:r>
            <a:endParaRPr lang="en-US" sz="1380" dirty="0"/>
          </a:p>
        </p:txBody>
      </p:sp>
      <p:sp>
        <p:nvSpPr>
          <p:cNvPr id="45" name="Text 41"/>
          <p:cNvSpPr/>
          <p:nvPr/>
        </p:nvSpPr>
        <p:spPr>
          <a:xfrm>
            <a:off x="1645920" y="5020056"/>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Kurzanleitung</a:t>
            </a:r>
            <a:endParaRPr lang="en-US" sz="1070" dirty="0"/>
          </a:p>
        </p:txBody>
      </p:sp>
      <p:sp>
        <p:nvSpPr>
          <p:cNvPr id="46" name="Shape 42"/>
          <p:cNvSpPr/>
          <p:nvPr/>
        </p:nvSpPr>
        <p:spPr>
          <a:xfrm>
            <a:off x="4407408" y="4288536"/>
            <a:ext cx="3456432" cy="1298448"/>
          </a:xfrm>
          <a:prstGeom prst="roundRect">
            <a:avLst>
              <a:gd name="adj" fmla="val 9155"/>
            </a:avLst>
          </a:prstGeom>
          <a:solidFill>
            <a:srgbClr val="FFFFFF"/>
          </a:solidFill>
          <a:ln w="8255">
            <a:solidFill>
              <a:srgbClr val="D8E3EE"/>
            </a:solidFill>
            <a:prstDash val="solid"/>
          </a:ln>
        </p:spPr>
        <p:txBody>
          <a:bodyPr/>
          <a:p/>
        </p:txBody>
      </p:sp>
      <p:sp>
        <p:nvSpPr>
          <p:cNvPr id="47" name="Shape 43"/>
          <p:cNvSpPr/>
          <p:nvPr/>
        </p:nvSpPr>
        <p:spPr>
          <a:xfrm>
            <a:off x="4562856" y="4489704"/>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48" name="Text 44"/>
          <p:cNvSpPr/>
          <p:nvPr/>
        </p:nvSpPr>
        <p:spPr>
          <a:xfrm>
            <a:off x="4581144" y="4599432"/>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I</a:t>
            </a:r>
            <a:endParaRPr lang="en-US" sz="1600" dirty="0"/>
          </a:p>
        </p:txBody>
      </p:sp>
      <p:sp>
        <p:nvSpPr>
          <p:cNvPr id="49" name="Text 45"/>
          <p:cNvSpPr/>
          <p:nvPr/>
        </p:nvSpPr>
        <p:spPr>
          <a:xfrm>
            <a:off x="5385816" y="4526280"/>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Partiestatistik</a:t>
            </a:r>
            <a:endParaRPr lang="en-US" sz="1380" dirty="0"/>
          </a:p>
        </p:txBody>
      </p:sp>
      <p:sp>
        <p:nvSpPr>
          <p:cNvPr id="50" name="Text 46"/>
          <p:cNvSpPr/>
          <p:nvPr/>
        </p:nvSpPr>
        <p:spPr>
          <a:xfrm>
            <a:off x="5385816" y="5020056"/>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Füllstand &amp; Spieler</a:t>
            </a:r>
            <a:endParaRPr lang="en-US" sz="1070" dirty="0"/>
          </a:p>
        </p:txBody>
      </p:sp>
      <p:sp>
        <p:nvSpPr>
          <p:cNvPr id="51" name="Shape 47"/>
          <p:cNvSpPr/>
          <p:nvPr/>
        </p:nvSpPr>
        <p:spPr>
          <a:xfrm>
            <a:off x="8147304" y="4288536"/>
            <a:ext cx="3456432" cy="1298448"/>
          </a:xfrm>
          <a:prstGeom prst="roundRect">
            <a:avLst>
              <a:gd name="adj" fmla="val 9155"/>
            </a:avLst>
          </a:prstGeom>
          <a:solidFill>
            <a:srgbClr val="FFFFFF"/>
          </a:solidFill>
          <a:ln w="8255">
            <a:solidFill>
              <a:srgbClr val="D8E3EE"/>
            </a:solidFill>
            <a:prstDash val="solid"/>
          </a:ln>
        </p:spPr>
        <p:txBody>
          <a:bodyPr/>
          <a:p/>
        </p:txBody>
      </p:sp>
      <p:sp>
        <p:nvSpPr>
          <p:cNvPr id="52" name="Shape 48"/>
          <p:cNvSpPr/>
          <p:nvPr/>
        </p:nvSpPr>
        <p:spPr>
          <a:xfrm>
            <a:off x="8302752" y="4489704"/>
            <a:ext cx="658368" cy="539496"/>
          </a:xfrm>
          <a:prstGeom prst="roundRect">
            <a:avLst>
              <a:gd name="adj" fmla="val 13559"/>
            </a:avLst>
          </a:prstGeom>
          <a:solidFill>
            <a:srgbClr val="0A2544"/>
          </a:solidFill>
          <a:ln w="12700">
            <a:solidFill>
              <a:srgbClr val="0A2544">
                <a:alpha val="0"/>
              </a:srgbClr>
            </a:solidFill>
            <a:prstDash val="solid"/>
          </a:ln>
        </p:spPr>
        <p:txBody>
          <a:bodyPr/>
          <a:p/>
        </p:txBody>
      </p:sp>
      <p:sp>
        <p:nvSpPr>
          <p:cNvPr id="53" name="Text 49"/>
          <p:cNvSpPr/>
          <p:nvPr/>
        </p:nvSpPr>
        <p:spPr>
          <a:xfrm>
            <a:off x="8321040" y="4599432"/>
            <a:ext cx="603504" cy="24688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35C8EF"/>
                </a:solidFill>
                <a:latin typeface="Inter" pitchFamily="34" charset="0"/>
                <a:ea typeface="Inter" pitchFamily="34" charset="-122"/>
                <a:cs typeface="Inter" pitchFamily="34" charset="-120"/>
              </a:rPr>
              <a:t>A</a:t>
            </a:r>
            <a:endParaRPr lang="en-US" sz="1600" dirty="0"/>
          </a:p>
        </p:txBody>
      </p:sp>
      <p:sp>
        <p:nvSpPr>
          <p:cNvPr id="54" name="Text 50"/>
          <p:cNvSpPr/>
          <p:nvPr/>
        </p:nvSpPr>
        <p:spPr>
          <a:xfrm>
            <a:off x="9125712" y="4526280"/>
            <a:ext cx="2276856" cy="365760"/>
          </a:xfrm>
          <a:prstGeom prst="rect">
            <a:avLst/>
          </a:prstGeom>
          <a:noFill/>
          <a:ln/>
        </p:spPr>
        <p:txBody>
          <a:bodyPr wrap="square" lIns="0" tIns="0" rIns="0" bIns="0" rtlCol="0" anchor="ctr">
            <a:normAutofit/>
          </a:bodyPr>
          <a:lstStyle/>
          <a:p>
            <a:pPr algn="l" indent="0" marL="0">
              <a:lnSpc>
                <a:spcPct val="100000"/>
              </a:lnSpc>
              <a:buNone/>
            </a:pPr>
            <a:r>
              <a:rPr lang="en-US" sz="1380" b="1" dirty="0">
                <a:solidFill>
                  <a:srgbClr val="10263D"/>
                </a:solidFill>
                <a:latin typeface="Inter" pitchFamily="34" charset="0"/>
                <a:ea typeface="Inter" pitchFamily="34" charset="-122"/>
                <a:cs typeface="Inter" pitchFamily="34" charset="-120"/>
              </a:rPr>
              <a:t>Fallanimation an/aus</a:t>
            </a:r>
            <a:endParaRPr lang="en-US" sz="1380" dirty="0"/>
          </a:p>
        </p:txBody>
      </p:sp>
      <p:sp>
        <p:nvSpPr>
          <p:cNvPr id="55" name="Text 51"/>
          <p:cNvSpPr/>
          <p:nvPr/>
        </p:nvSpPr>
        <p:spPr>
          <a:xfrm>
            <a:off x="9125712" y="5020056"/>
            <a:ext cx="2258568" cy="256032"/>
          </a:xfrm>
          <a:prstGeom prst="rect">
            <a:avLst/>
          </a:prstGeom>
          <a:noFill/>
          <a:ln/>
        </p:spPr>
        <p:txBody>
          <a:bodyPr wrap="square" lIns="0" tIns="0" rIns="0" bIns="0" rtlCol="0" anchor="ctr">
            <a:normAutofit/>
          </a:bodyPr>
          <a:lstStyle/>
          <a:p>
            <a:pPr algn="l" indent="0" marL="0">
              <a:lnSpc>
                <a:spcPct val="100000"/>
              </a:lnSpc>
              <a:buNone/>
            </a:pPr>
            <a:r>
              <a:rPr lang="en-US" sz="1070" dirty="0">
                <a:solidFill>
                  <a:srgbClr val="557087"/>
                </a:solidFill>
                <a:latin typeface="Inter" pitchFamily="34" charset="0"/>
                <a:ea typeface="Inter" pitchFamily="34" charset="-122"/>
                <a:cs typeface="Inter" pitchFamily="34" charset="-120"/>
              </a:rPr>
              <a:t>ANSI im Terminal</a:t>
            </a:r>
            <a:endParaRPr lang="en-US" sz="1070" dirty="0"/>
          </a:p>
        </p:txBody>
      </p:sp>
      <p:sp>
        <p:nvSpPr>
          <p:cNvPr id="56" name="Shape 52"/>
          <p:cNvSpPr/>
          <p:nvPr/>
        </p:nvSpPr>
        <p:spPr>
          <a:xfrm>
            <a:off x="667512" y="5879592"/>
            <a:ext cx="10927080" cy="320040"/>
          </a:xfrm>
          <a:prstGeom prst="roundRect">
            <a:avLst>
              <a:gd name="adj" fmla="val 20000"/>
            </a:avLst>
          </a:prstGeom>
          <a:solidFill>
            <a:srgbClr val="EEF4F9"/>
          </a:solidFill>
          <a:ln w="12700">
            <a:solidFill>
              <a:srgbClr val="EEF4F9">
                <a:alpha val="0"/>
              </a:srgbClr>
            </a:solidFill>
            <a:prstDash val="solid"/>
          </a:ln>
        </p:spPr>
        <p:txBody>
          <a:bodyPr/>
          <a:p/>
        </p:txBody>
      </p:sp>
      <p:sp>
        <p:nvSpPr>
          <p:cNvPr id="57" name="Text 53"/>
          <p:cNvSpPr/>
          <p:nvPr/>
        </p:nvSpPr>
        <p:spPr>
          <a:xfrm>
            <a:off x="868680" y="5961888"/>
            <a:ext cx="10552176" cy="155448"/>
          </a:xfrm>
          <a:prstGeom prst="rect">
            <a:avLst/>
          </a:prstGeom>
          <a:noFill/>
          <a:ln/>
        </p:spPr>
        <p:txBody>
          <a:bodyPr wrap="square" lIns="0" tIns="0" rIns="0" bIns="0" rtlCol="0" anchor="ctr">
            <a:normAutofit/>
          </a:bodyPr>
          <a:lstStyle/>
          <a:p>
            <a:pPr algn="ctr" indent="0" marL="0">
              <a:lnSpc>
                <a:spcPct val="100000"/>
              </a:lnSpc>
              <a:buNone/>
            </a:pPr>
            <a:r>
              <a:rPr lang="en-US" sz="1070" b="1" dirty="0">
                <a:solidFill>
                  <a:srgbClr val="2478F6"/>
                </a:solidFill>
                <a:latin typeface="Inter" pitchFamily="34" charset="0"/>
                <a:ea typeface="Inter" pitchFamily="34" charset="-122"/>
                <a:cs typeface="Inter" pitchFamily="34" charset="-120"/>
              </a:rPr>
              <a:t>Die 3D-Oberfläche ist ein Konzept. Die ausführbare Ausgabe erfolgt im Terminal.</a:t>
            </a:r>
            <a:endParaRPr lang="en-US" sz="10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11  /  QUALITÄTSSICHERUNG</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Was ist tatsächlich getestet?</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Automatisierte Tests sind von noch offenen manuellen Abnahmetests zu unterscheiden.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11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49224" y="2761488"/>
            <a:ext cx="6547104" cy="2971800"/>
          </a:xfrm>
          <a:prstGeom prst="roundRect">
            <a:avLst>
              <a:gd name="adj" fmla="val 4000"/>
            </a:avLst>
          </a:prstGeom>
          <a:solidFill>
            <a:srgbClr val="FFFFFF"/>
          </a:solidFill>
          <a:ln w="8255">
            <a:solidFill>
              <a:srgbClr val="D8E3EE"/>
            </a:solidFill>
            <a:prstDash val="solid"/>
          </a:ln>
        </p:spPr>
        <p:txBody>
          <a:bodyPr/>
          <a:p/>
        </p:txBody>
      </p:sp>
      <p:sp>
        <p:nvSpPr>
          <p:cNvPr id="27" name="Text 23"/>
          <p:cNvSpPr/>
          <p:nvPr/>
        </p:nvSpPr>
        <p:spPr>
          <a:xfrm>
            <a:off x="914400" y="3008376"/>
            <a:ext cx="5440680" cy="29260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2478F6"/>
                </a:solidFill>
                <a:latin typeface="Inter" pitchFamily="34" charset="0"/>
                <a:ea typeface="Inter" pitchFamily="34" charset="-122"/>
                <a:cs typeface="Inter" pitchFamily="34" charset="-120"/>
              </a:rPr>
              <a:t>AUTOMATISCH VERIFIZIERT</a:t>
            </a:r>
            <a:endParaRPr lang="en-US" sz="1300" dirty="0"/>
          </a:p>
        </p:txBody>
      </p:sp>
      <p:sp>
        <p:nvSpPr>
          <p:cNvPr id="28" name="Shape 24"/>
          <p:cNvSpPr/>
          <p:nvPr/>
        </p:nvSpPr>
        <p:spPr>
          <a:xfrm>
            <a:off x="900684" y="3543300"/>
            <a:ext cx="192024" cy="192024"/>
          </a:xfrm>
          <a:prstGeom prst="ellipse">
            <a:avLst/>
          </a:prstGeom>
          <a:solidFill>
            <a:srgbClr val="59C1B0"/>
          </a:solidFill>
          <a:ln w="12700">
            <a:solidFill>
              <a:srgbClr val="FFFFFF">
                <a:alpha val="0"/>
              </a:srgbClr>
            </a:solidFill>
            <a:prstDash val="solid"/>
          </a:ln>
        </p:spPr>
        <p:txBody>
          <a:bodyPr/>
          <a:p/>
        </p:txBody>
      </p:sp>
      <p:sp>
        <p:nvSpPr>
          <p:cNvPr id="29" name="Text 25"/>
          <p:cNvSpPr/>
          <p:nvPr/>
        </p:nvSpPr>
        <p:spPr>
          <a:xfrm>
            <a:off x="914400" y="3553358"/>
            <a:ext cx="173736" cy="16459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30" name="Text 26"/>
          <p:cNvSpPr/>
          <p:nvPr/>
        </p:nvSpPr>
        <p:spPr>
          <a:xfrm>
            <a:off x="1207008" y="3502152"/>
            <a:ext cx="5431536" cy="26517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0263D"/>
                </a:solidFill>
                <a:latin typeface="Inter" pitchFamily="34" charset="0"/>
                <a:ea typeface="Inter" pitchFamily="34" charset="-122"/>
                <a:cs typeface="Inter" pitchFamily="34" charset="-120"/>
              </a:rPr>
              <a:t>Raster 7×6, 9×8 und 11×10</a:t>
            </a:r>
            <a:endParaRPr lang="en-US" sz="1250" dirty="0"/>
          </a:p>
        </p:txBody>
      </p:sp>
      <p:sp>
        <p:nvSpPr>
          <p:cNvPr id="31" name="Shape 27"/>
          <p:cNvSpPr/>
          <p:nvPr/>
        </p:nvSpPr>
        <p:spPr>
          <a:xfrm>
            <a:off x="900684" y="3936492"/>
            <a:ext cx="192024" cy="192024"/>
          </a:xfrm>
          <a:prstGeom prst="ellipse">
            <a:avLst/>
          </a:prstGeom>
          <a:solidFill>
            <a:srgbClr val="59C1B0"/>
          </a:solidFill>
          <a:ln w="12700">
            <a:solidFill>
              <a:srgbClr val="FFFFFF">
                <a:alpha val="0"/>
              </a:srgbClr>
            </a:solidFill>
            <a:prstDash val="solid"/>
          </a:ln>
        </p:spPr>
        <p:txBody>
          <a:bodyPr/>
          <a:p/>
        </p:txBody>
      </p:sp>
      <p:sp>
        <p:nvSpPr>
          <p:cNvPr id="32" name="Text 28"/>
          <p:cNvSpPr/>
          <p:nvPr/>
        </p:nvSpPr>
        <p:spPr>
          <a:xfrm>
            <a:off x="914400" y="3946550"/>
            <a:ext cx="173736" cy="16459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33" name="Text 29"/>
          <p:cNvSpPr/>
          <p:nvPr/>
        </p:nvSpPr>
        <p:spPr>
          <a:xfrm>
            <a:off x="1207008" y="3895344"/>
            <a:ext cx="5431536" cy="26517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0263D"/>
                </a:solidFill>
                <a:latin typeface="Inter" pitchFamily="34" charset="0"/>
                <a:ea typeface="Inter" pitchFamily="34" charset="-122"/>
                <a:cs typeface="Inter" pitchFamily="34" charset="-120"/>
              </a:rPr>
              <a:t>Ungültige Spalten abweisen</a:t>
            </a:r>
            <a:endParaRPr lang="en-US" sz="1250" dirty="0"/>
          </a:p>
        </p:txBody>
      </p:sp>
      <p:sp>
        <p:nvSpPr>
          <p:cNvPr id="34" name="Shape 30"/>
          <p:cNvSpPr/>
          <p:nvPr/>
        </p:nvSpPr>
        <p:spPr>
          <a:xfrm>
            <a:off x="900684" y="4329684"/>
            <a:ext cx="192024" cy="192024"/>
          </a:xfrm>
          <a:prstGeom prst="ellipse">
            <a:avLst/>
          </a:prstGeom>
          <a:solidFill>
            <a:srgbClr val="59C1B0"/>
          </a:solidFill>
          <a:ln w="12700">
            <a:solidFill>
              <a:srgbClr val="FFFFFF">
                <a:alpha val="0"/>
              </a:srgbClr>
            </a:solidFill>
            <a:prstDash val="solid"/>
          </a:ln>
        </p:spPr>
        <p:txBody>
          <a:bodyPr/>
          <a:p/>
        </p:txBody>
      </p:sp>
      <p:sp>
        <p:nvSpPr>
          <p:cNvPr id="35" name="Text 31"/>
          <p:cNvSpPr/>
          <p:nvPr/>
        </p:nvSpPr>
        <p:spPr>
          <a:xfrm>
            <a:off x="914400" y="4339742"/>
            <a:ext cx="173736" cy="16459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36" name="Text 32"/>
          <p:cNvSpPr/>
          <p:nvPr/>
        </p:nvSpPr>
        <p:spPr>
          <a:xfrm>
            <a:off x="1207008" y="4288536"/>
            <a:ext cx="5431536" cy="26517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0263D"/>
                </a:solidFill>
                <a:latin typeface="Inter" pitchFamily="34" charset="0"/>
                <a:ea typeface="Inter" pitchFamily="34" charset="-122"/>
                <a:cs typeface="Inter" pitchFamily="34" charset="-120"/>
              </a:rPr>
              <a:t>Gewinn waagerecht und senkrecht</a:t>
            </a:r>
            <a:endParaRPr lang="en-US" sz="1250" dirty="0"/>
          </a:p>
        </p:txBody>
      </p:sp>
      <p:sp>
        <p:nvSpPr>
          <p:cNvPr id="37" name="Shape 33"/>
          <p:cNvSpPr/>
          <p:nvPr/>
        </p:nvSpPr>
        <p:spPr>
          <a:xfrm>
            <a:off x="900684" y="4722876"/>
            <a:ext cx="192024" cy="192024"/>
          </a:xfrm>
          <a:prstGeom prst="ellipse">
            <a:avLst/>
          </a:prstGeom>
          <a:solidFill>
            <a:srgbClr val="59C1B0"/>
          </a:solidFill>
          <a:ln w="12700">
            <a:solidFill>
              <a:srgbClr val="FFFFFF">
                <a:alpha val="0"/>
              </a:srgbClr>
            </a:solidFill>
            <a:prstDash val="solid"/>
          </a:ln>
        </p:spPr>
        <p:txBody>
          <a:bodyPr/>
          <a:p/>
        </p:txBody>
      </p:sp>
      <p:sp>
        <p:nvSpPr>
          <p:cNvPr id="38" name="Text 34"/>
          <p:cNvSpPr/>
          <p:nvPr/>
        </p:nvSpPr>
        <p:spPr>
          <a:xfrm>
            <a:off x="914400" y="4732934"/>
            <a:ext cx="173736" cy="16459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39" name="Text 35"/>
          <p:cNvSpPr/>
          <p:nvPr/>
        </p:nvSpPr>
        <p:spPr>
          <a:xfrm>
            <a:off x="1207008" y="4681728"/>
            <a:ext cx="5431536" cy="26517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0263D"/>
                </a:solidFill>
                <a:latin typeface="Inter" pitchFamily="34" charset="0"/>
                <a:ea typeface="Inter" pitchFamily="34" charset="-122"/>
                <a:cs typeface="Inter" pitchFamily="34" charset="-120"/>
              </a:rPr>
              <a:t>Beide diagonalen Gewinnrichtungen</a:t>
            </a:r>
            <a:endParaRPr lang="en-US" sz="1250" dirty="0"/>
          </a:p>
        </p:txBody>
      </p:sp>
      <p:sp>
        <p:nvSpPr>
          <p:cNvPr id="40" name="Shape 36"/>
          <p:cNvSpPr/>
          <p:nvPr/>
        </p:nvSpPr>
        <p:spPr>
          <a:xfrm>
            <a:off x="900684" y="5116068"/>
            <a:ext cx="192024" cy="192024"/>
          </a:xfrm>
          <a:prstGeom prst="ellipse">
            <a:avLst/>
          </a:prstGeom>
          <a:solidFill>
            <a:srgbClr val="59C1B0"/>
          </a:solidFill>
          <a:ln w="12700">
            <a:solidFill>
              <a:srgbClr val="FFFFFF">
                <a:alpha val="0"/>
              </a:srgbClr>
            </a:solidFill>
            <a:prstDash val="solid"/>
          </a:ln>
        </p:spPr>
        <p:txBody>
          <a:bodyPr/>
          <a:p/>
        </p:txBody>
      </p:sp>
      <p:sp>
        <p:nvSpPr>
          <p:cNvPr id="41" name="Text 37"/>
          <p:cNvSpPr/>
          <p:nvPr/>
        </p:nvSpPr>
        <p:spPr>
          <a:xfrm>
            <a:off x="914400" y="5126126"/>
            <a:ext cx="173736" cy="16459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42" name="Text 38"/>
          <p:cNvSpPr/>
          <p:nvPr/>
        </p:nvSpPr>
        <p:spPr>
          <a:xfrm>
            <a:off x="1207008" y="5074920"/>
            <a:ext cx="5431536" cy="26517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0263D"/>
                </a:solidFill>
                <a:latin typeface="Inter" pitchFamily="34" charset="0"/>
                <a:ea typeface="Inter" pitchFamily="34" charset="-122"/>
                <a:cs typeface="Inter" pitchFamily="34" charset="-120"/>
              </a:rPr>
              <a:t>Undo auf Board-Ebene</a:t>
            </a:r>
            <a:endParaRPr lang="en-US" sz="1250" dirty="0"/>
          </a:p>
        </p:txBody>
      </p:sp>
      <p:sp>
        <p:nvSpPr>
          <p:cNvPr id="43" name="Shape 39"/>
          <p:cNvSpPr/>
          <p:nvPr/>
        </p:nvSpPr>
        <p:spPr>
          <a:xfrm>
            <a:off x="7424928" y="2761488"/>
            <a:ext cx="4096512" cy="2971800"/>
          </a:xfrm>
          <a:prstGeom prst="roundRect">
            <a:avLst>
              <a:gd name="adj" fmla="val 4000"/>
            </a:avLst>
          </a:prstGeom>
          <a:solidFill>
            <a:srgbClr val="FFFFFF"/>
          </a:solidFill>
          <a:ln w="8255">
            <a:solidFill>
              <a:srgbClr val="D8E3EE"/>
            </a:solidFill>
            <a:prstDash val="solid"/>
          </a:ln>
        </p:spPr>
        <p:txBody>
          <a:bodyPr/>
          <a:p/>
        </p:txBody>
      </p:sp>
      <p:sp>
        <p:nvSpPr>
          <p:cNvPr id="44" name="Text 40"/>
          <p:cNvSpPr/>
          <p:nvPr/>
        </p:nvSpPr>
        <p:spPr>
          <a:xfrm>
            <a:off x="7653528" y="3017520"/>
            <a:ext cx="3630168" cy="457200"/>
          </a:xfrm>
          <a:prstGeom prst="rect">
            <a:avLst/>
          </a:prstGeom>
          <a:noFill/>
          <a:ln/>
        </p:spPr>
        <p:txBody>
          <a:bodyPr wrap="square" lIns="0" tIns="0" rIns="0" bIns="0" rtlCol="0" anchor="ctr">
            <a:normAutofit/>
          </a:bodyPr>
          <a:lstStyle/>
          <a:p>
            <a:pPr algn="l" indent="0" marL="0">
              <a:lnSpc>
                <a:spcPct val="100000"/>
              </a:lnSpc>
              <a:buNone/>
            </a:pPr>
            <a:r>
              <a:rPr lang="en-US" sz="1280" b="1" dirty="0">
                <a:solidFill>
                  <a:srgbClr val="2478F6"/>
                </a:solidFill>
                <a:latin typeface="Inter" pitchFamily="34" charset="0"/>
                <a:ea typeface="Inter" pitchFamily="34" charset="-122"/>
                <a:cs typeface="Inter" pitchFamily="34" charset="-120"/>
              </a:rPr>
              <a:t>MANUELL NOCH NACHWEISEN</a:t>
            </a:r>
            <a:endParaRPr lang="en-US" sz="1280" dirty="0"/>
          </a:p>
        </p:txBody>
      </p:sp>
      <p:sp>
        <p:nvSpPr>
          <p:cNvPr id="45" name="Text 41"/>
          <p:cNvSpPr/>
          <p:nvPr/>
        </p:nvSpPr>
        <p:spPr>
          <a:xfrm>
            <a:off x="7653528" y="3685032"/>
            <a:ext cx="3575304" cy="1600200"/>
          </a:xfrm>
          <a:prstGeom prst="rect">
            <a:avLst/>
          </a:prstGeom>
          <a:noFill/>
          <a:ln/>
        </p:spPr>
        <p:txBody>
          <a:bodyPr wrap="square" lIns="0" tIns="0" rIns="0" bIns="0" rtlCol="0" anchor="t">
            <a:normAutofit/>
          </a:bodyPr>
          <a:lstStyle/>
          <a:p>
            <a:pPr algn="l" indent="0" marL="0">
              <a:lnSpc>
                <a:spcPct val="100000"/>
              </a:lnSpc>
              <a:buNone/>
            </a:pPr>
            <a:r>
              <a:rPr lang="en-US" sz="1260" dirty="0">
                <a:solidFill>
                  <a:srgbClr val="557087"/>
                </a:solidFill>
                <a:latin typeface="Inter" pitchFamily="34" charset="0"/>
                <a:ea typeface="Inter" pitchFamily="34" charset="-122"/>
                <a:cs typeface="Inter" pitchFamily="34" charset="-120"/>
              </a:rPr>
              <a:t>• Vollständiger Partiedurchlauf</a:t>
            </a:r>
            <a:endParaRPr lang="en-US" sz="1260" dirty="0"/>
          </a:p>
          <a:p>
            <a:pPr algn="l" indent="0" marL="0">
              <a:lnSpc>
                <a:spcPct val="100000"/>
              </a:lnSpc>
              <a:buNone/>
            </a:pPr>
            <a:r>
              <a:rPr lang="en-US" sz="1260" dirty="0">
                <a:solidFill>
                  <a:srgbClr val="557087"/>
                </a:solidFill>
                <a:latin typeface="Inter" pitchFamily="34" charset="0"/>
                <a:ea typeface="Inter" pitchFamily="34" charset="-122"/>
                <a:cs typeface="Inter" pitchFamily="34" charset="-120"/>
              </a:rPr>
              <a:t>• Beschädigte Spielstandsdatei</a:t>
            </a:r>
            <a:endParaRPr lang="en-US" sz="1260" dirty="0"/>
          </a:p>
          <a:p>
            <a:pPr algn="l" indent="0" marL="0">
              <a:lnSpc>
                <a:spcPct val="100000"/>
              </a:lnSpc>
              <a:buNone/>
            </a:pPr>
            <a:r>
              <a:rPr lang="en-US" sz="1260" dirty="0">
                <a:solidFill>
                  <a:srgbClr val="557087"/>
                </a:solidFill>
                <a:latin typeface="Inter" pitchFamily="34" charset="0"/>
                <a:ea typeface="Inter" pitchFamily="34" charset="-122"/>
                <a:cs typeface="Inter" pitchFamily="34" charset="-120"/>
              </a:rPr>
              <a:t>• Highscore nach Neustart</a:t>
            </a:r>
            <a:endParaRPr lang="en-US" sz="1260" dirty="0"/>
          </a:p>
          <a:p>
            <a:pPr algn="l" indent="0" marL="0">
              <a:lnSpc>
                <a:spcPct val="100000"/>
              </a:lnSpc>
              <a:buNone/>
            </a:pPr>
            <a:r>
              <a:rPr lang="en-US" sz="1260" dirty="0">
                <a:solidFill>
                  <a:srgbClr val="557087"/>
                </a:solidFill>
                <a:latin typeface="Inter" pitchFamily="34" charset="0"/>
                <a:ea typeface="Inter" pitchFamily="34" charset="-122"/>
                <a:cs typeface="Inter" pitchFamily="34" charset="-120"/>
              </a:rPr>
              <a:t>• GitHub-Commit-Historie</a:t>
            </a:r>
            <a:endParaRPr lang="en-US" sz="1260" dirty="0"/>
          </a:p>
        </p:txBody>
      </p:sp>
      <p:sp>
        <p:nvSpPr>
          <p:cNvPr id="46" name="Text 42"/>
          <p:cNvSpPr/>
          <p:nvPr/>
        </p:nvSpPr>
        <p:spPr>
          <a:xfrm>
            <a:off x="722376" y="6053328"/>
            <a:ext cx="10634472" cy="201168"/>
          </a:xfrm>
          <a:prstGeom prst="rect">
            <a:avLst/>
          </a:prstGeom>
          <a:noFill/>
          <a:ln/>
        </p:spPr>
        <p:txBody>
          <a:bodyPr wrap="square" lIns="0" tIns="0" rIns="0" bIns="0" rtlCol="0" anchor="ctr">
            <a:normAutofit/>
          </a:bodyPr>
          <a:lstStyle/>
          <a:p>
            <a:pPr algn="l" indent="0" marL="0">
              <a:lnSpc>
                <a:spcPct val="100000"/>
              </a:lnSpc>
              <a:buNone/>
            </a:pPr>
            <a:r>
              <a:rPr lang="en-US" sz="1090" dirty="0">
                <a:solidFill>
                  <a:srgbClr val="557087"/>
                </a:solidFill>
                <a:latin typeface="Inter" pitchFamily="34" charset="0"/>
                <a:ea typeface="Inter" pitchFamily="34" charset="-122"/>
                <a:cs typeface="Inter" pitchFamily="34" charset="-120"/>
              </a:rPr>
              <a:t>Prüfgrundlage: tests/board_tests.cpp · docs/TESTPLAN.md</a:t>
            </a:r>
            <a:endParaRPr lang="en-US" sz="109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12  /  PROJEKTSTAND</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Realisierte Funktion und Designidee getrennt halten</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Der aktuelle Stand ist ein C++17-Konsolenspiel, kein fertig ausgeliefertes grafisches Spiel.</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12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49224" y="2734056"/>
            <a:ext cx="5404104" cy="3145536"/>
          </a:xfrm>
          <a:prstGeom prst="roundRect">
            <a:avLst>
              <a:gd name="adj" fmla="val 3779"/>
            </a:avLst>
          </a:prstGeom>
          <a:solidFill>
            <a:srgbClr val="FFFFFF"/>
          </a:solidFill>
          <a:ln w="8255">
            <a:solidFill>
              <a:srgbClr val="D8E3EE"/>
            </a:solidFill>
            <a:prstDash val="solid"/>
          </a:ln>
        </p:spPr>
        <p:txBody>
          <a:bodyPr/>
          <a:p/>
        </p:txBody>
      </p:sp>
      <p:sp>
        <p:nvSpPr>
          <p:cNvPr id="27" name="Shape 23"/>
          <p:cNvSpPr/>
          <p:nvPr/>
        </p:nvSpPr>
        <p:spPr>
          <a:xfrm>
            <a:off x="6217920" y="2734056"/>
            <a:ext cx="5321808" cy="3145536"/>
          </a:xfrm>
          <a:prstGeom prst="roundRect">
            <a:avLst>
              <a:gd name="adj" fmla="val 3779"/>
            </a:avLst>
          </a:prstGeom>
          <a:solidFill>
            <a:srgbClr val="FFFFFF"/>
          </a:solidFill>
          <a:ln w="8255">
            <a:solidFill>
              <a:srgbClr val="D8E3EE"/>
            </a:solidFill>
            <a:prstDash val="solid"/>
          </a:ln>
        </p:spPr>
        <p:txBody>
          <a:bodyPr/>
          <a:p/>
        </p:txBody>
      </p:sp>
      <p:sp>
        <p:nvSpPr>
          <p:cNvPr id="28" name="Shape 24"/>
          <p:cNvSpPr/>
          <p:nvPr/>
        </p:nvSpPr>
        <p:spPr>
          <a:xfrm>
            <a:off x="649224" y="2734056"/>
            <a:ext cx="5404104" cy="502920"/>
          </a:xfrm>
          <a:prstGeom prst="roundRect">
            <a:avLst>
              <a:gd name="adj" fmla="val 21818"/>
            </a:avLst>
          </a:prstGeom>
          <a:solidFill>
            <a:srgbClr val="0A2544"/>
          </a:solidFill>
          <a:ln w="12700">
            <a:solidFill>
              <a:srgbClr val="0A2544">
                <a:alpha val="0"/>
              </a:srgbClr>
            </a:solidFill>
            <a:prstDash val="solid"/>
          </a:ln>
        </p:spPr>
        <p:txBody>
          <a:bodyPr/>
          <a:p/>
        </p:txBody>
      </p:sp>
      <p:sp>
        <p:nvSpPr>
          <p:cNvPr id="29" name="Text 25"/>
          <p:cNvSpPr/>
          <p:nvPr/>
        </p:nvSpPr>
        <p:spPr>
          <a:xfrm>
            <a:off x="886968" y="2880360"/>
            <a:ext cx="4928616" cy="228600"/>
          </a:xfrm>
          <a:prstGeom prst="rect">
            <a:avLst/>
          </a:prstGeom>
          <a:noFill/>
          <a:ln/>
        </p:spPr>
        <p:txBody>
          <a:bodyPr wrap="square" lIns="0" tIns="0" rIns="0" bIns="0" rtlCol="0" anchor="ctr">
            <a:normAutofit/>
          </a:bodyPr>
          <a:lstStyle/>
          <a:p>
            <a:pPr algn="l" indent="0" marL="0">
              <a:lnSpc>
                <a:spcPct val="100000"/>
              </a:lnSpc>
              <a:buNone/>
            </a:pPr>
            <a:r>
              <a:rPr lang="en-US" sz="1270" b="1" dirty="0">
                <a:solidFill>
                  <a:srgbClr val="35C8EF"/>
                </a:solidFill>
                <a:latin typeface="Inter" pitchFamily="34" charset="0"/>
                <a:ea typeface="Inter" pitchFamily="34" charset="-122"/>
                <a:cs typeface="Inter" pitchFamily="34" charset="-120"/>
              </a:rPr>
              <a:t>IM QUELLCODE VORHANDEN</a:t>
            </a:r>
            <a:endParaRPr lang="en-US" sz="1270" dirty="0"/>
          </a:p>
        </p:txBody>
      </p:sp>
      <p:sp>
        <p:nvSpPr>
          <p:cNvPr id="30" name="Text 26"/>
          <p:cNvSpPr/>
          <p:nvPr/>
        </p:nvSpPr>
        <p:spPr>
          <a:xfrm>
            <a:off x="914400" y="3502152"/>
            <a:ext cx="4773168" cy="2002536"/>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Klassen Game, Board, Player, Move</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Spielmodus mit 2 bis 4 Personen</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Gewinnprüfung und Zugvalidierung</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Speichern, Laden und Highscore</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Konsolenausgabe mit Kurzhanteln</a:t>
            </a:r>
            <a:endParaRPr lang="en-US" sz="1400" dirty="0"/>
          </a:p>
        </p:txBody>
      </p:sp>
      <p:sp>
        <p:nvSpPr>
          <p:cNvPr id="31" name="Shape 27"/>
          <p:cNvSpPr/>
          <p:nvPr/>
        </p:nvSpPr>
        <p:spPr>
          <a:xfrm>
            <a:off x="6217920" y="2734056"/>
            <a:ext cx="5321808" cy="502920"/>
          </a:xfrm>
          <a:prstGeom prst="roundRect">
            <a:avLst>
              <a:gd name="adj" fmla="val 21818"/>
            </a:avLst>
          </a:prstGeom>
          <a:solidFill>
            <a:srgbClr val="0A2544"/>
          </a:solidFill>
          <a:ln w="12700">
            <a:solidFill>
              <a:srgbClr val="0A2544">
                <a:alpha val="0"/>
              </a:srgbClr>
            </a:solidFill>
            <a:prstDash val="solid"/>
          </a:ln>
        </p:spPr>
        <p:txBody>
          <a:bodyPr/>
          <a:p/>
        </p:txBody>
      </p:sp>
      <p:sp>
        <p:nvSpPr>
          <p:cNvPr id="32" name="Text 28"/>
          <p:cNvSpPr/>
          <p:nvPr/>
        </p:nvSpPr>
        <p:spPr>
          <a:xfrm>
            <a:off x="6455664" y="2880360"/>
            <a:ext cx="4846320" cy="228600"/>
          </a:xfrm>
          <a:prstGeom prst="rect">
            <a:avLst/>
          </a:prstGeom>
          <a:noFill/>
          <a:ln/>
        </p:spPr>
        <p:txBody>
          <a:bodyPr wrap="square" lIns="0" tIns="0" rIns="0" bIns="0" rtlCol="0" anchor="ctr">
            <a:normAutofit/>
          </a:bodyPr>
          <a:lstStyle/>
          <a:p>
            <a:pPr algn="l" indent="0" marL="0">
              <a:lnSpc>
                <a:spcPct val="100000"/>
              </a:lnSpc>
              <a:buNone/>
            </a:pPr>
            <a:r>
              <a:rPr lang="en-US" sz="1270" b="1" dirty="0">
                <a:solidFill>
                  <a:srgbClr val="35C8EF"/>
                </a:solidFill>
                <a:latin typeface="Inter" pitchFamily="34" charset="0"/>
                <a:ea typeface="Inter" pitchFamily="34" charset="-122"/>
                <a:cs typeface="Inter" pitchFamily="34" charset="-120"/>
              </a:rPr>
              <a:t>NICHT ALS PRODUKT IMPLEMENTIERT</a:t>
            </a:r>
            <a:endParaRPr lang="en-US" sz="1270" dirty="0"/>
          </a:p>
        </p:txBody>
      </p:sp>
      <p:sp>
        <p:nvSpPr>
          <p:cNvPr id="33" name="Text 29"/>
          <p:cNvSpPr/>
          <p:nvPr/>
        </p:nvSpPr>
        <p:spPr>
          <a:xfrm>
            <a:off x="6492240" y="3502152"/>
            <a:ext cx="4690872" cy="2002536"/>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Echte 2D-/3D-Fensteroberfläche</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Grafische Schaltflächen / Maussteuerung</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Hardwarebeschleunigter Renderer</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Online-Multiplayer oder KI-Gegner</a:t>
            </a:r>
            <a:endParaRPr lang="en-US" sz="1400" dirty="0"/>
          </a:p>
          <a:p>
            <a:pPr algn="l" indent="0" marL="0">
              <a:lnSpc>
                <a:spcPct val="100000"/>
              </a:lnSpc>
              <a:buNone/>
            </a:pPr>
            <a:r>
              <a:rPr lang="en-US" sz="1400" dirty="0">
                <a:solidFill>
                  <a:srgbClr val="10263D"/>
                </a:solidFill>
                <a:latin typeface="Inter" pitchFamily="34" charset="0"/>
                <a:ea typeface="Inter" pitchFamily="34" charset="-122"/>
                <a:cs typeface="Inter" pitchFamily="34" charset="-120"/>
              </a:rPr>
              <a:t>• Vollständige Schulabnahme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13  /  FAZIT</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Die Architektur ist die eigentliche Leistung.</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Das Projekt verbindet objektorientierte Modellierung, Regelalgorithmen und sichere Dateiverarbeitung.</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13 / 14</a:t>
            </a:r>
            <a:endParaRPr lang="en-US" sz="810" dirty="0"/>
          </a:p>
        </p:txBody>
      </p:sp>
      <p:sp>
        <p:nvSpPr>
          <p:cNvPr id="16" name="Shape 12"/>
          <p:cNvSpPr/>
          <p:nvPr/>
        </p:nvSpPr>
        <p:spPr>
          <a:xfrm>
            <a:off x="475488" y="2441448"/>
            <a:ext cx="135331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7" name="Text 13"/>
          <p:cNvSpPr/>
          <p:nvPr/>
        </p:nvSpPr>
        <p:spPr>
          <a:xfrm>
            <a:off x="512064" y="2471623"/>
            <a:ext cx="128016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PROJEKT</a:t>
            </a:r>
            <a:endParaRPr lang="en-US" sz="665" dirty="0"/>
          </a:p>
        </p:txBody>
      </p:sp>
      <p:sp>
        <p:nvSpPr>
          <p:cNvPr id="18" name="Shape 14"/>
          <p:cNvSpPr/>
          <p:nvPr/>
        </p:nvSpPr>
        <p:spPr>
          <a:xfrm>
            <a:off x="1938528" y="2441448"/>
            <a:ext cx="2523744"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19" name="Text 15"/>
          <p:cNvSpPr/>
          <p:nvPr/>
        </p:nvSpPr>
        <p:spPr>
          <a:xfrm>
            <a:off x="1975104" y="2471623"/>
            <a:ext cx="2450592"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SPIELABLAUF + OOP</a:t>
            </a:r>
            <a:endParaRPr lang="en-US" sz="665" dirty="0"/>
          </a:p>
        </p:txBody>
      </p:sp>
      <p:sp>
        <p:nvSpPr>
          <p:cNvPr id="20" name="Shape 16"/>
          <p:cNvSpPr/>
          <p:nvPr/>
        </p:nvSpPr>
        <p:spPr>
          <a:xfrm>
            <a:off x="4572000" y="2441448"/>
            <a:ext cx="2029968"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1" name="Text 17"/>
          <p:cNvSpPr/>
          <p:nvPr/>
        </p:nvSpPr>
        <p:spPr>
          <a:xfrm>
            <a:off x="4608576" y="2471623"/>
            <a:ext cx="1956816"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ALGORITHMEN</a:t>
            </a:r>
            <a:endParaRPr lang="en-US" sz="665" dirty="0"/>
          </a:p>
        </p:txBody>
      </p:sp>
      <p:sp>
        <p:nvSpPr>
          <p:cNvPr id="22" name="Shape 18"/>
          <p:cNvSpPr/>
          <p:nvPr/>
        </p:nvSpPr>
        <p:spPr>
          <a:xfrm>
            <a:off x="6711696" y="2441448"/>
            <a:ext cx="1901952" cy="164592"/>
          </a:xfrm>
          <a:prstGeom prst="roundRect">
            <a:avLst>
              <a:gd name="adj" fmla="val 19444"/>
            </a:avLst>
          </a:prstGeom>
          <a:solidFill>
            <a:srgbClr val="2478F6"/>
          </a:solidFill>
          <a:ln w="12700">
            <a:solidFill>
              <a:srgbClr val="2478F6">
                <a:alpha val="0"/>
              </a:srgbClr>
            </a:solidFill>
            <a:prstDash val="solid"/>
          </a:ln>
        </p:spPr>
        <p:txBody>
          <a:bodyPr/>
          <a:p/>
        </p:txBody>
      </p:sp>
      <p:sp>
        <p:nvSpPr>
          <p:cNvPr id="23" name="Text 19"/>
          <p:cNvSpPr/>
          <p:nvPr/>
        </p:nvSpPr>
        <p:spPr>
          <a:xfrm>
            <a:off x="6748272" y="2471623"/>
            <a:ext cx="182880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FFFFFF"/>
                </a:solidFill>
                <a:latin typeface="Inter" pitchFamily="34" charset="0"/>
                <a:ea typeface="Inter" pitchFamily="34" charset="-122"/>
                <a:cs typeface="Inter" pitchFamily="34" charset="-120"/>
              </a:rPr>
              <a:t>TEST + STATUS</a:t>
            </a:r>
            <a:endParaRPr lang="en-US" sz="665" dirty="0"/>
          </a:p>
        </p:txBody>
      </p:sp>
      <p:sp>
        <p:nvSpPr>
          <p:cNvPr id="24" name="Shape 20"/>
          <p:cNvSpPr/>
          <p:nvPr/>
        </p:nvSpPr>
        <p:spPr>
          <a:xfrm>
            <a:off x="8723376" y="2441448"/>
            <a:ext cx="1490472" cy="164592"/>
          </a:xfrm>
          <a:prstGeom prst="roundRect">
            <a:avLst>
              <a:gd name="adj" fmla="val 19444"/>
            </a:avLst>
          </a:prstGeom>
          <a:solidFill>
            <a:srgbClr val="EEF4F9"/>
          </a:solidFill>
          <a:ln w="12700">
            <a:solidFill>
              <a:srgbClr val="EEF4F9">
                <a:alpha val="0"/>
              </a:srgbClr>
            </a:solidFill>
            <a:prstDash val="solid"/>
          </a:ln>
        </p:spPr>
        <p:txBody>
          <a:bodyPr/>
          <a:p/>
        </p:txBody>
      </p:sp>
      <p:sp>
        <p:nvSpPr>
          <p:cNvPr id="25" name="Text 21"/>
          <p:cNvSpPr/>
          <p:nvPr/>
        </p:nvSpPr>
        <p:spPr>
          <a:xfrm>
            <a:off x="8759952" y="2471623"/>
            <a:ext cx="1417320" cy="96012"/>
          </a:xfrm>
          <a:prstGeom prst="rect">
            <a:avLst/>
          </a:prstGeom>
          <a:noFill/>
          <a:ln/>
        </p:spPr>
        <p:txBody>
          <a:bodyPr wrap="square" lIns="0" tIns="0" rIns="0" bIns="0" rtlCol="0" anchor="ctr">
            <a:normAutofit/>
          </a:bodyPr>
          <a:lstStyle/>
          <a:p>
            <a:pPr algn="ctr" indent="0" marL="0">
              <a:lnSpc>
                <a:spcPct val="100000"/>
              </a:lnSpc>
              <a:buNone/>
            </a:pPr>
            <a:r>
              <a:rPr lang="en-US" sz="665" b="1" dirty="0">
                <a:solidFill>
                  <a:srgbClr val="557087"/>
                </a:solidFill>
                <a:latin typeface="Inter" pitchFamily="34" charset="0"/>
                <a:ea typeface="Inter" pitchFamily="34" charset="-122"/>
                <a:cs typeface="Inter" pitchFamily="34" charset="-120"/>
              </a:rPr>
              <a:t>LIVE-CODE</a:t>
            </a:r>
            <a:endParaRPr lang="en-US" sz="665" dirty="0"/>
          </a:p>
        </p:txBody>
      </p:sp>
      <p:sp>
        <p:nvSpPr>
          <p:cNvPr id="26" name="Shape 22"/>
          <p:cNvSpPr/>
          <p:nvPr/>
        </p:nvSpPr>
        <p:spPr>
          <a:xfrm>
            <a:off x="685800" y="2798064"/>
            <a:ext cx="3465576" cy="2295144"/>
          </a:xfrm>
          <a:prstGeom prst="roundRect">
            <a:avLst>
              <a:gd name="adj" fmla="val 5179"/>
            </a:avLst>
          </a:prstGeom>
          <a:solidFill>
            <a:srgbClr val="FFFFFF"/>
          </a:solidFill>
          <a:ln w="8255">
            <a:solidFill>
              <a:srgbClr val="D8E3EE"/>
            </a:solidFill>
            <a:prstDash val="solid"/>
          </a:ln>
        </p:spPr>
        <p:txBody>
          <a:bodyPr/>
          <a:p/>
        </p:txBody>
      </p:sp>
      <p:sp>
        <p:nvSpPr>
          <p:cNvPr id="27" name="Shape 23"/>
          <p:cNvSpPr/>
          <p:nvPr/>
        </p:nvSpPr>
        <p:spPr>
          <a:xfrm>
            <a:off x="859536" y="3026664"/>
            <a:ext cx="50292" cy="310896"/>
          </a:xfrm>
          <a:prstGeom prst="rect">
            <a:avLst/>
          </a:prstGeom>
          <a:solidFill>
            <a:srgbClr val="2478F6"/>
          </a:solidFill>
          <a:ln w="12700">
            <a:solidFill>
              <a:srgbClr val="2478F6">
                <a:alpha val="0"/>
              </a:srgbClr>
            </a:solidFill>
            <a:prstDash val="solid"/>
          </a:ln>
        </p:spPr>
        <p:txBody>
          <a:bodyPr/>
          <a:p/>
        </p:txBody>
      </p:sp>
      <p:sp>
        <p:nvSpPr>
          <p:cNvPr id="28" name="Text 24"/>
          <p:cNvSpPr/>
          <p:nvPr/>
        </p:nvSpPr>
        <p:spPr>
          <a:xfrm>
            <a:off x="1042416" y="2999232"/>
            <a:ext cx="2935224"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01  Struktur</a:t>
            </a:r>
            <a:endParaRPr lang="en-US" sz="1620" dirty="0"/>
          </a:p>
        </p:txBody>
      </p:sp>
      <p:sp>
        <p:nvSpPr>
          <p:cNvPr id="29" name="Text 25"/>
          <p:cNvSpPr/>
          <p:nvPr/>
        </p:nvSpPr>
        <p:spPr>
          <a:xfrm>
            <a:off x="886968" y="3511296"/>
            <a:ext cx="3063240" cy="140817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Verantwortlichkeiten sind klar in Game, Board, Player und Move aufgeteilt.</a:t>
            </a:r>
            <a:endParaRPr lang="en-US" sz="1210" dirty="0"/>
          </a:p>
        </p:txBody>
      </p:sp>
      <p:sp>
        <p:nvSpPr>
          <p:cNvPr id="30" name="Shape 26"/>
          <p:cNvSpPr/>
          <p:nvPr/>
        </p:nvSpPr>
        <p:spPr>
          <a:xfrm>
            <a:off x="4370832" y="2798064"/>
            <a:ext cx="3465576" cy="2295144"/>
          </a:xfrm>
          <a:prstGeom prst="roundRect">
            <a:avLst>
              <a:gd name="adj" fmla="val 5179"/>
            </a:avLst>
          </a:prstGeom>
          <a:solidFill>
            <a:srgbClr val="FFFFFF"/>
          </a:solidFill>
          <a:ln w="8255">
            <a:solidFill>
              <a:srgbClr val="D8E3EE"/>
            </a:solidFill>
            <a:prstDash val="solid"/>
          </a:ln>
        </p:spPr>
        <p:txBody>
          <a:bodyPr/>
          <a:p/>
        </p:txBody>
      </p:sp>
      <p:sp>
        <p:nvSpPr>
          <p:cNvPr id="31" name="Shape 27"/>
          <p:cNvSpPr/>
          <p:nvPr/>
        </p:nvSpPr>
        <p:spPr>
          <a:xfrm>
            <a:off x="4544568" y="3026664"/>
            <a:ext cx="50292" cy="310896"/>
          </a:xfrm>
          <a:prstGeom prst="rect">
            <a:avLst/>
          </a:prstGeom>
          <a:solidFill>
            <a:srgbClr val="35C8EF"/>
          </a:solidFill>
          <a:ln w="12700">
            <a:solidFill>
              <a:srgbClr val="35C8EF">
                <a:alpha val="0"/>
              </a:srgbClr>
            </a:solidFill>
            <a:prstDash val="solid"/>
          </a:ln>
        </p:spPr>
        <p:txBody>
          <a:bodyPr/>
          <a:p/>
        </p:txBody>
      </p:sp>
      <p:sp>
        <p:nvSpPr>
          <p:cNvPr id="32" name="Text 28"/>
          <p:cNvSpPr/>
          <p:nvPr/>
        </p:nvSpPr>
        <p:spPr>
          <a:xfrm>
            <a:off x="4727448" y="2999232"/>
            <a:ext cx="2935224"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02  Logik</a:t>
            </a:r>
            <a:endParaRPr lang="en-US" sz="1620" dirty="0"/>
          </a:p>
        </p:txBody>
      </p:sp>
      <p:sp>
        <p:nvSpPr>
          <p:cNvPr id="33" name="Text 29"/>
          <p:cNvSpPr/>
          <p:nvPr/>
        </p:nvSpPr>
        <p:spPr>
          <a:xfrm>
            <a:off x="4572000" y="3511296"/>
            <a:ext cx="3063240" cy="140817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Ein zentraler Algorithmus prüft jede mögliche Gewinnrichtung.</a:t>
            </a:r>
            <a:endParaRPr lang="en-US" sz="1210" dirty="0"/>
          </a:p>
        </p:txBody>
      </p:sp>
      <p:sp>
        <p:nvSpPr>
          <p:cNvPr id="34" name="Shape 30"/>
          <p:cNvSpPr/>
          <p:nvPr/>
        </p:nvSpPr>
        <p:spPr>
          <a:xfrm>
            <a:off x="8055864" y="2798064"/>
            <a:ext cx="3465576" cy="2295144"/>
          </a:xfrm>
          <a:prstGeom prst="roundRect">
            <a:avLst>
              <a:gd name="adj" fmla="val 5179"/>
            </a:avLst>
          </a:prstGeom>
          <a:solidFill>
            <a:srgbClr val="FFFFFF"/>
          </a:solidFill>
          <a:ln w="8255">
            <a:solidFill>
              <a:srgbClr val="D8E3EE"/>
            </a:solidFill>
            <a:prstDash val="solid"/>
          </a:ln>
        </p:spPr>
        <p:txBody>
          <a:bodyPr/>
          <a:p/>
        </p:txBody>
      </p:sp>
      <p:sp>
        <p:nvSpPr>
          <p:cNvPr id="35" name="Shape 31"/>
          <p:cNvSpPr/>
          <p:nvPr/>
        </p:nvSpPr>
        <p:spPr>
          <a:xfrm>
            <a:off x="8229600" y="3026664"/>
            <a:ext cx="50292" cy="310896"/>
          </a:xfrm>
          <a:prstGeom prst="rect">
            <a:avLst/>
          </a:prstGeom>
          <a:solidFill>
            <a:srgbClr val="59C1B0"/>
          </a:solidFill>
          <a:ln w="12700">
            <a:solidFill>
              <a:srgbClr val="59C1B0">
                <a:alpha val="0"/>
              </a:srgbClr>
            </a:solidFill>
            <a:prstDash val="solid"/>
          </a:ln>
        </p:spPr>
        <p:txBody>
          <a:bodyPr/>
          <a:p/>
        </p:txBody>
      </p:sp>
      <p:sp>
        <p:nvSpPr>
          <p:cNvPr id="36" name="Text 32"/>
          <p:cNvSpPr/>
          <p:nvPr/>
        </p:nvSpPr>
        <p:spPr>
          <a:xfrm>
            <a:off x="8412480" y="2999232"/>
            <a:ext cx="2935224" cy="365760"/>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63D"/>
                </a:solidFill>
                <a:latin typeface="Inter" pitchFamily="34" charset="0"/>
                <a:ea typeface="Inter" pitchFamily="34" charset="-122"/>
                <a:cs typeface="Inter" pitchFamily="34" charset="-120"/>
              </a:rPr>
              <a:t>03  Robustheit</a:t>
            </a:r>
            <a:endParaRPr lang="en-US" sz="1620" dirty="0"/>
          </a:p>
        </p:txBody>
      </p:sp>
      <p:sp>
        <p:nvSpPr>
          <p:cNvPr id="37" name="Text 33"/>
          <p:cNvSpPr/>
          <p:nvPr/>
        </p:nvSpPr>
        <p:spPr>
          <a:xfrm>
            <a:off x="8257032" y="3511296"/>
            <a:ext cx="3063240" cy="140817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557087"/>
                </a:solidFill>
                <a:latin typeface="Inter" pitchFamily="34" charset="0"/>
                <a:ea typeface="Inter" pitchFamily="34" charset="-122"/>
                <a:cs typeface="Inter" pitchFamily="34" charset="-120"/>
              </a:rPr>
              <a:t>Ungültige Eingaben und Dateifehler sind im Entwurf berücksichtigt.</a:t>
            </a:r>
            <a:endParaRPr lang="en-US" sz="1210" dirty="0"/>
          </a:p>
        </p:txBody>
      </p:sp>
      <p:sp>
        <p:nvSpPr>
          <p:cNvPr id="38" name="Shape 34"/>
          <p:cNvSpPr/>
          <p:nvPr/>
        </p:nvSpPr>
        <p:spPr>
          <a:xfrm>
            <a:off x="731520" y="5577840"/>
            <a:ext cx="10716768" cy="457200"/>
          </a:xfrm>
          <a:prstGeom prst="roundRect">
            <a:avLst>
              <a:gd name="adj" fmla="val 20000"/>
            </a:avLst>
          </a:prstGeom>
          <a:solidFill>
            <a:srgbClr val="0A2544"/>
          </a:solidFill>
          <a:ln w="12700">
            <a:solidFill>
              <a:srgbClr val="0A2544">
                <a:alpha val="0"/>
              </a:srgbClr>
            </a:solidFill>
            <a:prstDash val="solid"/>
          </a:ln>
        </p:spPr>
        <p:txBody>
          <a:bodyPr/>
          <a:p/>
        </p:txBody>
      </p:sp>
      <p:sp>
        <p:nvSpPr>
          <p:cNvPr id="39" name="Text 35"/>
          <p:cNvSpPr/>
          <p:nvPr/>
        </p:nvSpPr>
        <p:spPr>
          <a:xfrm>
            <a:off x="1088136" y="5733288"/>
            <a:ext cx="10012680" cy="182880"/>
          </a:xfrm>
          <a:prstGeom prst="rect">
            <a:avLst/>
          </a:prstGeom>
          <a:noFill/>
          <a:ln/>
        </p:spPr>
        <p:txBody>
          <a:bodyPr wrap="square" lIns="0" tIns="0" rIns="0" bIns="0" rtlCol="0" anchor="ctr">
            <a:normAutofit/>
          </a:bodyPr>
          <a:lstStyle/>
          <a:p>
            <a:pPr algn="ctr" indent="0" marL="0">
              <a:lnSpc>
                <a:spcPct val="100000"/>
              </a:lnSpc>
              <a:buNone/>
            </a:pPr>
            <a:r>
              <a:rPr lang="en-US" sz="1250" b="1" spc="70" kern="0" dirty="0">
                <a:solidFill>
                  <a:srgbClr val="FFFFFF"/>
                </a:solidFill>
                <a:latin typeface="Inter" pitchFamily="34" charset="0"/>
                <a:ea typeface="Inter" pitchFamily="34" charset="-122"/>
                <a:cs typeface="Inter" pitchFamily="34" charset="-120"/>
              </a:rPr>
              <a:t>NÄCHSTER SCHRITT  →  QUELLCODE LIVE IM EDITOR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71B30"/>
          </a:solidFill>
          <a:ln w="12700">
            <a:solidFill>
              <a:srgbClr val="071B30">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35C8EF"/>
                </a:solidFill>
                <a:latin typeface="Inter" pitchFamily="34" charset="0"/>
                <a:ea typeface="Inter" pitchFamily="34" charset="-122"/>
                <a:cs typeface="Inter" pitchFamily="34" charset="-120"/>
              </a:rPr>
              <a:t>14  /  LIVE-CODE / AGENDA</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FFFFFF"/>
                </a:solidFill>
                <a:latin typeface="Inter" pitchFamily="34" charset="0"/>
                <a:ea typeface="Inter" pitchFamily="34" charset="-122"/>
                <a:cs typeface="Inter" pitchFamily="34" charset="-120"/>
              </a:rPr>
              <a:t>Jetzt in Visual Studio Code.</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A7BDD0"/>
                </a:solidFill>
                <a:latin typeface="Inter" pitchFamily="34" charset="0"/>
                <a:ea typeface="Inter" pitchFamily="34" charset="-122"/>
                <a:cs typeface="Inter" pitchFamily="34" charset="-120"/>
              </a:rPr>
              <a:t>15 Minuten · Programmstart, Klassen, Sieglogik und ausführbare Tests.</a:t>
            </a:r>
            <a:endParaRPr lang="en-US" sz="1360" dirty="0"/>
          </a:p>
        </p:txBody>
      </p:sp>
      <p:sp>
        <p:nvSpPr>
          <p:cNvPr id="13" name="Shape 9"/>
          <p:cNvSpPr/>
          <p:nvPr/>
        </p:nvSpPr>
        <p:spPr>
          <a:xfrm>
            <a:off x="475488" y="6483096"/>
            <a:ext cx="11274552" cy="0"/>
          </a:xfrm>
          <a:prstGeom prst="line">
            <a:avLst/>
          </a:prstGeom>
          <a:noFill/>
          <a:ln w="8255">
            <a:solidFill>
              <a:srgbClr val="234360"/>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A7BDD0"/>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A7BDD0"/>
                </a:solidFill>
                <a:latin typeface="Inter" pitchFamily="34" charset="0"/>
                <a:ea typeface="Inter" pitchFamily="34" charset="-122"/>
                <a:cs typeface="Inter" pitchFamily="34" charset="-120"/>
              </a:rPr>
              <a:t>14 / 14</a:t>
            </a:r>
            <a:endParaRPr lang="en-US" sz="810" dirty="0"/>
          </a:p>
        </p:txBody>
      </p:sp>
      <p:sp>
        <p:nvSpPr>
          <p:cNvPr id="16" name="Shape 12"/>
          <p:cNvSpPr/>
          <p:nvPr/>
        </p:nvSpPr>
        <p:spPr>
          <a:xfrm>
            <a:off x="685800" y="2834640"/>
            <a:ext cx="2130552" cy="2267712"/>
          </a:xfrm>
          <a:prstGeom prst="roundRect">
            <a:avLst>
              <a:gd name="adj" fmla="val 5579"/>
            </a:avLst>
          </a:prstGeom>
          <a:solidFill>
            <a:srgbClr val="0A2544"/>
          </a:solidFill>
          <a:ln w="8255">
            <a:solidFill>
              <a:srgbClr val="245072"/>
            </a:solidFill>
            <a:prstDash val="solid"/>
          </a:ln>
        </p:spPr>
        <p:txBody>
          <a:bodyPr/>
          <a:p/>
        </p:txBody>
      </p:sp>
      <p:sp>
        <p:nvSpPr>
          <p:cNvPr id="17" name="Text 13"/>
          <p:cNvSpPr/>
          <p:nvPr/>
        </p:nvSpPr>
        <p:spPr>
          <a:xfrm>
            <a:off x="850392" y="3163824"/>
            <a:ext cx="1783080" cy="32004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35C8EF"/>
                </a:solidFill>
                <a:latin typeface="Inter" pitchFamily="34" charset="0"/>
                <a:ea typeface="Inter" pitchFamily="34" charset="-122"/>
                <a:cs typeface="Inter" pitchFamily="34" charset="-120"/>
              </a:rPr>
              <a:t>00–02</a:t>
            </a:r>
            <a:endParaRPr lang="en-US" sz="2100" dirty="0"/>
          </a:p>
        </p:txBody>
      </p:sp>
      <p:sp>
        <p:nvSpPr>
          <p:cNvPr id="18" name="Shape 14"/>
          <p:cNvSpPr/>
          <p:nvPr/>
        </p:nvSpPr>
        <p:spPr>
          <a:xfrm>
            <a:off x="850392" y="3776472"/>
            <a:ext cx="512064" cy="41148"/>
          </a:xfrm>
          <a:prstGeom prst="rect">
            <a:avLst/>
          </a:prstGeom>
          <a:solidFill>
            <a:srgbClr val="2478F6"/>
          </a:solidFill>
          <a:ln w="12700">
            <a:solidFill>
              <a:srgbClr val="2478F6">
                <a:alpha val="0"/>
              </a:srgbClr>
            </a:solidFill>
            <a:prstDash val="solid"/>
          </a:ln>
        </p:spPr>
        <p:txBody>
          <a:bodyPr/>
          <a:p/>
        </p:txBody>
      </p:sp>
      <p:sp>
        <p:nvSpPr>
          <p:cNvPr id="19" name="Text 15"/>
          <p:cNvSpPr/>
          <p:nvPr/>
        </p:nvSpPr>
        <p:spPr>
          <a:xfrm>
            <a:off x="850392" y="4041648"/>
            <a:ext cx="1792224" cy="841248"/>
          </a:xfrm>
          <a:prstGeom prst="rect">
            <a:avLst/>
          </a:prstGeom>
          <a:noFill/>
          <a:ln/>
        </p:spPr>
        <p:txBody>
          <a:bodyPr wrap="square" lIns="0" tIns="0" rIns="0" bIns="0" rtlCol="0" anchor="t">
            <a:normAutofit/>
          </a:bodyPr>
          <a:lstStyle/>
          <a:p>
            <a:pPr algn="l" indent="0" marL="0">
              <a:lnSpc>
                <a:spcPct val="100000"/>
              </a:lnSpc>
              <a:buNone/>
            </a:pPr>
            <a:r>
              <a:rPr lang="en-US" sz="1310" b="1" dirty="0">
                <a:solidFill>
                  <a:srgbClr val="FFFFFF"/>
                </a:solidFill>
                <a:latin typeface="Inter" pitchFamily="34" charset="0"/>
                <a:ea typeface="Inter" pitchFamily="34" charset="-122"/>
                <a:cs typeface="Inter" pitchFamily="34" charset="-120"/>
              </a:rPr>
              <a:t>main.cpp &amp; Game.h</a:t>
            </a:r>
            <a:endParaRPr lang="en-US" sz="1310" dirty="0"/>
          </a:p>
        </p:txBody>
      </p:sp>
      <p:sp>
        <p:nvSpPr>
          <p:cNvPr id="20" name="Shape 16"/>
          <p:cNvSpPr/>
          <p:nvPr/>
        </p:nvSpPr>
        <p:spPr>
          <a:xfrm>
            <a:off x="2990088" y="2834640"/>
            <a:ext cx="2130552" cy="2267712"/>
          </a:xfrm>
          <a:prstGeom prst="roundRect">
            <a:avLst>
              <a:gd name="adj" fmla="val 5579"/>
            </a:avLst>
          </a:prstGeom>
          <a:solidFill>
            <a:srgbClr val="0A2544"/>
          </a:solidFill>
          <a:ln w="8255">
            <a:solidFill>
              <a:srgbClr val="245072"/>
            </a:solidFill>
            <a:prstDash val="solid"/>
          </a:ln>
        </p:spPr>
        <p:txBody>
          <a:bodyPr/>
          <a:p/>
        </p:txBody>
      </p:sp>
      <p:sp>
        <p:nvSpPr>
          <p:cNvPr id="21" name="Text 17"/>
          <p:cNvSpPr/>
          <p:nvPr/>
        </p:nvSpPr>
        <p:spPr>
          <a:xfrm>
            <a:off x="3154680" y="3163824"/>
            <a:ext cx="1783080" cy="32004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35C8EF"/>
                </a:solidFill>
                <a:latin typeface="Inter" pitchFamily="34" charset="0"/>
                <a:ea typeface="Inter" pitchFamily="34" charset="-122"/>
                <a:cs typeface="Inter" pitchFamily="34" charset="-120"/>
              </a:rPr>
              <a:t>02–05</a:t>
            </a:r>
            <a:endParaRPr lang="en-US" sz="2100" dirty="0"/>
          </a:p>
        </p:txBody>
      </p:sp>
      <p:sp>
        <p:nvSpPr>
          <p:cNvPr id="22" name="Shape 18"/>
          <p:cNvSpPr/>
          <p:nvPr/>
        </p:nvSpPr>
        <p:spPr>
          <a:xfrm>
            <a:off x="3154680" y="3776472"/>
            <a:ext cx="512064" cy="41148"/>
          </a:xfrm>
          <a:prstGeom prst="rect">
            <a:avLst/>
          </a:prstGeom>
          <a:solidFill>
            <a:srgbClr val="2478F6"/>
          </a:solidFill>
          <a:ln w="12700">
            <a:solidFill>
              <a:srgbClr val="2478F6">
                <a:alpha val="0"/>
              </a:srgbClr>
            </a:solidFill>
            <a:prstDash val="solid"/>
          </a:ln>
        </p:spPr>
        <p:txBody>
          <a:bodyPr/>
          <a:p/>
        </p:txBody>
      </p:sp>
      <p:sp>
        <p:nvSpPr>
          <p:cNvPr id="23" name="Text 19"/>
          <p:cNvSpPr/>
          <p:nvPr/>
        </p:nvSpPr>
        <p:spPr>
          <a:xfrm>
            <a:off x="3154680" y="4041648"/>
            <a:ext cx="1792224" cy="841248"/>
          </a:xfrm>
          <a:prstGeom prst="rect">
            <a:avLst/>
          </a:prstGeom>
          <a:noFill/>
          <a:ln/>
        </p:spPr>
        <p:txBody>
          <a:bodyPr wrap="square" lIns="0" tIns="0" rIns="0" bIns="0" rtlCol="0" anchor="t">
            <a:normAutofit/>
          </a:bodyPr>
          <a:lstStyle/>
          <a:p>
            <a:pPr algn="l" indent="0" marL="0">
              <a:lnSpc>
                <a:spcPct val="100000"/>
              </a:lnSpc>
              <a:buNone/>
            </a:pPr>
            <a:r>
              <a:rPr lang="en-US" sz="1310" b="1" dirty="0">
                <a:solidFill>
                  <a:srgbClr val="FFFFFF"/>
                </a:solidFill>
                <a:latin typeface="Inter" pitchFamily="34" charset="0"/>
                <a:ea typeface="Inter" pitchFamily="34" charset="-122"/>
                <a:cs typeface="Inter" pitchFamily="34" charset="-120"/>
              </a:rPr>
              <a:t>Board-Konstruktor &amp; Spielfeld</a:t>
            </a:r>
            <a:endParaRPr lang="en-US" sz="1310" dirty="0"/>
          </a:p>
        </p:txBody>
      </p:sp>
      <p:sp>
        <p:nvSpPr>
          <p:cNvPr id="24" name="Shape 20"/>
          <p:cNvSpPr/>
          <p:nvPr/>
        </p:nvSpPr>
        <p:spPr>
          <a:xfrm>
            <a:off x="5294376" y="2834640"/>
            <a:ext cx="2130552" cy="2267712"/>
          </a:xfrm>
          <a:prstGeom prst="roundRect">
            <a:avLst>
              <a:gd name="adj" fmla="val 5579"/>
            </a:avLst>
          </a:prstGeom>
          <a:solidFill>
            <a:srgbClr val="0A2544"/>
          </a:solidFill>
          <a:ln w="8255">
            <a:solidFill>
              <a:srgbClr val="245072"/>
            </a:solidFill>
            <a:prstDash val="solid"/>
          </a:ln>
        </p:spPr>
        <p:txBody>
          <a:bodyPr/>
          <a:p/>
        </p:txBody>
      </p:sp>
      <p:sp>
        <p:nvSpPr>
          <p:cNvPr id="25" name="Text 21"/>
          <p:cNvSpPr/>
          <p:nvPr/>
        </p:nvSpPr>
        <p:spPr>
          <a:xfrm>
            <a:off x="5458968" y="3163824"/>
            <a:ext cx="1783080" cy="32004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35C8EF"/>
                </a:solidFill>
                <a:latin typeface="Inter" pitchFamily="34" charset="0"/>
                <a:ea typeface="Inter" pitchFamily="34" charset="-122"/>
                <a:cs typeface="Inter" pitchFamily="34" charset="-120"/>
              </a:rPr>
              <a:t>05–09</a:t>
            </a:r>
            <a:endParaRPr lang="en-US" sz="2100" dirty="0"/>
          </a:p>
        </p:txBody>
      </p:sp>
      <p:sp>
        <p:nvSpPr>
          <p:cNvPr id="26" name="Shape 22"/>
          <p:cNvSpPr/>
          <p:nvPr/>
        </p:nvSpPr>
        <p:spPr>
          <a:xfrm>
            <a:off x="5458968" y="3776472"/>
            <a:ext cx="512064" cy="41148"/>
          </a:xfrm>
          <a:prstGeom prst="rect">
            <a:avLst/>
          </a:prstGeom>
          <a:solidFill>
            <a:srgbClr val="2478F6"/>
          </a:solidFill>
          <a:ln w="12700">
            <a:solidFill>
              <a:srgbClr val="2478F6">
                <a:alpha val="0"/>
              </a:srgbClr>
            </a:solidFill>
            <a:prstDash val="solid"/>
          </a:ln>
        </p:spPr>
        <p:txBody>
          <a:bodyPr/>
          <a:p/>
        </p:txBody>
      </p:sp>
      <p:sp>
        <p:nvSpPr>
          <p:cNvPr id="27" name="Text 23"/>
          <p:cNvSpPr/>
          <p:nvPr/>
        </p:nvSpPr>
        <p:spPr>
          <a:xfrm>
            <a:off x="5458968" y="4041648"/>
            <a:ext cx="1792224" cy="841248"/>
          </a:xfrm>
          <a:prstGeom prst="rect">
            <a:avLst/>
          </a:prstGeom>
          <a:noFill/>
          <a:ln/>
        </p:spPr>
        <p:txBody>
          <a:bodyPr wrap="square" lIns="0" tIns="0" rIns="0" bIns="0" rtlCol="0" anchor="t">
            <a:normAutofit/>
          </a:bodyPr>
          <a:lstStyle/>
          <a:p>
            <a:pPr algn="l" indent="0" marL="0">
              <a:lnSpc>
                <a:spcPct val="100000"/>
              </a:lnSpc>
              <a:buNone/>
            </a:pPr>
            <a:r>
              <a:rPr lang="en-US" sz="1310" b="1" dirty="0">
                <a:solidFill>
                  <a:srgbClr val="FFFFFF"/>
                </a:solidFill>
                <a:latin typeface="Inter" pitchFamily="34" charset="0"/>
                <a:ea typeface="Inter" pitchFamily="34" charset="-122"/>
                <a:cs typeface="Inter" pitchFamily="34" charset="-120"/>
              </a:rPr>
              <a:t>drop() &amp; hasWon()</a:t>
            </a:r>
            <a:endParaRPr lang="en-US" sz="1310" dirty="0"/>
          </a:p>
        </p:txBody>
      </p:sp>
      <p:sp>
        <p:nvSpPr>
          <p:cNvPr id="28" name="Shape 24"/>
          <p:cNvSpPr/>
          <p:nvPr/>
        </p:nvSpPr>
        <p:spPr>
          <a:xfrm>
            <a:off x="7598664" y="2834640"/>
            <a:ext cx="2130552" cy="2267712"/>
          </a:xfrm>
          <a:prstGeom prst="roundRect">
            <a:avLst>
              <a:gd name="adj" fmla="val 5579"/>
            </a:avLst>
          </a:prstGeom>
          <a:solidFill>
            <a:srgbClr val="0A2544"/>
          </a:solidFill>
          <a:ln w="8255">
            <a:solidFill>
              <a:srgbClr val="245072"/>
            </a:solidFill>
            <a:prstDash val="solid"/>
          </a:ln>
        </p:spPr>
        <p:txBody>
          <a:bodyPr/>
          <a:p/>
        </p:txBody>
      </p:sp>
      <p:sp>
        <p:nvSpPr>
          <p:cNvPr id="29" name="Text 25"/>
          <p:cNvSpPr/>
          <p:nvPr/>
        </p:nvSpPr>
        <p:spPr>
          <a:xfrm>
            <a:off x="7763256" y="3163824"/>
            <a:ext cx="1783080" cy="32004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35C8EF"/>
                </a:solidFill>
                <a:latin typeface="Inter" pitchFamily="34" charset="0"/>
                <a:ea typeface="Inter" pitchFamily="34" charset="-122"/>
                <a:cs typeface="Inter" pitchFamily="34" charset="-120"/>
              </a:rPr>
              <a:t>09–12</a:t>
            </a:r>
            <a:endParaRPr lang="en-US" sz="2100" dirty="0"/>
          </a:p>
        </p:txBody>
      </p:sp>
      <p:sp>
        <p:nvSpPr>
          <p:cNvPr id="30" name="Shape 26"/>
          <p:cNvSpPr/>
          <p:nvPr/>
        </p:nvSpPr>
        <p:spPr>
          <a:xfrm>
            <a:off x="7763256" y="3776472"/>
            <a:ext cx="512064" cy="41148"/>
          </a:xfrm>
          <a:prstGeom prst="rect">
            <a:avLst/>
          </a:prstGeom>
          <a:solidFill>
            <a:srgbClr val="2478F6"/>
          </a:solidFill>
          <a:ln w="12700">
            <a:solidFill>
              <a:srgbClr val="2478F6">
                <a:alpha val="0"/>
              </a:srgbClr>
            </a:solidFill>
            <a:prstDash val="solid"/>
          </a:ln>
        </p:spPr>
        <p:txBody>
          <a:bodyPr/>
          <a:p/>
        </p:txBody>
      </p:sp>
      <p:sp>
        <p:nvSpPr>
          <p:cNvPr id="31" name="Text 27"/>
          <p:cNvSpPr/>
          <p:nvPr/>
        </p:nvSpPr>
        <p:spPr>
          <a:xfrm>
            <a:off x="7763256" y="4041648"/>
            <a:ext cx="1792224" cy="841248"/>
          </a:xfrm>
          <a:prstGeom prst="rect">
            <a:avLst/>
          </a:prstGeom>
          <a:noFill/>
          <a:ln/>
        </p:spPr>
        <p:txBody>
          <a:bodyPr wrap="square" lIns="0" tIns="0" rIns="0" bIns="0" rtlCol="0" anchor="t">
            <a:normAutofit/>
          </a:bodyPr>
          <a:lstStyle/>
          <a:p>
            <a:pPr algn="l" indent="0" marL="0">
              <a:lnSpc>
                <a:spcPct val="100000"/>
              </a:lnSpc>
              <a:buNone/>
            </a:pPr>
            <a:r>
              <a:rPr lang="en-US" sz="1310" b="1" dirty="0">
                <a:solidFill>
                  <a:srgbClr val="FFFFFF"/>
                </a:solidFill>
                <a:latin typeface="Inter" pitchFamily="34" charset="0"/>
                <a:ea typeface="Inter" pitchFamily="34" charset="-122"/>
                <a:cs typeface="Inter" pitchFamily="34" charset="-120"/>
              </a:rPr>
              <a:t>Game::play() &amp; Speichern</a:t>
            </a:r>
            <a:endParaRPr lang="en-US" sz="1310" dirty="0"/>
          </a:p>
        </p:txBody>
      </p:sp>
      <p:sp>
        <p:nvSpPr>
          <p:cNvPr id="32" name="Shape 28"/>
          <p:cNvSpPr/>
          <p:nvPr/>
        </p:nvSpPr>
        <p:spPr>
          <a:xfrm>
            <a:off x="9902952" y="2834640"/>
            <a:ext cx="2130552" cy="2267712"/>
          </a:xfrm>
          <a:prstGeom prst="roundRect">
            <a:avLst>
              <a:gd name="adj" fmla="val 5579"/>
            </a:avLst>
          </a:prstGeom>
          <a:solidFill>
            <a:srgbClr val="0A2544"/>
          </a:solidFill>
          <a:ln w="8255">
            <a:solidFill>
              <a:srgbClr val="245072"/>
            </a:solidFill>
            <a:prstDash val="solid"/>
          </a:ln>
        </p:spPr>
        <p:txBody>
          <a:bodyPr/>
          <a:p/>
        </p:txBody>
      </p:sp>
      <p:sp>
        <p:nvSpPr>
          <p:cNvPr id="33" name="Text 29"/>
          <p:cNvSpPr/>
          <p:nvPr/>
        </p:nvSpPr>
        <p:spPr>
          <a:xfrm>
            <a:off x="10067544" y="3163824"/>
            <a:ext cx="1783080" cy="32004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35C8EF"/>
                </a:solidFill>
                <a:latin typeface="Inter" pitchFamily="34" charset="0"/>
                <a:ea typeface="Inter" pitchFamily="34" charset="-122"/>
                <a:cs typeface="Inter" pitchFamily="34" charset="-120"/>
              </a:rPr>
              <a:t>12–15</a:t>
            </a:r>
            <a:endParaRPr lang="en-US" sz="2100" dirty="0"/>
          </a:p>
        </p:txBody>
      </p:sp>
      <p:sp>
        <p:nvSpPr>
          <p:cNvPr id="34" name="Shape 30"/>
          <p:cNvSpPr/>
          <p:nvPr/>
        </p:nvSpPr>
        <p:spPr>
          <a:xfrm>
            <a:off x="10067544" y="3776472"/>
            <a:ext cx="512064" cy="41148"/>
          </a:xfrm>
          <a:prstGeom prst="rect">
            <a:avLst/>
          </a:prstGeom>
          <a:solidFill>
            <a:srgbClr val="2478F6"/>
          </a:solidFill>
          <a:ln w="12700">
            <a:solidFill>
              <a:srgbClr val="2478F6">
                <a:alpha val="0"/>
              </a:srgbClr>
            </a:solidFill>
            <a:prstDash val="solid"/>
          </a:ln>
        </p:spPr>
        <p:txBody>
          <a:bodyPr/>
          <a:p/>
        </p:txBody>
      </p:sp>
      <p:sp>
        <p:nvSpPr>
          <p:cNvPr id="35" name="Text 31"/>
          <p:cNvSpPr/>
          <p:nvPr/>
        </p:nvSpPr>
        <p:spPr>
          <a:xfrm>
            <a:off x="10067544" y="4041648"/>
            <a:ext cx="1792224" cy="841248"/>
          </a:xfrm>
          <a:prstGeom prst="rect">
            <a:avLst/>
          </a:prstGeom>
          <a:noFill/>
          <a:ln/>
        </p:spPr>
        <p:txBody>
          <a:bodyPr wrap="square" lIns="0" tIns="0" rIns="0" bIns="0" rtlCol="0" anchor="t">
            <a:normAutofit/>
          </a:bodyPr>
          <a:lstStyle/>
          <a:p>
            <a:pPr algn="l" indent="0" marL="0">
              <a:lnSpc>
                <a:spcPct val="100000"/>
              </a:lnSpc>
              <a:buNone/>
            </a:pPr>
            <a:r>
              <a:rPr lang="en-US" sz="1310" b="1" dirty="0">
                <a:solidFill>
                  <a:srgbClr val="FFFFFF"/>
                </a:solidFill>
                <a:latin typeface="Inter" pitchFamily="34" charset="0"/>
                <a:ea typeface="Inter" pitchFamily="34" charset="-122"/>
                <a:cs typeface="Inter" pitchFamily="34" charset="-120"/>
              </a:rPr>
              <a:t>Build, Test und Demo</a:t>
            </a:r>
            <a:endParaRPr lang="en-US" sz="1310" dirty="0"/>
          </a:p>
        </p:txBody>
      </p:sp>
      <p:sp>
        <p:nvSpPr>
          <p:cNvPr id="36" name="Text 32"/>
          <p:cNvSpPr/>
          <p:nvPr/>
        </p:nvSpPr>
        <p:spPr>
          <a:xfrm>
            <a:off x="768096" y="5632704"/>
            <a:ext cx="10771632" cy="502920"/>
          </a:xfrm>
          <a:prstGeom prst="rect">
            <a:avLst/>
          </a:prstGeom>
          <a:noFill/>
          <a:ln/>
        </p:spPr>
        <p:txBody>
          <a:bodyPr wrap="square" lIns="0" tIns="0" rIns="0" bIns="0" rtlCol="0" anchor="ctr">
            <a:normAutofit/>
          </a:bodyPr>
          <a:lstStyle/>
          <a:p>
            <a:pPr algn="ctr" indent="0" marL="0">
              <a:lnSpc>
                <a:spcPct val="100000"/>
              </a:lnSpc>
              <a:buNone/>
            </a:pPr>
            <a:r>
              <a:rPr lang="en-US" sz="1300" dirty="0">
                <a:solidFill>
                  <a:srgbClr val="A7BDD0"/>
                </a:solidFill>
                <a:latin typeface="Inter" pitchFamily="34" charset="0"/>
                <a:ea typeface="Inter" pitchFamily="34" charset="-122"/>
                <a:cs typeface="Inter" pitchFamily="34" charset="-120"/>
              </a:rPr>
              <a:t>Terminal im Projektordner öffnen · Animation für die Live-Vorführung bei Bedarf mit „A“ deaktivieren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15  /  RESERVE / RÜCKFRAGEN</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Code-Navigation auf einen Blick</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Bei Detailfragen lassen sich die Funktionen in den zugehörigen Dateien direkt zeigen.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RESERVE 01/03</a:t>
            </a:r>
            <a:endParaRPr lang="en-US" sz="810" dirty="0"/>
          </a:p>
        </p:txBody>
      </p:sp>
      <p:sp>
        <p:nvSpPr>
          <p:cNvPr id="16" name="Shape 12"/>
          <p:cNvSpPr/>
          <p:nvPr/>
        </p:nvSpPr>
        <p:spPr>
          <a:xfrm>
            <a:off x="658368" y="2660904"/>
            <a:ext cx="10881360" cy="466344"/>
          </a:xfrm>
          <a:prstGeom prst="roundRect">
            <a:avLst>
              <a:gd name="adj" fmla="val 8824"/>
            </a:avLst>
          </a:prstGeom>
          <a:solidFill>
            <a:srgbClr val="FFFFFF"/>
          </a:solidFill>
          <a:ln w="12700">
            <a:solidFill>
              <a:srgbClr val="FFFFFF">
                <a:alpha val="0"/>
              </a:srgbClr>
            </a:solidFill>
            <a:prstDash val="solid"/>
          </a:ln>
        </p:spPr>
        <p:txBody>
          <a:bodyPr/>
          <a:p/>
        </p:txBody>
      </p:sp>
      <p:sp>
        <p:nvSpPr>
          <p:cNvPr id="17" name="Text 13"/>
          <p:cNvSpPr/>
          <p:nvPr/>
        </p:nvSpPr>
        <p:spPr>
          <a:xfrm>
            <a:off x="877824" y="2770632"/>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main.cpp</a:t>
            </a:r>
            <a:endParaRPr lang="en-US" sz="1210" dirty="0"/>
          </a:p>
        </p:txBody>
      </p:sp>
      <p:sp>
        <p:nvSpPr>
          <p:cNvPr id="18" name="Text 14"/>
          <p:cNvSpPr/>
          <p:nvPr/>
        </p:nvSpPr>
        <p:spPr>
          <a:xfrm>
            <a:off x="3977640" y="2770632"/>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Game-Objekt erstellen, run() starten</a:t>
            </a:r>
            <a:endParaRPr lang="en-US" sz="1240" dirty="0"/>
          </a:p>
        </p:txBody>
      </p:sp>
      <p:sp>
        <p:nvSpPr>
          <p:cNvPr id="19" name="Shape 15"/>
          <p:cNvSpPr/>
          <p:nvPr/>
        </p:nvSpPr>
        <p:spPr>
          <a:xfrm>
            <a:off x="658368" y="3200400"/>
            <a:ext cx="10881360" cy="466344"/>
          </a:xfrm>
          <a:prstGeom prst="roundRect">
            <a:avLst>
              <a:gd name="adj" fmla="val 8824"/>
            </a:avLst>
          </a:prstGeom>
          <a:solidFill>
            <a:srgbClr val="EEF4F9"/>
          </a:solidFill>
          <a:ln w="12700">
            <a:solidFill>
              <a:srgbClr val="EEF4F9">
                <a:alpha val="0"/>
              </a:srgbClr>
            </a:solidFill>
            <a:prstDash val="solid"/>
          </a:ln>
        </p:spPr>
        <p:txBody>
          <a:bodyPr/>
          <a:p/>
        </p:txBody>
      </p:sp>
      <p:sp>
        <p:nvSpPr>
          <p:cNvPr id="20" name="Text 16"/>
          <p:cNvSpPr/>
          <p:nvPr/>
        </p:nvSpPr>
        <p:spPr>
          <a:xfrm>
            <a:off x="877824" y="3310128"/>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include/Game.h</a:t>
            </a:r>
            <a:endParaRPr lang="en-US" sz="1210" dirty="0"/>
          </a:p>
        </p:txBody>
      </p:sp>
      <p:sp>
        <p:nvSpPr>
          <p:cNvPr id="21" name="Text 17"/>
          <p:cNvSpPr/>
          <p:nvPr/>
        </p:nvSpPr>
        <p:spPr>
          <a:xfrm>
            <a:off x="3977640" y="3310128"/>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Spielfluss, Spielerdaten, Speicherfunktionen</a:t>
            </a:r>
            <a:endParaRPr lang="en-US" sz="1240" dirty="0"/>
          </a:p>
        </p:txBody>
      </p:sp>
      <p:sp>
        <p:nvSpPr>
          <p:cNvPr id="22" name="Shape 18"/>
          <p:cNvSpPr/>
          <p:nvPr/>
        </p:nvSpPr>
        <p:spPr>
          <a:xfrm>
            <a:off x="658368" y="3739896"/>
            <a:ext cx="10881360" cy="466344"/>
          </a:xfrm>
          <a:prstGeom prst="roundRect">
            <a:avLst>
              <a:gd name="adj" fmla="val 8824"/>
            </a:avLst>
          </a:prstGeom>
          <a:solidFill>
            <a:srgbClr val="FFFFFF"/>
          </a:solidFill>
          <a:ln w="12700">
            <a:solidFill>
              <a:srgbClr val="FFFFFF">
                <a:alpha val="0"/>
              </a:srgbClr>
            </a:solidFill>
            <a:prstDash val="solid"/>
          </a:ln>
        </p:spPr>
        <p:txBody>
          <a:bodyPr/>
          <a:p/>
        </p:txBody>
      </p:sp>
      <p:sp>
        <p:nvSpPr>
          <p:cNvPr id="23" name="Text 19"/>
          <p:cNvSpPr/>
          <p:nvPr/>
        </p:nvSpPr>
        <p:spPr>
          <a:xfrm>
            <a:off x="877824" y="3849624"/>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include/Board.h</a:t>
            </a:r>
            <a:endParaRPr lang="en-US" sz="1210" dirty="0"/>
          </a:p>
        </p:txBody>
      </p:sp>
      <p:sp>
        <p:nvSpPr>
          <p:cNvPr id="24" name="Text 20"/>
          <p:cNvSpPr/>
          <p:nvPr/>
        </p:nvSpPr>
        <p:spPr>
          <a:xfrm>
            <a:off x="3977640" y="3849624"/>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Öffentliche Board-Schnittstelle</a:t>
            </a:r>
            <a:endParaRPr lang="en-US" sz="1240" dirty="0"/>
          </a:p>
        </p:txBody>
      </p:sp>
      <p:sp>
        <p:nvSpPr>
          <p:cNvPr id="25" name="Shape 21"/>
          <p:cNvSpPr/>
          <p:nvPr/>
        </p:nvSpPr>
        <p:spPr>
          <a:xfrm>
            <a:off x="658368" y="4279392"/>
            <a:ext cx="10881360" cy="466344"/>
          </a:xfrm>
          <a:prstGeom prst="roundRect">
            <a:avLst>
              <a:gd name="adj" fmla="val 8824"/>
            </a:avLst>
          </a:prstGeom>
          <a:solidFill>
            <a:srgbClr val="EEF4F9"/>
          </a:solidFill>
          <a:ln w="12700">
            <a:solidFill>
              <a:srgbClr val="EEF4F9">
                <a:alpha val="0"/>
              </a:srgbClr>
            </a:solidFill>
            <a:prstDash val="solid"/>
          </a:ln>
        </p:spPr>
        <p:txBody>
          <a:bodyPr/>
          <a:p/>
        </p:txBody>
      </p:sp>
      <p:sp>
        <p:nvSpPr>
          <p:cNvPr id="26" name="Text 22"/>
          <p:cNvSpPr/>
          <p:nvPr/>
        </p:nvSpPr>
        <p:spPr>
          <a:xfrm>
            <a:off x="877824" y="4389120"/>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src/Board.cpp</a:t>
            </a:r>
            <a:endParaRPr lang="en-US" sz="1210" dirty="0"/>
          </a:p>
        </p:txBody>
      </p:sp>
      <p:sp>
        <p:nvSpPr>
          <p:cNvPr id="27" name="Text 23"/>
          <p:cNvSpPr/>
          <p:nvPr/>
        </p:nvSpPr>
        <p:spPr>
          <a:xfrm>
            <a:off x="3977640" y="4389120"/>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drop(), hasWon(), undo(), animateDrop()</a:t>
            </a:r>
            <a:endParaRPr lang="en-US" sz="1240" dirty="0"/>
          </a:p>
        </p:txBody>
      </p:sp>
      <p:sp>
        <p:nvSpPr>
          <p:cNvPr id="28" name="Shape 24"/>
          <p:cNvSpPr/>
          <p:nvPr/>
        </p:nvSpPr>
        <p:spPr>
          <a:xfrm>
            <a:off x="658368" y="4818888"/>
            <a:ext cx="10881360" cy="466344"/>
          </a:xfrm>
          <a:prstGeom prst="roundRect">
            <a:avLst>
              <a:gd name="adj" fmla="val 8824"/>
            </a:avLst>
          </a:prstGeom>
          <a:solidFill>
            <a:srgbClr val="FFFFFF"/>
          </a:solidFill>
          <a:ln w="12700">
            <a:solidFill>
              <a:srgbClr val="FFFFFF">
                <a:alpha val="0"/>
              </a:srgbClr>
            </a:solidFill>
            <a:prstDash val="solid"/>
          </a:ln>
        </p:spPr>
        <p:txBody>
          <a:bodyPr/>
          <a:p/>
        </p:txBody>
      </p:sp>
      <p:sp>
        <p:nvSpPr>
          <p:cNvPr id="29" name="Text 25"/>
          <p:cNvSpPr/>
          <p:nvPr/>
        </p:nvSpPr>
        <p:spPr>
          <a:xfrm>
            <a:off x="877824" y="4928616"/>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src/Game.cpp</a:t>
            </a:r>
            <a:endParaRPr lang="en-US" sz="1210" dirty="0"/>
          </a:p>
        </p:txBody>
      </p:sp>
      <p:sp>
        <p:nvSpPr>
          <p:cNvPr id="30" name="Text 26"/>
          <p:cNvSpPr/>
          <p:nvPr/>
        </p:nvSpPr>
        <p:spPr>
          <a:xfrm>
            <a:off x="3977640" y="4928616"/>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Menü, Sonderbefehle, Dateivalidierung</a:t>
            </a:r>
            <a:endParaRPr lang="en-US" sz="1240" dirty="0"/>
          </a:p>
        </p:txBody>
      </p:sp>
      <p:sp>
        <p:nvSpPr>
          <p:cNvPr id="31" name="Shape 27"/>
          <p:cNvSpPr/>
          <p:nvPr/>
        </p:nvSpPr>
        <p:spPr>
          <a:xfrm>
            <a:off x="658368" y="5358384"/>
            <a:ext cx="10881360" cy="466344"/>
          </a:xfrm>
          <a:prstGeom prst="roundRect">
            <a:avLst>
              <a:gd name="adj" fmla="val 8824"/>
            </a:avLst>
          </a:prstGeom>
          <a:solidFill>
            <a:srgbClr val="EEF4F9"/>
          </a:solidFill>
          <a:ln w="12700">
            <a:solidFill>
              <a:srgbClr val="EEF4F9">
                <a:alpha val="0"/>
              </a:srgbClr>
            </a:solidFill>
            <a:prstDash val="solid"/>
          </a:ln>
        </p:spPr>
        <p:txBody>
          <a:bodyPr/>
          <a:p/>
        </p:txBody>
      </p:sp>
      <p:sp>
        <p:nvSpPr>
          <p:cNvPr id="32" name="Text 28"/>
          <p:cNvSpPr/>
          <p:nvPr/>
        </p:nvSpPr>
        <p:spPr>
          <a:xfrm>
            <a:off x="877824" y="5468112"/>
            <a:ext cx="3063240" cy="219456"/>
          </a:xfrm>
          <a:prstGeom prst="rect">
            <a:avLst/>
          </a:prstGeom>
          <a:noFill/>
          <a:ln/>
        </p:spPr>
        <p:txBody>
          <a:bodyPr wrap="square" lIns="0" tIns="0" rIns="0" bIns="0" rtlCol="0" anchor="ctr">
            <a:normAutofit/>
          </a:bodyPr>
          <a:lstStyle/>
          <a:p>
            <a:pPr algn="l" indent="0" marL="0">
              <a:lnSpc>
                <a:spcPct val="100000"/>
              </a:lnSpc>
              <a:buNone/>
            </a:pPr>
            <a:r>
              <a:rPr lang="en-US" sz="1210" b="1" dirty="0">
                <a:solidFill>
                  <a:srgbClr val="2478F6"/>
                </a:solidFill>
                <a:latin typeface="Liberation Mono" pitchFamily="34" charset="0"/>
                <a:ea typeface="Liberation Mono" pitchFamily="34" charset="-122"/>
                <a:cs typeface="Liberation Mono" pitchFamily="34" charset="-120"/>
              </a:rPr>
              <a:t>tests/board_tests.cpp</a:t>
            </a:r>
            <a:endParaRPr lang="en-US" sz="1210" dirty="0"/>
          </a:p>
        </p:txBody>
      </p:sp>
      <p:sp>
        <p:nvSpPr>
          <p:cNvPr id="33" name="Text 29"/>
          <p:cNvSpPr/>
          <p:nvPr/>
        </p:nvSpPr>
        <p:spPr>
          <a:xfrm>
            <a:off x="3977640" y="5468112"/>
            <a:ext cx="7104888" cy="219456"/>
          </a:xfrm>
          <a:prstGeom prst="rect">
            <a:avLst/>
          </a:prstGeom>
          <a:noFill/>
          <a:ln/>
        </p:spPr>
        <p:txBody>
          <a:bodyPr wrap="square" lIns="0" tIns="0" rIns="0" bIns="0" rtlCol="0" anchor="ctr">
            <a:normAutofit/>
          </a:bodyPr>
          <a:lstStyle/>
          <a:p>
            <a:pPr algn="l" indent="0" marL="0">
              <a:lnSpc>
                <a:spcPct val="100000"/>
              </a:lnSpc>
              <a:buNone/>
            </a:pPr>
            <a:r>
              <a:rPr lang="en-US" sz="1240" dirty="0">
                <a:solidFill>
                  <a:srgbClr val="10263D"/>
                </a:solidFill>
                <a:latin typeface="Inter" pitchFamily="34" charset="0"/>
                <a:ea typeface="Inter" pitchFamily="34" charset="-122"/>
                <a:cs typeface="Inter" pitchFamily="34" charset="-120"/>
              </a:rPr>
              <a:t>Automatische Board-Prüfungen</a:t>
            </a:r>
            <a:endParaRPr lang="en-US" sz="12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16  /  RESERVE / FACHFRAGEN</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Drei typische Fragen zur Implementierung</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Kurz, präzise und mit nachprüfbarem Codebezug antworten.</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RESERVE 02/03</a:t>
            </a:r>
            <a:endParaRPr lang="en-US" sz="810" dirty="0"/>
          </a:p>
        </p:txBody>
      </p:sp>
      <p:sp>
        <p:nvSpPr>
          <p:cNvPr id="16" name="Shape 12"/>
          <p:cNvSpPr/>
          <p:nvPr/>
        </p:nvSpPr>
        <p:spPr>
          <a:xfrm>
            <a:off x="658368" y="2679192"/>
            <a:ext cx="10853928" cy="1005840"/>
          </a:xfrm>
          <a:prstGeom prst="roundRect">
            <a:avLst>
              <a:gd name="adj" fmla="val 11818"/>
            </a:avLst>
          </a:prstGeom>
          <a:solidFill>
            <a:srgbClr val="FFFFFF"/>
          </a:solidFill>
          <a:ln w="8255">
            <a:solidFill>
              <a:srgbClr val="D8E3EE"/>
            </a:solidFill>
            <a:prstDash val="solid"/>
          </a:ln>
        </p:spPr>
        <p:txBody>
          <a:bodyPr/>
          <a:p/>
        </p:txBody>
      </p:sp>
      <p:sp>
        <p:nvSpPr>
          <p:cNvPr id="17" name="Shape 13"/>
          <p:cNvSpPr/>
          <p:nvPr/>
        </p:nvSpPr>
        <p:spPr>
          <a:xfrm>
            <a:off x="868680" y="2880360"/>
            <a:ext cx="47549" cy="530352"/>
          </a:xfrm>
          <a:prstGeom prst="rect">
            <a:avLst/>
          </a:prstGeom>
          <a:solidFill>
            <a:srgbClr val="2478F6"/>
          </a:solidFill>
          <a:ln w="12700">
            <a:solidFill>
              <a:srgbClr val="2478F6">
                <a:alpha val="0"/>
              </a:srgbClr>
            </a:solidFill>
            <a:prstDash val="solid"/>
          </a:ln>
        </p:spPr>
        <p:txBody>
          <a:bodyPr/>
          <a:p/>
        </p:txBody>
      </p:sp>
      <p:sp>
        <p:nvSpPr>
          <p:cNvPr id="18" name="Text 14"/>
          <p:cNvSpPr/>
          <p:nvPr/>
        </p:nvSpPr>
        <p:spPr>
          <a:xfrm>
            <a:off x="1078992" y="2816352"/>
            <a:ext cx="9884664" cy="256032"/>
          </a:xfrm>
          <a:prstGeom prst="rect">
            <a:avLst/>
          </a:prstGeom>
          <a:noFill/>
          <a:ln/>
        </p:spPr>
        <p:txBody>
          <a:bodyPr wrap="square" lIns="0" tIns="0" rIns="0" bIns="0" rtlCol="0" anchor="ctr">
            <a:normAutofit/>
          </a:bodyPr>
          <a:lstStyle/>
          <a:p>
            <a:pPr algn="l" indent="0" marL="0">
              <a:lnSpc>
                <a:spcPct val="100000"/>
              </a:lnSpc>
              <a:buNone/>
            </a:pPr>
            <a:r>
              <a:rPr lang="en-US" sz="1420" b="1" dirty="0">
                <a:solidFill>
                  <a:srgbClr val="10263D"/>
                </a:solidFill>
                <a:latin typeface="Inter" pitchFamily="34" charset="0"/>
                <a:ea typeface="Inter" pitchFamily="34" charset="-122"/>
                <a:cs typeface="Inter" pitchFamily="34" charset="-120"/>
              </a:rPr>
              <a:t>Warum vier Achsen?</a:t>
            </a:r>
            <a:endParaRPr lang="en-US" sz="1420" dirty="0"/>
          </a:p>
        </p:txBody>
      </p:sp>
      <p:sp>
        <p:nvSpPr>
          <p:cNvPr id="19" name="Text 15"/>
          <p:cNvSpPr/>
          <p:nvPr/>
        </p:nvSpPr>
        <p:spPr>
          <a:xfrm>
            <a:off x="1078992" y="3182112"/>
            <a:ext cx="9966960" cy="256032"/>
          </a:xfrm>
          <a:prstGeom prst="rect">
            <a:avLst/>
          </a:prstGeom>
          <a:noFill/>
          <a:ln/>
        </p:spPr>
        <p:txBody>
          <a:bodyPr wrap="square" lIns="0" tIns="0" rIns="0" bIns="0" rtlCol="0" anchor="ctr">
            <a:normAutofit/>
          </a:bodyPr>
          <a:lstStyle/>
          <a:p>
            <a:pPr algn="l" indent="0" marL="0">
              <a:lnSpc>
                <a:spcPct val="100000"/>
              </a:lnSpc>
              <a:buNone/>
            </a:pPr>
            <a:r>
              <a:rPr lang="en-US" sz="1230" dirty="0">
                <a:solidFill>
                  <a:srgbClr val="557087"/>
                </a:solidFill>
                <a:latin typeface="Inter" pitchFamily="34" charset="0"/>
                <a:ea typeface="Inter" pitchFamily="34" charset="-122"/>
                <a:cs typeface="Inter" pitchFamily="34" charset="-120"/>
              </a:rPr>
              <a:t>Jede Achse wird in beide Richtungen gezählt. Weitere Richtungen wären redundant.</a:t>
            </a:r>
            <a:endParaRPr lang="en-US" sz="1230" dirty="0"/>
          </a:p>
        </p:txBody>
      </p:sp>
      <p:sp>
        <p:nvSpPr>
          <p:cNvPr id="20" name="Shape 16"/>
          <p:cNvSpPr/>
          <p:nvPr/>
        </p:nvSpPr>
        <p:spPr>
          <a:xfrm>
            <a:off x="658368" y="3803904"/>
            <a:ext cx="10853928" cy="1005840"/>
          </a:xfrm>
          <a:prstGeom prst="roundRect">
            <a:avLst>
              <a:gd name="adj" fmla="val 11818"/>
            </a:avLst>
          </a:prstGeom>
          <a:solidFill>
            <a:srgbClr val="FFFFFF"/>
          </a:solidFill>
          <a:ln w="8255">
            <a:solidFill>
              <a:srgbClr val="D8E3EE"/>
            </a:solidFill>
            <a:prstDash val="solid"/>
          </a:ln>
        </p:spPr>
        <p:txBody>
          <a:bodyPr/>
          <a:p/>
        </p:txBody>
      </p:sp>
      <p:sp>
        <p:nvSpPr>
          <p:cNvPr id="21" name="Shape 17"/>
          <p:cNvSpPr/>
          <p:nvPr/>
        </p:nvSpPr>
        <p:spPr>
          <a:xfrm>
            <a:off x="868680" y="4005072"/>
            <a:ext cx="47549" cy="530352"/>
          </a:xfrm>
          <a:prstGeom prst="rect">
            <a:avLst/>
          </a:prstGeom>
          <a:solidFill>
            <a:srgbClr val="2478F6"/>
          </a:solidFill>
          <a:ln w="12700">
            <a:solidFill>
              <a:srgbClr val="2478F6">
                <a:alpha val="0"/>
              </a:srgbClr>
            </a:solidFill>
            <a:prstDash val="solid"/>
          </a:ln>
        </p:spPr>
        <p:txBody>
          <a:bodyPr/>
          <a:p/>
        </p:txBody>
      </p:sp>
      <p:sp>
        <p:nvSpPr>
          <p:cNvPr id="22" name="Text 18"/>
          <p:cNvSpPr/>
          <p:nvPr/>
        </p:nvSpPr>
        <p:spPr>
          <a:xfrm>
            <a:off x="1078992" y="3941064"/>
            <a:ext cx="9884664" cy="256032"/>
          </a:xfrm>
          <a:prstGeom prst="rect">
            <a:avLst/>
          </a:prstGeom>
          <a:noFill/>
          <a:ln/>
        </p:spPr>
        <p:txBody>
          <a:bodyPr wrap="square" lIns="0" tIns="0" rIns="0" bIns="0" rtlCol="0" anchor="ctr">
            <a:normAutofit/>
          </a:bodyPr>
          <a:lstStyle/>
          <a:p>
            <a:pPr algn="l" indent="0" marL="0">
              <a:lnSpc>
                <a:spcPct val="100000"/>
              </a:lnSpc>
              <a:buNone/>
            </a:pPr>
            <a:r>
              <a:rPr lang="en-US" sz="1420" b="1" dirty="0">
                <a:solidFill>
                  <a:srgbClr val="10263D"/>
                </a:solidFill>
                <a:latin typeface="Inter" pitchFamily="34" charset="0"/>
                <a:ea typeface="Inter" pitchFamily="34" charset="-122"/>
                <a:cs typeface="Inter" pitchFamily="34" charset="-120"/>
              </a:rPr>
              <a:t>Warum eine temporäre Board-Instanz beim Laden?</a:t>
            </a:r>
            <a:endParaRPr lang="en-US" sz="1420" dirty="0"/>
          </a:p>
        </p:txBody>
      </p:sp>
      <p:sp>
        <p:nvSpPr>
          <p:cNvPr id="23" name="Text 19"/>
          <p:cNvSpPr/>
          <p:nvPr/>
        </p:nvSpPr>
        <p:spPr>
          <a:xfrm>
            <a:off x="1078992" y="4306824"/>
            <a:ext cx="9966960" cy="256032"/>
          </a:xfrm>
          <a:prstGeom prst="rect">
            <a:avLst/>
          </a:prstGeom>
          <a:noFill/>
          <a:ln/>
        </p:spPr>
        <p:txBody>
          <a:bodyPr wrap="square" lIns="0" tIns="0" rIns="0" bIns="0" rtlCol="0" anchor="ctr">
            <a:normAutofit/>
          </a:bodyPr>
          <a:lstStyle/>
          <a:p>
            <a:pPr algn="l" indent="0" marL="0">
              <a:lnSpc>
                <a:spcPct val="100000"/>
              </a:lnSpc>
              <a:buNone/>
            </a:pPr>
            <a:r>
              <a:rPr lang="en-US" sz="1230" dirty="0">
                <a:solidFill>
                  <a:srgbClr val="557087"/>
                </a:solidFill>
                <a:latin typeface="Inter" pitchFamily="34" charset="0"/>
                <a:ea typeface="Inter" pitchFamily="34" charset="-122"/>
                <a:cs typeface="Inter" pitchFamily="34" charset="-120"/>
              </a:rPr>
              <a:t>Fehlerhafte Dateien verändern so nicht den laufenden Spielzustand.</a:t>
            </a:r>
            <a:endParaRPr lang="en-US" sz="1230" dirty="0"/>
          </a:p>
        </p:txBody>
      </p:sp>
      <p:sp>
        <p:nvSpPr>
          <p:cNvPr id="24" name="Shape 20"/>
          <p:cNvSpPr/>
          <p:nvPr/>
        </p:nvSpPr>
        <p:spPr>
          <a:xfrm>
            <a:off x="658368" y="4928616"/>
            <a:ext cx="10853928" cy="1005840"/>
          </a:xfrm>
          <a:prstGeom prst="roundRect">
            <a:avLst>
              <a:gd name="adj" fmla="val 11818"/>
            </a:avLst>
          </a:prstGeom>
          <a:solidFill>
            <a:srgbClr val="FFFFFF"/>
          </a:solidFill>
          <a:ln w="8255">
            <a:solidFill>
              <a:srgbClr val="D8E3EE"/>
            </a:solidFill>
            <a:prstDash val="solid"/>
          </a:ln>
        </p:spPr>
        <p:txBody>
          <a:bodyPr/>
          <a:p/>
        </p:txBody>
      </p:sp>
      <p:sp>
        <p:nvSpPr>
          <p:cNvPr id="25" name="Shape 21"/>
          <p:cNvSpPr/>
          <p:nvPr/>
        </p:nvSpPr>
        <p:spPr>
          <a:xfrm>
            <a:off x="868680" y="5129784"/>
            <a:ext cx="47549" cy="530352"/>
          </a:xfrm>
          <a:prstGeom prst="rect">
            <a:avLst/>
          </a:prstGeom>
          <a:solidFill>
            <a:srgbClr val="2478F6"/>
          </a:solidFill>
          <a:ln w="12700">
            <a:solidFill>
              <a:srgbClr val="2478F6">
                <a:alpha val="0"/>
              </a:srgbClr>
            </a:solidFill>
            <a:prstDash val="solid"/>
          </a:ln>
        </p:spPr>
        <p:txBody>
          <a:bodyPr/>
          <a:p/>
        </p:txBody>
      </p:sp>
      <p:sp>
        <p:nvSpPr>
          <p:cNvPr id="26" name="Text 22"/>
          <p:cNvSpPr/>
          <p:nvPr/>
        </p:nvSpPr>
        <p:spPr>
          <a:xfrm>
            <a:off x="1078992" y="5065776"/>
            <a:ext cx="9884664" cy="256032"/>
          </a:xfrm>
          <a:prstGeom prst="rect">
            <a:avLst/>
          </a:prstGeom>
          <a:noFill/>
          <a:ln/>
        </p:spPr>
        <p:txBody>
          <a:bodyPr wrap="square" lIns="0" tIns="0" rIns="0" bIns="0" rtlCol="0" anchor="ctr">
            <a:normAutofit/>
          </a:bodyPr>
          <a:lstStyle/>
          <a:p>
            <a:pPr algn="l" indent="0" marL="0">
              <a:lnSpc>
                <a:spcPct val="100000"/>
              </a:lnSpc>
              <a:buNone/>
            </a:pPr>
            <a:r>
              <a:rPr lang="en-US" sz="1420" b="1" dirty="0">
                <a:solidFill>
                  <a:srgbClr val="10263D"/>
                </a:solidFill>
                <a:latin typeface="Inter" pitchFamily="34" charset="0"/>
                <a:ea typeface="Inter" pitchFamily="34" charset="-122"/>
                <a:cs typeface="Inter" pitchFamily="34" charset="-120"/>
              </a:rPr>
              <a:t>Warum enthält Player keinen Highscore?</a:t>
            </a:r>
            <a:endParaRPr lang="en-US" sz="1420" dirty="0"/>
          </a:p>
        </p:txBody>
      </p:sp>
      <p:sp>
        <p:nvSpPr>
          <p:cNvPr id="27" name="Text 23"/>
          <p:cNvSpPr/>
          <p:nvPr/>
        </p:nvSpPr>
        <p:spPr>
          <a:xfrm>
            <a:off x="1078992" y="5431536"/>
            <a:ext cx="9966960" cy="256032"/>
          </a:xfrm>
          <a:prstGeom prst="rect">
            <a:avLst/>
          </a:prstGeom>
          <a:noFill/>
          <a:ln/>
        </p:spPr>
        <p:txBody>
          <a:bodyPr wrap="square" lIns="0" tIns="0" rIns="0" bIns="0" rtlCol="0" anchor="ctr">
            <a:normAutofit/>
          </a:bodyPr>
          <a:lstStyle/>
          <a:p>
            <a:pPr algn="l" indent="0" marL="0">
              <a:lnSpc>
                <a:spcPct val="100000"/>
              </a:lnSpc>
              <a:buNone/>
            </a:pPr>
            <a:r>
              <a:rPr lang="en-US" sz="1230" dirty="0">
                <a:solidFill>
                  <a:srgbClr val="557087"/>
                </a:solidFill>
                <a:latin typeface="Inter" pitchFamily="34" charset="0"/>
                <a:ea typeface="Inter" pitchFamily="34" charset="-122"/>
                <a:cs typeface="Inter" pitchFamily="34" charset="-120"/>
              </a:rPr>
              <a:t>Die vorliegende Umsetzung hält Siege zentral in Game::highscores_ (map&lt;string,int&gt;).</a:t>
            </a:r>
            <a:endParaRPr lang="en-US" sz="12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8FC"/>
          </a:solidFill>
          <a:ln w="12700">
            <a:solidFill>
              <a:srgbClr val="F5F8FC">
                <a:alpha val="0"/>
              </a:srgbClr>
            </a:solidFill>
            <a:prstDash val="solid"/>
          </a:ln>
        </p:spPr>
        <p:txBody>
          <a:bodyPr/>
          <a:p/>
        </p:txBody>
      </p:sp>
      <p:sp>
        <p:nvSpPr>
          <p:cNvPr id="3" name="Shape 1"/>
          <p:cNvSpPr/>
          <p:nvPr/>
        </p:nvSpPr>
        <p:spPr>
          <a:xfrm>
            <a:off x="0" y="0"/>
            <a:ext cx="12192000" cy="832104"/>
          </a:xfrm>
          <a:prstGeom prst="rect">
            <a:avLst/>
          </a:prstGeom>
          <a:solidFill>
            <a:srgbClr val="071B30"/>
          </a:solidFill>
          <a:ln w="12700">
            <a:solidFill>
              <a:srgbClr val="071B30">
                <a:alpha val="0"/>
              </a:srgbClr>
            </a:solidFill>
            <a:prstDash val="solid"/>
          </a:ln>
        </p:spPr>
        <p:txBody>
          <a:bodyPr/>
          <a:p/>
        </p:txBody>
      </p:sp>
      <p:sp>
        <p:nvSpPr>
          <p:cNvPr id="4" name="Shape 2"/>
          <p:cNvSpPr/>
          <p:nvPr/>
        </p:nvSpPr>
        <p:spPr>
          <a:xfrm>
            <a:off x="0" y="0"/>
            <a:ext cx="68580" cy="832104"/>
          </a:xfrm>
          <a:prstGeom prst="rect">
            <a:avLst/>
          </a:prstGeom>
          <a:solidFill>
            <a:srgbClr val="2478F6"/>
          </a:solidFill>
          <a:ln w="12700">
            <a:solidFill>
              <a:srgbClr val="2478F6">
                <a:alpha val="0"/>
              </a:srgbClr>
            </a:solidFill>
            <a:prstDash val="solid"/>
          </a:ln>
        </p:spPr>
        <p:txBody>
          <a:bodyPr/>
          <a:p/>
        </p:txBody>
      </p:sp>
      <p:pic>
        <p:nvPicPr>
          <p:cNvPr id="5" name="Image 0" descr="/mnt/data/_work_vier/assets/img_3.png">    </p:cNvPr>
          <p:cNvPicPr>
            <a:picLocks noChangeAspect="1"/>
          </p:cNvPicPr>
          <p:nvPr/>
        </p:nvPicPr>
        <p:blipFill>
          <a:blip r:embed="rId1"/>
          <a:stretch>
            <a:fillRect/>
          </a:stretch>
        </p:blipFill>
        <p:spPr>
          <a:xfrm>
            <a:off x="320040" y="146304"/>
            <a:ext cx="466344" cy="466344"/>
          </a:xfrm>
          <a:prstGeom prst="rect">
            <a:avLst/>
          </a:prstGeom>
        </p:spPr>
      </p:pic>
      <p:sp>
        <p:nvSpPr>
          <p:cNvPr id="6" name="Text 3"/>
          <p:cNvSpPr/>
          <p:nvPr/>
        </p:nvSpPr>
        <p:spPr>
          <a:xfrm>
            <a:off x="905256" y="164592"/>
            <a:ext cx="6675120" cy="201168"/>
          </a:xfrm>
          <a:prstGeom prst="rect">
            <a:avLst/>
          </a:prstGeom>
          <a:noFill/>
          <a:ln/>
        </p:spPr>
        <p:txBody>
          <a:bodyPr wrap="square" lIns="0" tIns="0" rIns="0" bIns="0" rtlCol="0" anchor="ctr">
            <a:normAutofit/>
          </a:bodyPr>
          <a:lstStyle/>
          <a:p>
            <a:pPr algn="l" indent="0" marL="0">
              <a:lnSpc>
                <a:spcPct val="100000"/>
              </a:lnSpc>
              <a:buNone/>
            </a:pPr>
            <a:r>
              <a:rPr lang="en-US" sz="1060" b="1" spc="50" kern="0" dirty="0">
                <a:solidFill>
                  <a:srgbClr val="FFFFFF"/>
                </a:solidFill>
                <a:latin typeface="Inter" pitchFamily="34" charset="0"/>
                <a:ea typeface="Inter" pitchFamily="34" charset="-122"/>
                <a:cs typeface="Inter" pitchFamily="34" charset="-120"/>
              </a:rPr>
              <a:t>JULIAN KRAUSS  /  PROGRAMMIERTECHNIK</a:t>
            </a:r>
            <a:endParaRPr lang="en-US" sz="1060" dirty="0"/>
          </a:p>
        </p:txBody>
      </p:sp>
      <p:sp>
        <p:nvSpPr>
          <p:cNvPr id="7" name="Text 4"/>
          <p:cNvSpPr/>
          <p:nvPr/>
        </p:nvSpPr>
        <p:spPr>
          <a:xfrm>
            <a:off x="905256" y="438912"/>
            <a:ext cx="6583680" cy="137160"/>
          </a:xfrm>
          <a:prstGeom prst="rect">
            <a:avLst/>
          </a:prstGeom>
          <a:noFill/>
          <a:ln/>
        </p:spPr>
        <p:txBody>
          <a:bodyPr wrap="square" lIns="0" tIns="0" rIns="0" bIns="0" rtlCol="0" anchor="ctr">
            <a:normAutofit/>
          </a:bodyPr>
          <a:lstStyle/>
          <a:p>
            <a:pPr algn="l" indent="0" marL="0">
              <a:lnSpc>
                <a:spcPct val="100000"/>
              </a:lnSpc>
              <a:buNone/>
            </a:pPr>
            <a:r>
              <a:rPr lang="en-US" sz="860" spc="100" kern="0" dirty="0">
                <a:solidFill>
                  <a:srgbClr val="A7BDD0"/>
                </a:solidFill>
                <a:latin typeface="Inter" pitchFamily="34" charset="0"/>
                <a:ea typeface="Inter" pitchFamily="34" charset="-122"/>
                <a:cs typeface="Inter" pitchFamily="34" charset="-120"/>
              </a:rPr>
              <a:t>VIER GEWINNT  ·  GYM EDITION</a:t>
            </a:r>
            <a:endParaRPr lang="en-US" sz="860" dirty="0"/>
          </a:p>
        </p:txBody>
      </p:sp>
      <p:pic>
        <p:nvPicPr>
          <p:cNvPr id="8" name="Image 1" descr="/mnt/data/_work_vier/assets/img_5.png">    </p:cNvPr>
          <p:cNvPicPr>
            <a:picLocks noChangeAspect="1"/>
          </p:cNvPicPr>
          <p:nvPr/>
        </p:nvPicPr>
        <p:blipFill>
          <a:blip r:embed="rId2"/>
          <a:stretch>
            <a:fillRect/>
          </a:stretch>
        </p:blipFill>
        <p:spPr>
          <a:xfrm>
            <a:off x="11484864" y="59436"/>
            <a:ext cx="320954" cy="710489"/>
          </a:xfrm>
          <a:prstGeom prst="rect">
            <a:avLst/>
          </a:prstGeom>
        </p:spPr>
      </p:pic>
      <p:sp>
        <p:nvSpPr>
          <p:cNvPr id="9" name="Text 5">
            <a:hlinkClick r:id="rId3" tooltip="Zum Inhaltsverzeichnis" action="ppaction://hlinksldjump"/>
          </p:cNvPr>
          <p:cNvSpPr/>
          <p:nvPr/>
        </p:nvSpPr>
        <p:spPr>
          <a:xfrm>
            <a:off x="10076688" y="603504"/>
            <a:ext cx="1161288" cy="155448"/>
          </a:xfrm>
          <a:prstGeom prst="rect">
            <a:avLst/>
          </a:prstGeom>
          <a:noFill/>
          <a:ln/>
        </p:spPr>
        <p:txBody>
          <a:bodyPr wrap="square" lIns="0" tIns="0" rIns="0" bIns="0" rtlCol="0" anchor="ctr">
            <a:normAutofit/>
          </a:bodyPr>
          <a:lstStyle/>
          <a:p>
            <a:pPr algn="r" indent="0" marL="0">
              <a:lnSpc>
                <a:spcPct val="100000"/>
              </a:lnSpc>
              <a:buNone/>
            </a:pPr>
            <a:r>
              <a:rPr lang="en-US" sz="850" b="1" u="sng" dirty="0">
                <a:solidFill>
                  <a:srgbClr val="35C8EF"/>
                </a:solidFill>
                <a:latin typeface="Inter" pitchFamily="34" charset="0"/>
                <a:ea typeface="Inter" pitchFamily="34" charset="-122"/>
                <a:cs typeface="Inter" pitchFamily="34" charset="-120"/>
                <a:hlinkClick r:id="rId3" action="ppaction://hlinksldjump" tooltip="Zum Inhaltsverzeichnis">
                  <a:extLst>
                    <a:ext uri="{A12FA001-AC4F-418D-AE19-62706E023703}">
                      <ahyp:hlinkClr xmlns:ahyp="http://schemas.microsoft.com/office/drawing/2018/hyperlinkcolor" val="tx"/>
                    </a:ext>
                  </a:extLst>
                </a:hlinkClick>
              </a:rPr>
              <a:t>AGENDA  ↑</a:t>
            </a:r>
            <a:endParaRPr lang="en-US" sz="850" dirty="0"/>
          </a:p>
        </p:txBody>
      </p:sp>
      <p:sp>
        <p:nvSpPr>
          <p:cNvPr id="10" name="Text 6"/>
          <p:cNvSpPr/>
          <p:nvPr/>
        </p:nvSpPr>
        <p:spPr>
          <a:xfrm>
            <a:off x="475488" y="1069848"/>
            <a:ext cx="9144000" cy="21031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2478F6"/>
                </a:solidFill>
                <a:latin typeface="Inter" pitchFamily="34" charset="0"/>
                <a:ea typeface="Inter" pitchFamily="34" charset="-122"/>
                <a:cs typeface="Inter" pitchFamily="34" charset="-120"/>
              </a:rPr>
              <a:t>17  /  RESERVE / QUELLEN</a:t>
            </a:r>
            <a:endParaRPr lang="en-US" sz="1000" dirty="0"/>
          </a:p>
        </p:txBody>
      </p:sp>
      <p:sp>
        <p:nvSpPr>
          <p:cNvPr id="11" name="Text 7"/>
          <p:cNvSpPr/>
          <p:nvPr/>
        </p:nvSpPr>
        <p:spPr>
          <a:xfrm>
            <a:off x="457200" y="1399032"/>
            <a:ext cx="11201400" cy="48463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0263D"/>
                </a:solidFill>
                <a:latin typeface="Inter" pitchFamily="34" charset="0"/>
                <a:ea typeface="Inter" pitchFamily="34" charset="-122"/>
                <a:cs typeface="Inter" pitchFamily="34" charset="-120"/>
              </a:rPr>
              <a:t>Dokumentationsbasis und Status</a:t>
            </a:r>
            <a:endParaRPr lang="en-US" sz="2900" dirty="0"/>
          </a:p>
        </p:txBody>
      </p:sp>
      <p:sp>
        <p:nvSpPr>
          <p:cNvPr id="12" name="Text 8"/>
          <p:cNvSpPr/>
          <p:nvPr/>
        </p:nvSpPr>
        <p:spPr>
          <a:xfrm>
            <a:off x="475488" y="1961388"/>
            <a:ext cx="11201400" cy="365760"/>
          </a:xfrm>
          <a:prstGeom prst="rect">
            <a:avLst/>
          </a:prstGeom>
          <a:noFill/>
          <a:ln/>
        </p:spPr>
        <p:txBody>
          <a:bodyPr wrap="square" lIns="0" tIns="0" rIns="0" bIns="0" rtlCol="0" anchor="ctr">
            <a:normAutofit/>
          </a:bodyPr>
          <a:lstStyle/>
          <a:p>
            <a:pPr algn="l" indent="0" marL="0">
              <a:lnSpc>
                <a:spcPct val="100000"/>
              </a:lnSpc>
              <a:buNone/>
            </a:pPr>
            <a:r>
              <a:rPr lang="en-US" sz="1360" dirty="0">
                <a:solidFill>
                  <a:srgbClr val="557087"/>
                </a:solidFill>
                <a:latin typeface="Inter" pitchFamily="34" charset="0"/>
                <a:ea typeface="Inter" pitchFamily="34" charset="-122"/>
                <a:cs typeface="Inter" pitchFamily="34" charset="-120"/>
              </a:rPr>
              <a:t>Folien basieren auf den bereitgestellten Projektdokumenten und dem Quelltextstand vom 22./23.10.2026.</a:t>
            </a:r>
            <a:endParaRPr lang="en-US" sz="1360" dirty="0"/>
          </a:p>
        </p:txBody>
      </p:sp>
      <p:sp>
        <p:nvSpPr>
          <p:cNvPr id="13" name="Shape 9"/>
          <p:cNvSpPr/>
          <p:nvPr/>
        </p:nvSpPr>
        <p:spPr>
          <a:xfrm>
            <a:off x="475488" y="6483096"/>
            <a:ext cx="11274552" cy="0"/>
          </a:xfrm>
          <a:prstGeom prst="line">
            <a:avLst/>
          </a:prstGeom>
          <a:noFill/>
          <a:ln w="8255">
            <a:solidFill>
              <a:srgbClr val="D8E3EE"/>
            </a:solidFill>
            <a:prstDash val="solid"/>
          </a:ln>
        </p:spPr>
        <p:txBody>
          <a:bodyPr/>
          <a:p/>
        </p:txBody>
      </p:sp>
      <p:sp>
        <p:nvSpPr>
          <p:cNvPr id="14" name="Text 10"/>
          <p:cNvSpPr/>
          <p:nvPr/>
        </p:nvSpPr>
        <p:spPr>
          <a:xfrm>
            <a:off x="475488" y="6556248"/>
            <a:ext cx="9829800" cy="146304"/>
          </a:xfrm>
          <a:prstGeom prst="rect">
            <a:avLst/>
          </a:prstGeom>
          <a:noFill/>
          <a:ln/>
        </p:spPr>
        <p:txBody>
          <a:bodyPr wrap="square" lIns="0" tIns="0" rIns="0" bIns="0" rtlCol="0" anchor="ctr">
            <a:normAutofit/>
          </a:bodyPr>
          <a:lstStyle/>
          <a:p>
            <a:pPr algn="l" indent="0" marL="0">
              <a:lnSpc>
                <a:spcPct val="100000"/>
              </a:lnSpc>
              <a:buNone/>
            </a:pPr>
            <a:r>
              <a:rPr lang="en-US" sz="760" dirty="0">
                <a:solidFill>
                  <a:srgbClr val="557087"/>
                </a:solidFill>
                <a:latin typeface="Inter" pitchFamily="34" charset="0"/>
                <a:ea typeface="Inter" pitchFamily="34" charset="-122"/>
                <a:cs typeface="Inter" pitchFamily="34" charset="-120"/>
              </a:rPr>
              <a:t>© 2026 Julian Krauß  ·  JK AXIS | GOLD MASTER  ·  Bernd-Blindow-Schulen Ravensburg</a:t>
            </a:r>
            <a:endParaRPr lang="en-US" sz="760" dirty="0"/>
          </a:p>
        </p:txBody>
      </p:sp>
      <p:sp>
        <p:nvSpPr>
          <p:cNvPr id="15" name="Text 11"/>
          <p:cNvSpPr/>
          <p:nvPr/>
        </p:nvSpPr>
        <p:spPr>
          <a:xfrm>
            <a:off x="10762488" y="6547104"/>
            <a:ext cx="987552" cy="164592"/>
          </a:xfrm>
          <a:prstGeom prst="rect">
            <a:avLst/>
          </a:prstGeom>
          <a:noFill/>
          <a:ln/>
        </p:spPr>
        <p:txBody>
          <a:bodyPr wrap="square" lIns="0" tIns="0" rIns="0" bIns="0" rtlCol="0" anchor="ctr">
            <a:normAutofit/>
          </a:bodyPr>
          <a:lstStyle/>
          <a:p>
            <a:pPr algn="r" indent="0" marL="0">
              <a:lnSpc>
                <a:spcPct val="100000"/>
              </a:lnSpc>
              <a:buNone/>
            </a:pPr>
            <a:r>
              <a:rPr lang="en-US" sz="810" dirty="0">
                <a:solidFill>
                  <a:srgbClr val="557087"/>
                </a:solidFill>
                <a:latin typeface="Inter" pitchFamily="34" charset="0"/>
                <a:ea typeface="Inter" pitchFamily="34" charset="-122"/>
                <a:cs typeface="Inter" pitchFamily="34" charset="-120"/>
              </a:rPr>
              <a:t>RESERVE 03/03</a:t>
            </a:r>
            <a:endParaRPr lang="en-US" sz="810" dirty="0"/>
          </a:p>
        </p:txBody>
      </p:sp>
      <p:sp>
        <p:nvSpPr>
          <p:cNvPr id="16" name="Shape 12"/>
          <p:cNvSpPr/>
          <p:nvPr/>
        </p:nvSpPr>
        <p:spPr>
          <a:xfrm>
            <a:off x="685800" y="2788920"/>
            <a:ext cx="10853928" cy="557784"/>
          </a:xfrm>
          <a:prstGeom prst="roundRect">
            <a:avLst>
              <a:gd name="adj" fmla="val 21311"/>
            </a:avLst>
          </a:prstGeom>
          <a:solidFill>
            <a:srgbClr val="FFFFFF"/>
          </a:solidFill>
          <a:ln w="8255">
            <a:solidFill>
              <a:srgbClr val="D8E3EE"/>
            </a:solidFill>
            <a:prstDash val="solid"/>
          </a:ln>
        </p:spPr>
        <p:txBody>
          <a:bodyPr/>
          <a:p/>
        </p:txBody>
      </p:sp>
      <p:sp>
        <p:nvSpPr>
          <p:cNvPr id="17" name="Text 13"/>
          <p:cNvSpPr/>
          <p:nvPr/>
        </p:nvSpPr>
        <p:spPr>
          <a:xfrm>
            <a:off x="914400" y="2962656"/>
            <a:ext cx="3090672" cy="256032"/>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2478F6"/>
                </a:solidFill>
                <a:latin typeface="Inter" pitchFamily="34" charset="0"/>
                <a:ea typeface="Inter" pitchFamily="34" charset="-122"/>
                <a:cs typeface="Inter" pitchFamily="34" charset="-120"/>
              </a:rPr>
              <a:t>Gesamtdokumentation</a:t>
            </a:r>
            <a:endParaRPr lang="en-US" sz="1240" dirty="0"/>
          </a:p>
        </p:txBody>
      </p:sp>
      <p:sp>
        <p:nvSpPr>
          <p:cNvPr id="18" name="Text 14"/>
          <p:cNvSpPr/>
          <p:nvPr/>
        </p:nvSpPr>
        <p:spPr>
          <a:xfrm>
            <a:off x="4160520" y="2944368"/>
            <a:ext cx="6867144" cy="30175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57087"/>
                </a:solidFill>
                <a:latin typeface="Inter" pitchFamily="34" charset="0"/>
                <a:ea typeface="Inter" pitchFamily="34" charset="-122"/>
                <a:cs typeface="Inter" pitchFamily="34" charset="-120"/>
              </a:rPr>
              <a:t>UI-Konzept, Lernmodule, technische Kapitel und zwölf PAP</a:t>
            </a:r>
            <a:endParaRPr lang="en-US" sz="1200" dirty="0"/>
          </a:p>
        </p:txBody>
      </p:sp>
      <p:sp>
        <p:nvSpPr>
          <p:cNvPr id="19" name="Shape 15"/>
          <p:cNvSpPr/>
          <p:nvPr/>
        </p:nvSpPr>
        <p:spPr>
          <a:xfrm>
            <a:off x="685800" y="3474720"/>
            <a:ext cx="10853928" cy="557784"/>
          </a:xfrm>
          <a:prstGeom prst="roundRect">
            <a:avLst>
              <a:gd name="adj" fmla="val 21311"/>
            </a:avLst>
          </a:prstGeom>
          <a:solidFill>
            <a:srgbClr val="FFFFFF"/>
          </a:solidFill>
          <a:ln w="8255">
            <a:solidFill>
              <a:srgbClr val="D8E3EE"/>
            </a:solidFill>
            <a:prstDash val="solid"/>
          </a:ln>
        </p:spPr>
        <p:txBody>
          <a:bodyPr/>
          <a:p/>
        </p:txBody>
      </p:sp>
      <p:sp>
        <p:nvSpPr>
          <p:cNvPr id="20" name="Text 16"/>
          <p:cNvSpPr/>
          <p:nvPr/>
        </p:nvSpPr>
        <p:spPr>
          <a:xfrm>
            <a:off x="914400" y="3648456"/>
            <a:ext cx="3090672" cy="256032"/>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2478F6"/>
                </a:solidFill>
                <a:latin typeface="Inter" pitchFamily="34" charset="0"/>
                <a:ea typeface="Inter" pitchFamily="34" charset="-122"/>
                <a:cs typeface="Inter" pitchFamily="34" charset="-120"/>
              </a:rPr>
              <a:t>Anforderungsanalyse</a:t>
            </a:r>
            <a:endParaRPr lang="en-US" sz="1240" dirty="0"/>
          </a:p>
        </p:txBody>
      </p:sp>
      <p:sp>
        <p:nvSpPr>
          <p:cNvPr id="21" name="Text 17"/>
          <p:cNvSpPr/>
          <p:nvPr/>
        </p:nvSpPr>
        <p:spPr>
          <a:xfrm>
            <a:off x="4160520" y="3630168"/>
            <a:ext cx="6867144" cy="30175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57087"/>
                </a:solidFill>
                <a:latin typeface="Inter" pitchFamily="34" charset="0"/>
                <a:ea typeface="Inter" pitchFamily="34" charset="-122"/>
                <a:cs typeface="Inter" pitchFamily="34" charset="-120"/>
              </a:rPr>
              <a:t>Pflichtfunktionen, Abnahmekriterien und Projektgrenzen</a:t>
            </a:r>
            <a:endParaRPr lang="en-US" sz="1200" dirty="0"/>
          </a:p>
        </p:txBody>
      </p:sp>
      <p:sp>
        <p:nvSpPr>
          <p:cNvPr id="22" name="Shape 18"/>
          <p:cNvSpPr/>
          <p:nvPr/>
        </p:nvSpPr>
        <p:spPr>
          <a:xfrm>
            <a:off x="685800" y="4160520"/>
            <a:ext cx="10853928" cy="557784"/>
          </a:xfrm>
          <a:prstGeom prst="roundRect">
            <a:avLst>
              <a:gd name="adj" fmla="val 21311"/>
            </a:avLst>
          </a:prstGeom>
          <a:solidFill>
            <a:srgbClr val="FFFFFF"/>
          </a:solidFill>
          <a:ln w="8255">
            <a:solidFill>
              <a:srgbClr val="D8E3EE"/>
            </a:solidFill>
            <a:prstDash val="solid"/>
          </a:ln>
        </p:spPr>
        <p:txBody>
          <a:bodyPr/>
          <a:p/>
        </p:txBody>
      </p:sp>
      <p:sp>
        <p:nvSpPr>
          <p:cNvPr id="23" name="Text 19"/>
          <p:cNvSpPr/>
          <p:nvPr/>
        </p:nvSpPr>
        <p:spPr>
          <a:xfrm>
            <a:off x="914400" y="4334256"/>
            <a:ext cx="3090672" cy="256032"/>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2478F6"/>
                </a:solidFill>
                <a:latin typeface="Inter" pitchFamily="34" charset="0"/>
                <a:ea typeface="Inter" pitchFamily="34" charset="-122"/>
                <a:cs typeface="Inter" pitchFamily="34" charset="-120"/>
              </a:rPr>
              <a:t>UML-Klassendiagramm</a:t>
            </a:r>
            <a:endParaRPr lang="en-US" sz="1240" dirty="0"/>
          </a:p>
        </p:txBody>
      </p:sp>
      <p:sp>
        <p:nvSpPr>
          <p:cNvPr id="24" name="Text 20"/>
          <p:cNvSpPr/>
          <p:nvPr/>
        </p:nvSpPr>
        <p:spPr>
          <a:xfrm>
            <a:off x="4160520" y="4315968"/>
            <a:ext cx="6867144" cy="30175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57087"/>
                </a:solidFill>
                <a:latin typeface="Inter" pitchFamily="34" charset="0"/>
                <a:ea typeface="Inter" pitchFamily="34" charset="-122"/>
                <a:cs typeface="Inter" pitchFamily="34" charset="-120"/>
              </a:rPr>
              <a:t>Vier Typen, Beziehungen und Zuordnung zu den Headern</a:t>
            </a:r>
            <a:endParaRPr lang="en-US" sz="1200" dirty="0"/>
          </a:p>
        </p:txBody>
      </p:sp>
      <p:sp>
        <p:nvSpPr>
          <p:cNvPr id="25" name="Shape 21"/>
          <p:cNvSpPr/>
          <p:nvPr/>
        </p:nvSpPr>
        <p:spPr>
          <a:xfrm>
            <a:off x="685800" y="4846320"/>
            <a:ext cx="10853928" cy="557784"/>
          </a:xfrm>
          <a:prstGeom prst="roundRect">
            <a:avLst>
              <a:gd name="adj" fmla="val 21311"/>
            </a:avLst>
          </a:prstGeom>
          <a:solidFill>
            <a:srgbClr val="FFFFFF"/>
          </a:solidFill>
          <a:ln w="8255">
            <a:solidFill>
              <a:srgbClr val="D8E3EE"/>
            </a:solidFill>
            <a:prstDash val="solid"/>
          </a:ln>
        </p:spPr>
        <p:txBody>
          <a:bodyPr/>
          <a:p/>
        </p:txBody>
      </p:sp>
      <p:sp>
        <p:nvSpPr>
          <p:cNvPr id="26" name="Text 22"/>
          <p:cNvSpPr/>
          <p:nvPr/>
        </p:nvSpPr>
        <p:spPr>
          <a:xfrm>
            <a:off x="914400" y="5020056"/>
            <a:ext cx="3090672" cy="256032"/>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2478F6"/>
                </a:solidFill>
                <a:latin typeface="Inter" pitchFamily="34" charset="0"/>
                <a:ea typeface="Inter" pitchFamily="34" charset="-122"/>
                <a:cs typeface="Inter" pitchFamily="34" charset="-120"/>
              </a:rPr>
              <a:t>C++17-Projektarchiv</a:t>
            </a:r>
            <a:endParaRPr lang="en-US" sz="1240" dirty="0"/>
          </a:p>
        </p:txBody>
      </p:sp>
      <p:sp>
        <p:nvSpPr>
          <p:cNvPr id="27" name="Text 23"/>
          <p:cNvSpPr/>
          <p:nvPr/>
        </p:nvSpPr>
        <p:spPr>
          <a:xfrm>
            <a:off x="4160520" y="5001768"/>
            <a:ext cx="6867144" cy="30175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57087"/>
                </a:solidFill>
                <a:latin typeface="Inter" pitchFamily="34" charset="0"/>
                <a:ea typeface="Inter" pitchFamily="34" charset="-122"/>
                <a:cs typeface="Inter" pitchFamily="34" charset="-120"/>
              </a:rPr>
              <a:t>src/, include/, tests/ und lokaler Konsolen-Build</a:t>
            </a:r>
            <a:endParaRPr lang="en-US" sz="1200" dirty="0"/>
          </a:p>
        </p:txBody>
      </p:sp>
      <p:sp>
        <p:nvSpPr>
          <p:cNvPr id="28" name="Text 24"/>
          <p:cNvSpPr/>
          <p:nvPr/>
        </p:nvSpPr>
        <p:spPr>
          <a:xfrm>
            <a:off x="777240" y="6044184"/>
            <a:ext cx="10515600" cy="27432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57087"/>
                </a:solidFill>
                <a:latin typeface="Inter" pitchFamily="34" charset="0"/>
                <a:ea typeface="Inter" pitchFamily="34" charset="-122"/>
                <a:cs typeface="Inter" pitchFamily="34" charset="-120"/>
              </a:rPr>
              <a:t>Build/Test extern geprüft am 25.10.2026; vollständige Schulabnahme und manuelle Testfälle nicht attestiert.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Bernd-Blindow-Schulen Ravensburg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Vier Gewinnt | Gym Edition – Projektpräsentation und Live-Code</dc:title>
  <dc:subject>Programmiertechnik C++17: Vier Gewinnt | Gym Edition</dc:subject>
  <dc:creator>Julian Krauß</dc:creator>
  <cp:lastModifiedBy>Julian Krauß</cp:lastModifiedBy>
  <cp:revision>1</cp:revision>
  <dcterms:created xsi:type="dcterms:W3CDTF">2026-10-25T20:50:42Z</dcterms:created>
  <dcterms:modified xsi:type="dcterms:W3CDTF">2026-10-25T20:50:42Z</dcterms:modified>
</cp:coreProperties>
</file>